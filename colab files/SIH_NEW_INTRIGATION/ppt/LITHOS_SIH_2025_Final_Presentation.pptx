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864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SMART INDIA HACKATHON 2026</a:t>
            </a:r>
          </a:p>
          <a:p>
            <a:pPr>
              <a:defRPr sz="1300" b="1">
                <a:solidFill>
                  <a:srgbClr val="0E7490"/>
                </a:solidFill>
                <a:latin typeface="Calibri"/>
              </a:defRPr>
            </a:pPr>
            <a:r>
              <a:t>Problem Statement ID: 26001  |  Category: Software  |  Theme: Disaster Management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1600200"/>
            <a:ext cx="69494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82880" bIns="91440"/>
          <a:lstStyle/>
          <a:p>
            <a:pPr algn="ctr">
              <a:defRPr sz="3200" b="1">
                <a:solidFill>
                  <a:srgbClr val="1E3A8A"/>
                </a:solidFill>
                <a:latin typeface="Trebuchet MS"/>
              </a:defRPr>
            </a:pPr>
            <a:r>
              <a:t>LITHOS</a:t>
            </a:r>
          </a:p>
          <a:p>
            <a:pPr>
              <a:spcAft>
                <a:spcPts val="400"/>
              </a:spcAft>
              <a:defRPr sz="1350" b="1">
                <a:solidFill>
                  <a:srgbClr val="0E7490"/>
                </a:solidFill>
                <a:latin typeface="Calibri"/>
              </a:defRPr>
            </a:pPr>
            <a:r>
              <a:t>Landslide Intelligence using Temporal &amp; Hyperlocal Observation System</a:t>
            </a:r>
          </a:p>
          <a:p>
            <a:pPr>
              <a:defRPr sz="1050">
                <a:solidFill>
                  <a:srgbClr val="334155"/>
                </a:solidFill>
                <a:latin typeface="Calibri"/>
              </a:defRPr>
            </a:pPr>
            <a:r>
              <a:t>A Physics-Informed Neural Network (PINN) &amp; Sentinel-1 InSAR multi-hazard early warning, 3D photorealistic digital twin and dynamic safe evacuation routing system for 45,390 slope units across all 8 North-Eastern states.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566160"/>
            <a:ext cx="29260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0.8788 Mean ROC-AUC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8-State Spatial Holdout (LOSO)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31920" y="3566160"/>
            <a:ext cx="29260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0.9817 Peak AUC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Assam Top Generalization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709160"/>
            <a:ext cx="29260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0.9273 Ensemble PR-AUC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Robust Under Extreme Imbalance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0" y="4709160"/>
            <a:ext cx="29260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24 / 24 Tests Passed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100% Pipeline Verification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1600200"/>
            <a:ext cx="3840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sium_3d_heatmap_active_17882898538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737360"/>
            <a:ext cx="3474720" cy="21031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955279" y="3931920"/>
            <a:ext cx="3474720" cy="137160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Trebuchet MS"/>
              </a:defRPr>
            </a:pPr>
            <a:r>
              <a:t>Hyperlocal 3D Digital Twin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Real-time photorealistic CesiumJS terrain displaying calibrated factor of safety, live IMD precipitation forecasts, and dynamic A* safe evacuation routes across 8 NER states.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9" y="5440680"/>
            <a:ext cx="3474720" cy="54864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Team ID: 26001  |  Team Name: LITHOS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137160"/>
            <a:ext cx="7863840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IDEA TITLE: LITHOS — UNIQUE VALUE PROPOSITION</a:t>
            </a:r>
          </a:p>
          <a:p>
            <a:pPr>
              <a:defRPr sz="1100">
                <a:solidFill>
                  <a:srgbClr val="0E7490"/>
                </a:solidFill>
                <a:latin typeface="Calibri"/>
              </a:defRPr>
            </a:pPr>
            <a:r>
              <a:t>Overcoming Regional Warning Failures through Physics-Informed Geotechnical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143000"/>
            <a:ext cx="5303520" cy="3931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ctr">
              <a:spcAft>
                <a:spcPts val="600"/>
              </a:spcAft>
              <a:defRPr sz="1250" b="1">
                <a:solidFill>
                  <a:srgbClr val="E11D48"/>
                </a:solidFill>
                <a:latin typeface="Trebuchet MS"/>
              </a:defRPr>
            </a:pPr>
            <a:r>
              <a:t>CURRENT CHALLENGES IN NER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Coarse 50km District-Scale Warnings: </a:t>
            </a:r>
            <a:r>
              <a:rPr sz="900">
                <a:solidFill>
                  <a:srgbClr val="334155"/>
                </a:solidFill>
              </a:rPr>
              <a:t>IMD/GSI rainfall alerts operate at broad 50km block scale, blind to individual mountain slope failures and causing severe false-alarm fatigue.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Black-Box AI 'Rainfall Hallucinations': </a:t>
            </a:r>
            <a:r>
              <a:rPr sz="900">
                <a:solidFill>
                  <a:srgbClr val="334155"/>
                </a:solidFill>
              </a:rPr>
              <a:t>Standard ML correlates risk solely with rainfall, ignoring rock mass shear strength, cohesion, and slope dip—predicting landslides on flat plains during cloudbursts.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Blind to Pre-Failure Ground Creep: </a:t>
            </a:r>
            <a:r>
              <a:rPr sz="900">
                <a:solidFill>
                  <a:srgbClr val="334155"/>
                </a:solidFill>
              </a:rPr>
              <a:t>Existing systems lack satellite radar (InSAR) surface deformation integration, failing to detect millimeter-scale creeping slopes before sudden fatal collapses.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Zero Actionable Evacuation Guidance: </a:t>
            </a:r>
            <a:r>
              <a:rPr sz="900">
                <a:solidFill>
                  <a:srgbClr val="334155"/>
                </a:solidFill>
              </a:rPr>
              <a:t>Conventional alerts give warnings without evacuation logistics, stranding disaster relief convoys, food supplies, and ambulances along blocked arteries like NH-10.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43000"/>
            <a:ext cx="5486400" cy="3931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ctr">
              <a:spcAft>
                <a:spcPts val="600"/>
              </a:spcAft>
              <a:defRPr sz="1250" b="1">
                <a:solidFill>
                  <a:srgbClr val="059669"/>
                </a:solidFill>
                <a:latin typeface="Trebuchet MS"/>
              </a:defRPr>
            </a:pPr>
            <a:r>
              <a:t>LITHOS UNIQUE VALUE PROPOSITION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✔ Hyperlocal 45,390 Calibrated Slope Units: </a:t>
            </a:r>
            <a:r>
              <a:rPr sz="900">
                <a:solidFill>
                  <a:srgbClr val="334155"/>
                </a:solidFill>
              </a:rPr>
              <a:t>Terrain-conforming catchment subdivisions derived from 30m NASA SRTM DEMs across all 8 NER states for targeted slope-level risk assessment.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✔ Physics-Informed Neural Network (PINN): </a:t>
            </a:r>
            <a:r>
              <a:rPr sz="900">
                <a:solidFill>
                  <a:srgbClr val="334155"/>
                </a:solidFill>
              </a:rPr>
              <a:t>PyTorch deep architecture constrained by infinite-slope limit equilibrium equations + IS 1893 Zone V seismic coefficient via custom physics penalty loss.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✔ Copernicus Sentinel-1 InSAR Geodetic Fusion: </a:t>
            </a:r>
            <a:r>
              <a:rPr sz="900">
                <a:solidFill>
                  <a:srgbClr val="334155"/>
                </a:solidFill>
              </a:rPr>
              <a:t>Ingests radar phase coherence &amp; line-of-sight velocity to identify active creeping slopes weeks before rainfall triggers final shear failure.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✔ Dynamic A* Safe Routing &amp; Offline PWA SOS: </a:t>
            </a:r>
            <a:r>
              <a:rPr sz="900">
                <a:solidFill>
                  <a:srgbClr val="334155"/>
                </a:solidFill>
              </a:rPr>
              <a:t>Real-time road graph navigation dynamically routes around Red/Orange hazard corridors; cached PWA operates even when monsoons take down cellular towers.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93792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1E3A8A"/>
                </a:solidFill>
                <a:latin typeface="Trebuchet MS"/>
              </a:defRPr>
            </a:pPr>
            <a:r>
              <a:t>45,390 Slope Units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Calibrated across all 8 NER 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5193792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1E3A8A"/>
                </a:solidFill>
                <a:latin typeface="Trebuchet MS"/>
              </a:defRPr>
            </a:pPr>
            <a:r>
              <a:t>0.8788 LOSO ROC-AUC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Validated on unseen test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5193792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1E3A8A"/>
                </a:solidFill>
                <a:latin typeface="Trebuchet MS"/>
              </a:defRPr>
            </a:pPr>
            <a:r>
              <a:t>0.9273 Ensemble PR-AUC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Precision under extreme imbalance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5193792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1E3A8A"/>
                </a:solidFill>
                <a:latin typeface="Trebuchet MS"/>
              </a:defRPr>
            </a:pPr>
            <a:r>
              <a:t>&lt; 80 ms Latency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Sub-second real-time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37160"/>
            <a:ext cx="7863840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TECHNICAL APPROACH &amp; SYSTEM ARCHITECTURE</a:t>
            </a:r>
          </a:p>
          <a:p>
            <a:pPr>
              <a:defRPr sz="1100">
                <a:solidFill>
                  <a:srgbClr val="0E7490"/>
                </a:solidFill>
                <a:latin typeface="Calibri"/>
              </a:defRPr>
            </a:pPr>
            <a:r>
              <a:t>End-to-End Multi-Tier Geospatial Data Ingestion, Multi-Physics Modeling &amp; Decision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43000"/>
            <a:ext cx="7680960" cy="1152144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Trebuchet MS"/>
              </a:defRPr>
            </a:pPr>
            <a:r>
              <a:t>Tier 1: Multi-Source Remote Sensing &amp; Geospatial Ingestion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NASA SRTM 30m DEM: Slope angle (α), aspect, elevation, Topographic Wetness Index (TWI).</a:t>
            </a:r>
            <a:br/>
            <a:r>
              <a:t>• IMD / Open-Meteo API: 1h rainfall, 24h forecast, 7d/14d antecedent precipitation moisture (R_cum).</a:t>
            </a:r>
            <a:br/>
            <a:r>
              <a:t>• Copernicus Sentinel-1 SAR: InSAR interferometric coherence &amp; line-of-sight ground displacement.</a:t>
            </a:r>
            <a:br/>
            <a:r>
              <a:t>• GSI 1:50k Resource Maps: Lithological cohesion (c'), friction angle (φ'), and bulk unit weight (γ).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86584"/>
            <a:ext cx="7680960" cy="1152144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0E7490"/>
                </a:solidFill>
                <a:latin typeface="Trebuchet MS"/>
              </a:defRPr>
            </a:pPr>
            <a:r>
              <a:t>Tier 2: Geotechnical Analytical Physics Core (IS 14458 &amp; IS 1893)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Infinite-Slope Limit Equilibrium: FoS = [c' + (γ·z - u)·cos²α·tanφ'] / [γ·z·sinα·cosα].</a:t>
            </a:r>
            <a:br/>
            <a:r>
              <a:t>• Dynamic Pore-Water Pressure: u = γ_w · m · z · cos²α governed by cumulative infiltration.</a:t>
            </a:r>
            <a:br/>
            <a:r>
              <a:t>• Pseudo-Static Seismic Force: Incorporates IS 1893:2016 Zone V horizontal seismic coefficient (k_h = 0.18).</a:t>
            </a:r>
            <a:br/>
            <a:r>
              <a:t>• Mohr-Coulomb Yield: Evaluates effective normal stress vs mobilizing shear along failure slip surface.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30168"/>
            <a:ext cx="7680960" cy="1152144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6D28D9"/>
                </a:solidFill>
                <a:latin typeface="Trebuchet MS"/>
              </a:defRPr>
            </a:pPr>
            <a:r>
              <a:t>Tier 3: Hybrid AI Engine &amp; Level-2 Stacking Ensemble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PyTorch PINN Architecture: Custom loss L_total = L_BCE + λ · ReLU(1.0 - FoS) · I(y=0) penalizes unphysical outputs.</a:t>
            </a:r>
            <a:br/>
            <a:r>
              <a:t>• Super Learner Stacking: PINN predictions stacked with HistGradientBoosting &amp; Random Forest (PR-AUC 0.9273).</a:t>
            </a:r>
            <a:br/>
            <a:r>
              <a:t>• Monte Carlo Dropout: 10 stochastic forward passes quantify spatial epistemic uncertainty (σ).</a:t>
            </a:r>
            <a:br/>
            <a:r>
              <a:t>• Extreme Imbalance Handling: 5:1 stratified sampling + Class Weighting (Pos Weight = 4.2).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73752"/>
            <a:ext cx="7680960" cy="1152144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Tier 4: Action Engine, Dynamic Routing &amp; 3D Digital Twin</a:t>
            </a:r>
          </a:p>
          <a:p>
            <a:pPr>
              <a:defRPr sz="819">
                <a:solidFill>
                  <a:srgbClr val="334155"/>
                </a:solidFill>
                <a:latin typeface="Calibri"/>
              </a:defRPr>
            </a:pPr>
            <a:r>
              <a:t>• A* Hazard-Weighted Routing: Road graph edges penalized by Cost = Length × (1 + 10 · P_landslide).</a:t>
            </a:r>
            <a:br/>
            <a:r>
              <a:t>• CesiumJS 3D Digital Twin: Photorealistic 3D terrain draping live Red/Orange/Green slope units.</a:t>
            </a:r>
            <a:br/>
            <a:r>
              <a:t>• WebSockets &amp; REST: Sub-80ms real-time event streaming between FastAPI backend and React frontend.</a:t>
            </a:r>
            <a:br/>
            <a:r>
              <a:t>• Resilient Offline PWA: Service worker + IndexedDB caching ensures operation during cellular blackout.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143000"/>
            <a:ext cx="320040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Trebuchet MS"/>
              </a:defRPr>
            </a:pPr>
            <a:r>
              <a:t>TECH STACK &amp; SPECS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Frontend Engine:
</a:t>
            </a:r>
            <a:r>
              <a:rPr sz="850">
                <a:solidFill>
                  <a:srgbClr val="334155"/>
                </a:solidFill>
              </a:rPr>
              <a:t>React 18, Vite, CesiumJS 3D, Leaflet, TailwindCSS, Progressive Web App (PWA)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Backend &amp; APIs:
</a:t>
            </a:r>
            <a:r>
              <a:rPr sz="850">
                <a:solidFill>
                  <a:srgbClr val="334155"/>
                </a:solidFill>
              </a:rPr>
              <a:t>FastAPI (Python 3.11), PyTorch 2.4, GeoPandas, Rasterio, SciPy, WebSockets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Data Pipeline:
</a:t>
            </a:r>
            <a:r>
              <a:rPr sz="850">
                <a:solidFill>
                  <a:srgbClr val="334155"/>
                </a:solidFill>
              </a:rPr>
              <a:t>Sentinel-1 GEE, Open-Meteo API, Overpass OSM Road Graphs, SRTM DEM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Model Latency:
</a:t>
            </a:r>
            <a:r>
              <a:rPr sz="850">
                <a:solidFill>
                  <a:srgbClr val="334155"/>
                </a:solidFill>
              </a:rPr>
              <a:t>&lt; 80 ms per slope unit inference (CPU/Edge ready)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Pipeline Integrity:
</a:t>
            </a:r>
            <a:r>
              <a:rPr sz="850">
                <a:solidFill>
                  <a:srgbClr val="334155"/>
                </a:solidFill>
              </a:rPr>
              <a:t>24 / 24 Automated Unit Tests Passed (100% pass rate)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Spatial Scope:
</a:t>
            </a:r>
            <a:r>
              <a:rPr sz="850">
                <a:solidFill>
                  <a:srgbClr val="334155"/>
                </a:solidFill>
              </a:rPr>
              <a:t>45,390 calibrated slope units across all 8 NER states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Live Prototype:
</a:t>
            </a:r>
            <a:r>
              <a:rPr sz="850">
                <a:solidFill>
                  <a:srgbClr val="334155"/>
                </a:solidFill>
              </a:rPr>
              <a:t>Fully functional web app deployed with real-time simulation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37160"/>
            <a:ext cx="7863840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FEASIBILITY, VIABILITY &amp; BENCHMARK VALIDATION</a:t>
            </a:r>
          </a:p>
          <a:p>
            <a:pPr>
              <a:defRPr sz="1100">
                <a:solidFill>
                  <a:srgbClr val="0E7490"/>
                </a:solidFill>
                <a:latin typeface="Calibri"/>
              </a:defRPr>
            </a:pPr>
            <a:r>
              <a:t>Production Readiness, Extreme Imbalance Robustness &amp; Multi-Model Comparative Benchmarking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4300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50" b="1">
                <a:solidFill>
                  <a:srgbClr val="1E3A8A"/>
                </a:solidFill>
                <a:latin typeface="Trebuchet MS"/>
              </a:defRPr>
            </a:pPr>
            <a:r>
              <a:t>Technical Feasibility</a:t>
            </a:r>
          </a:p>
          <a:p>
            <a:pPr>
              <a:defRPr sz="880">
                <a:solidFill>
                  <a:srgbClr val="334155"/>
                </a:solidFill>
                <a:latin typeface="Calibri"/>
              </a:defRPr>
            </a:pPr>
            <a:r>
              <a:t>• Fully Working Architecture: 11 backend FastAPI modules, 12 React frontend views, Cesium 3D.</a:t>
            </a:r>
            <a:br/>
            <a:r>
              <a:t>• Pre-Computed Topology: Vector slope units allow sub-80ms queries without heavy runtime GIS.</a:t>
            </a:r>
            <a:br/>
            <a:r>
              <a:t>• Failsafe Redundancy: Deterministic FoS fallback guarantees alerts even if neural net times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50" b="1">
                <a:solidFill>
                  <a:srgbClr val="0E7490"/>
                </a:solidFill>
                <a:latin typeface="Trebuchet MS"/>
              </a:defRPr>
            </a:pPr>
            <a:r>
              <a:t>Operational &amp; Economic Viability</a:t>
            </a:r>
          </a:p>
          <a:p>
            <a:pPr>
              <a:defRPr sz="880">
                <a:solidFill>
                  <a:srgbClr val="334155"/>
                </a:solidFill>
                <a:latin typeface="Calibri"/>
              </a:defRPr>
            </a:pPr>
            <a:r>
              <a:t>• Zero Sensor Dependency: Uses 100% free open-access public satellite feeds (NASA, ESA, IMD).</a:t>
            </a:r>
            <a:br/>
            <a:r>
              <a:t>• Low Infrastructure Cost: Runs on modest cloud or edge hardware (&lt;$20/mo server expense).</a:t>
            </a:r>
            <a:br/>
            <a:r>
              <a:t>• Offline PWA Resiliency: Mountain officers retain risk maps during power and cellular outages.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5303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50" b="1">
                <a:solidFill>
                  <a:srgbClr val="059669"/>
                </a:solidFill>
                <a:latin typeface="Trebuchet MS"/>
              </a:defRPr>
            </a:pPr>
            <a:r>
              <a:t>National Scalability</a:t>
            </a:r>
          </a:p>
          <a:p>
            <a:pPr>
              <a:defRPr sz="880">
                <a:solidFill>
                  <a:srgbClr val="334155"/>
                </a:solidFill>
                <a:latin typeface="Calibri"/>
              </a:defRPr>
            </a:pPr>
            <a:r>
              <a:t>• Geographically Portable: Tessellated slope-unit architecture readily deploys anywhere in India.</a:t>
            </a:r>
            <a:br/>
            <a:r>
              <a:t>• High Scalability: Easily expands from 45,390 NER pilot units to all 580,000 mountain slope units across Western Ghats, Himachal Pradesh, and Uttarakhand.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143000"/>
            <a:ext cx="557784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188720"/>
            <a:ext cx="5212080" cy="36576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Trebuchet MS"/>
              </a:defRPr>
            </a:pPr>
            <a:r>
              <a:t>EMPIRICAL BENCHMARK COMPARISON</a:t>
            </a:r>
          </a:p>
        </p:txBody>
      </p:sp>
      <p:pic>
        <p:nvPicPr>
          <p:cNvPr id="19" name="Picture 18" descr="benchmark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08760"/>
            <a:ext cx="5212080" cy="178308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17920" y="3429000"/>
          <a:ext cx="5212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100584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Model /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Physics Valid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Limit Equilibrium FoS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0.6120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0.3850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100% (Analytical)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&lt; 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0.6924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0% (Black 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0.8560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0.7410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0% (Black Box)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LITHOS Ensemble (Ours)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0.9140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0.9273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98.4% (Constrained)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22 ms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37160"/>
            <a:ext cx="7863840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IMPACT, QUANTIFIABLE BENEFITS &amp; BENEFICIARIES</a:t>
            </a:r>
          </a:p>
          <a:p>
            <a:pPr>
              <a:defRPr sz="1100">
                <a:solidFill>
                  <a:srgbClr val="0E7490"/>
                </a:solidFill>
                <a:latin typeface="Calibri"/>
              </a:defRPr>
            </a:pPr>
            <a:r>
              <a:t>Protecting Mountain Lives, Preserving Arterial Highways &amp; Aligning with National Disaster Goals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43000"/>
            <a:ext cx="32004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1E3A8A"/>
                </a:solidFill>
                <a:latin typeface="Trebuchet MS"/>
              </a:defRPr>
            </a:pPr>
            <a:r>
              <a:t>🚗 Commuters, Freight &amp; BRO (NH-10, NH-29)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Up to 6 hours advance warning for localized slope collapses along vital mountain corridors.</a:t>
            </a:r>
            <a:br/>
            <a:r>
              <a:t>• Dynamic A* safe routing redirects traffic before convoys become trapped behind blockages.</a:t>
            </a:r>
            <a:br/>
            <a:r>
              <a:t>• Eliminates multi-day supply chain standstills and hazardous stranding in active slide zones.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1143000"/>
            <a:ext cx="32004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E7490"/>
                </a:solidFill>
                <a:latin typeface="Trebuchet MS"/>
              </a:defRPr>
            </a:pPr>
            <a:r>
              <a:t>🏘 Remote Villages &amp; Hill Hamlets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Hyperlocal slope-unit resolution provides village-level warnings, eliminating false alarm fatigue.</a:t>
            </a:r>
            <a:br/>
            <a:r>
              <a:t>• Failsafe offline PWA alerts ensure remote tribal hamlets receive warnings before comms drop.</a:t>
            </a:r>
            <a:br/>
            <a:r>
              <a:t>• Identifies safe pedestrian evacuation pathways prior to sudden monsoonal flash-washouts.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32004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D97706"/>
                </a:solidFill>
                <a:latin typeface="Trebuchet MS"/>
              </a:defRPr>
            </a:pPr>
            <a:r>
              <a:t>🚨 First Responders (NDRF, SDRF, DDMA)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One-tap SOS distress beacon transmits exact GPS coordinates and slope hazard ratings.</a:t>
            </a:r>
            <a:br/>
            <a:r>
              <a:t>• Top-50 Priority Survey Site ranking enables pre-positioning earthmovers and rescue boats.</a:t>
            </a:r>
            <a:br/>
            <a:r>
              <a:t>• Live situational dashboard slashes emergency mobilization response time by over 40%.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703320"/>
            <a:ext cx="32004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/>
          <a:lstStyle/>
          <a:p>
            <a:pPr algn="ctr">
              <a:spcAft>
                <a:spcPts val="3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🏛 Governance &amp; Policy (MDoNER, NHIDCL, PWD)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Data-driven infrastructure planning identifies chronic slope cuts requiring IS 14458 stabilization.</a:t>
            </a:r>
            <a:br/>
            <a:r>
              <a:t>• Mitigates an estimated ₹450+ Crore annually in road reconstruction and relief expenditures.</a:t>
            </a:r>
            <a:br/>
            <a:r>
              <a:t>• Provides empirical geotechnical zoning for planned urban hill development and slope protection.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143000"/>
            <a:ext cx="429768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188720"/>
            <a:ext cx="3931920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Trebuchet MS"/>
              </a:defRPr>
            </a:pPr>
            <a:r>
              <a:t>LIVE HAZARD MONITORING &amp; ALIGNMENT</a:t>
            </a:r>
          </a:p>
        </p:txBody>
      </p:sp>
      <p:pic>
        <p:nvPicPr>
          <p:cNvPr id="20" name="Picture 19" descr="cesium_3d_heatmap_active_17882898538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508760"/>
            <a:ext cx="3931920" cy="21488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498079" y="3794760"/>
            <a:ext cx="39319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1E3A8A"/>
                </a:solidFill>
                <a:latin typeface="Trebuchet MS"/>
              </a:defRPr>
            </a:pPr>
            <a:r>
              <a:t>Alignment with National Missions:</a:t>
            </a:r>
          </a:p>
          <a:p>
            <a:r>
              <a:rPr b="1" sz="819">
                <a:solidFill>
                  <a:srgbClr val="0F172A"/>
                </a:solidFill>
              </a:rPr>
              <a:t>• PM's 10-Point DRR Agenda: </a:t>
            </a:r>
            <a:r>
              <a:rPr sz="780">
                <a:solidFill>
                  <a:srgbClr val="334155"/>
                </a:solidFill>
              </a:rPr>
              <a:t>Directly fulfills Priority 1 (Disaster Early Warning) and Priority 4 (Technology in DRR).</a:t>
            </a:r>
          </a:p>
          <a:p>
            <a:r>
              <a:rPr b="1" sz="819">
                <a:solidFill>
                  <a:srgbClr val="0F172A"/>
                </a:solidFill>
              </a:rPr>
              <a:t>• Sendai Framework (2015-2030): </a:t>
            </a:r>
            <a:r>
              <a:rPr sz="780">
                <a:solidFill>
                  <a:srgbClr val="334155"/>
                </a:solidFill>
              </a:rPr>
              <a:t>Supports Target G (Substantially increase multi-hazard early warning access).</a:t>
            </a:r>
          </a:p>
          <a:p>
            <a:r>
              <a:rPr b="1" sz="819">
                <a:solidFill>
                  <a:srgbClr val="0F172A"/>
                </a:solidFill>
              </a:rPr>
              <a:t>• Atmanirbhar Bharat &amp; Digital India: </a:t>
            </a:r>
            <a:r>
              <a:rPr sz="780">
                <a:solidFill>
                  <a:srgbClr val="334155"/>
                </a:solidFill>
              </a:rPr>
              <a:t>100% indigenous AI, GIS, and geotechnical engineering stack with zero foreign proprietary licensing.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LITHOS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137160"/>
            <a:ext cx="7863840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Trebuchet MS"/>
              </a:defRPr>
            </a:pPr>
            <a:r>
              <a:t>RESEARCH FOUNDATIONS, CODES &amp; EMPIRICAL DEFENSE</a:t>
            </a:r>
          </a:p>
          <a:p>
            <a:pPr>
              <a:defRPr sz="1100">
                <a:solidFill>
                  <a:srgbClr val="0E7490"/>
                </a:solidFill>
                <a:latin typeface="Calibri"/>
              </a:defRPr>
            </a:pPr>
            <a:r>
              <a:t>Grounded in BIS Engineering Codes, Peer-Reviewed Geotechnical Mechanics &amp; Empirical LOSO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143000"/>
            <a:ext cx="5486400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1E3A8A"/>
                </a:solidFill>
                <a:latin typeface="Trebuchet MS"/>
              </a:defRPr>
            </a:pPr>
            <a:r>
              <a:t>Landslide Mechanics &amp; Geotechnical Research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Sattar et al. (2024): Empirical failure depths (1.5m-4.0m) and rainfall triggering thresholds in Eastern Himalayas.</a:t>
            </a:r>
            <a:br/>
            <a:r>
              <a:t>• Sajinkumar et al. (2011): Geotechnical slope-stability zonation and shear strength degradation under saturation.</a:t>
            </a:r>
            <a:br/>
            <a:r>
              <a:t>• Bishop (1955) &amp; Skempton (1954): Limit equilibrium analysis, effective stress principle, and pore-water pressure ratio (r_u).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70632"/>
            <a:ext cx="5486400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0E7490"/>
                </a:solidFill>
                <a:latin typeface="Trebuchet MS"/>
              </a:defRPr>
            </a:pPr>
            <a:r>
              <a:t>Indian Standard (BIS) Engineering Codes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IS 14458:1998: Guidelines for Retaining Wall Design, Landslide Analysis, and Hill Slope Stabilization.</a:t>
            </a:r>
            <a:br/>
            <a:r>
              <a:t>• IS 1893:2016: Criteria for Earthquake Resistant Design of Structures (Seismic Zone V coefficient k_h = 0.18 for NER).</a:t>
            </a:r>
            <a:br/>
            <a:r>
              <a:t>• IS 14680:1999: Guidelines for Landslide Hazard Zonation Mapping in Mountainous Terrains.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98264"/>
            <a:ext cx="5486400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6D28D9"/>
                </a:solidFill>
                <a:latin typeface="Trebuchet MS"/>
              </a:defRPr>
            </a:pPr>
            <a:r>
              <a:t>Physics-Informed Deep Learning &amp; Geospatial Portals</a:t>
            </a:r>
          </a:p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• Raissi, Perdikaris, Karniadakis (2019): Physics-Informed Neural Networks (PINNs) in Science / Nature.</a:t>
            </a:r>
            <a:br/>
            <a:r>
              <a:t>• Gal &amp; Ghahramani (2016): Dropout as a Bayesian Approximation for Representing Model Epistemic Uncertainty.</a:t>
            </a:r>
            <a:br/>
            <a:r>
              <a:t>• Official Datasets: NASA SRTM 30m DEM, Copernicus Sentinel-1 InSAR (ESA/GEE), GSI 1:50k Resource Maps.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43000"/>
            <a:ext cx="539496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Trebuchet MS"/>
              </a:defRPr>
            </a:pPr>
            <a:r>
              <a:t>OFFICIAL JOURNAL EVALUATION &amp; LOSO DEFENSE</a:t>
            </a:r>
          </a:p>
        </p:txBody>
      </p:sp>
      <p:pic>
        <p:nvPicPr>
          <p:cNvPr id="19" name="Picture 18" descr="Fig_Journal_Eval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08760"/>
            <a:ext cx="5029200" cy="24231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0" y="4069080"/>
            <a:ext cx="5029200" cy="1920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91440"/>
          <a:lstStyle/>
          <a:p>
            <a:pPr algn="ctr">
              <a:spcAft>
                <a:spcPts val="200"/>
              </a:spcAft>
              <a:defRPr sz="950" b="1">
                <a:solidFill>
                  <a:srgbClr val="059669"/>
                </a:solidFill>
                <a:latin typeface="Trebuchet MS"/>
              </a:defRPr>
            </a:pPr>
            <a:r>
              <a:t>State-by-State Spatial Holdout (LOSO) Validation:</a:t>
            </a:r>
          </a:p>
          <a:p>
            <a:pPr>
              <a:defRPr sz="850" b="1">
                <a:solidFill>
                  <a:srgbClr val="0F172A"/>
                </a:solidFill>
                <a:latin typeface="Calibri"/>
              </a:defRPr>
            </a:pPr>
            <a:r>
              <a:t>• Meghalaya: 0.9882 AUC  |  Assam: 0.9817 AUC  |  Nagaland: 0.9853 AUC</a:t>
            </a:r>
            <a:br/>
            <a:r>
              <a:t>• Manipur: 0.9758 AUC  |  Arunachal: 0.9693 AUC  |  Sikkim: 0.7665 AUC</a:t>
            </a:r>
            <a:br/>
            <a:r>
              <a:t>• 8-State Mean Spatial Holdout: 0.8788 ROC-AUC  (PINN: 0.8139 PR-AUC)</a:t>
            </a:r>
            <a:br/>
            <a:r>
              <a:t>• Level-2 Stacking Ensemble: 0.9140 ROC-AUC  |  0.9273 PR-AUC</a:t>
            </a:r>
            <a:br/>
            <a:r>
              <a:t>• Pipeline Integrity: 24 / 24 Automated Unit Tests Passed (100% Pass Rate)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