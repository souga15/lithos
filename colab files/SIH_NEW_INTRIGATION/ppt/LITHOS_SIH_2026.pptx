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ugata karmakar" userId="f817f9e68f892fa6" providerId="LiveId" clId="{6FB43450-73EE-4163-B6B7-8388EE1C9637}"/>
    <pc:docChg chg="undo custSel modSld">
      <pc:chgData name="sougata karmakar" userId="f817f9e68f892fa6" providerId="LiveId" clId="{6FB43450-73EE-4163-B6B7-8388EE1C9637}" dt="2026-09-12T16:16:50.824" v="448" actId="14100"/>
      <pc:docMkLst>
        <pc:docMk/>
      </pc:docMkLst>
      <pc:sldChg chg="modSp mod">
        <pc:chgData name="sougata karmakar" userId="f817f9e68f892fa6" providerId="LiveId" clId="{6FB43450-73EE-4163-B6B7-8388EE1C9637}" dt="2026-09-10T12:43:05.730" v="306" actId="20577"/>
        <pc:sldMkLst>
          <pc:docMk/>
          <pc:sldMk cId="0" sldId="281"/>
        </pc:sldMkLst>
        <pc:spChg chg="mod">
          <ac:chgData name="sougata karmakar" userId="f817f9e68f892fa6" providerId="LiveId" clId="{6FB43450-73EE-4163-B6B7-8388EE1C9637}" dt="2026-09-10T08:51:25.023" v="111" actId="207"/>
          <ac:spMkLst>
            <pc:docMk/>
            <pc:sldMk cId="0" sldId="281"/>
            <ac:spMk id="9" creationId="{00000000-0000-0000-0000-000000000000}"/>
          </ac:spMkLst>
        </pc:spChg>
        <pc:spChg chg="mod">
          <ac:chgData name="sougata karmakar" userId="f817f9e68f892fa6" providerId="LiveId" clId="{6FB43450-73EE-4163-B6B7-8388EE1C9637}" dt="2026-09-10T08:40:36.184" v="57" actId="207"/>
          <ac:spMkLst>
            <pc:docMk/>
            <pc:sldMk cId="0" sldId="281"/>
            <ac:spMk id="10" creationId="{5DBCE864-823D-4A13-9607-5DA1F0ED5FB8}"/>
          </ac:spMkLst>
        </pc:spChg>
        <pc:spChg chg="mod">
          <ac:chgData name="sougata karmakar" userId="f817f9e68f892fa6" providerId="LiveId" clId="{6FB43450-73EE-4163-B6B7-8388EE1C9637}" dt="2026-09-10T08:40:21.406" v="56" actId="207"/>
          <ac:spMkLst>
            <pc:docMk/>
            <pc:sldMk cId="0" sldId="281"/>
            <ac:spMk id="13" creationId="{00000000-0000-0000-0000-000000000000}"/>
          </ac:spMkLst>
        </pc:spChg>
        <pc:spChg chg="mod">
          <ac:chgData name="sougata karmakar" userId="f817f9e68f892fa6" providerId="LiveId" clId="{6FB43450-73EE-4163-B6B7-8388EE1C9637}" dt="2026-09-10T12:43:05.730" v="306" actId="20577"/>
          <ac:spMkLst>
            <pc:docMk/>
            <pc:sldMk cId="0" sldId="281"/>
            <ac:spMk id="14" creationId="{00000000-0000-0000-0000-000000000000}"/>
          </ac:spMkLst>
        </pc:spChg>
        <pc:spChg chg="mod">
          <ac:chgData name="sougata karmakar" userId="f817f9e68f892fa6" providerId="LiveId" clId="{6FB43450-73EE-4163-B6B7-8388EE1C9637}" dt="2026-09-10T12:42:21.061" v="268" actId="20577"/>
          <ac:spMkLst>
            <pc:docMk/>
            <pc:sldMk cId="0" sldId="281"/>
            <ac:spMk id="18" creationId="{00000000-0000-0000-0000-000000000000}"/>
          </ac:spMkLst>
        </pc:spChg>
        <pc:spChg chg="mod">
          <ac:chgData name="sougata karmakar" userId="f817f9e68f892fa6" providerId="LiveId" clId="{6FB43450-73EE-4163-B6B7-8388EE1C9637}" dt="2026-09-10T08:45:51.938" v="90" actId="14100"/>
          <ac:spMkLst>
            <pc:docMk/>
            <pc:sldMk cId="0" sldId="281"/>
            <ac:spMk id="19" creationId="{00000000-0000-0000-0000-000000000000}"/>
          </ac:spMkLst>
        </pc:spChg>
        <pc:spChg chg="mod">
          <ac:chgData name="sougata karmakar" userId="f817f9e68f892fa6" providerId="LiveId" clId="{6FB43450-73EE-4163-B6B7-8388EE1C9637}" dt="2026-09-10T08:45:40.310" v="89" actId="207"/>
          <ac:spMkLst>
            <pc:docMk/>
            <pc:sldMk cId="0" sldId="281"/>
            <ac:spMk id="20" creationId="{00000000-0000-0000-0000-000000000000}"/>
          </ac:spMkLst>
        </pc:spChg>
        <pc:spChg chg="mod">
          <ac:chgData name="sougata karmakar" userId="f817f9e68f892fa6" providerId="LiveId" clId="{6FB43450-73EE-4163-B6B7-8388EE1C9637}" dt="2026-09-10T12:42:31.569" v="269" actId="20577"/>
          <ac:spMkLst>
            <pc:docMk/>
            <pc:sldMk cId="0" sldId="281"/>
            <ac:spMk id="22" creationId="{00000000-0000-0000-0000-000000000000}"/>
          </ac:spMkLst>
        </pc:spChg>
        <pc:picChg chg="mod">
          <ac:chgData name="sougata karmakar" userId="f817f9e68f892fa6" providerId="LiveId" clId="{6FB43450-73EE-4163-B6B7-8388EE1C9637}" dt="2026-09-10T11:25:07.770" v="264" actId="14100"/>
          <ac:picMkLst>
            <pc:docMk/>
            <pc:sldMk cId="0" sldId="281"/>
            <ac:picMk id="17" creationId="{00000000-0000-0000-0000-000000000000}"/>
          </ac:picMkLst>
        </pc:picChg>
        <pc:picChg chg="mod">
          <ac:chgData name="sougata karmakar" userId="f817f9e68f892fa6" providerId="LiveId" clId="{6FB43450-73EE-4163-B6B7-8388EE1C9637}" dt="2026-09-10T11:25:19.653" v="266" actId="14100"/>
          <ac:picMkLst>
            <pc:docMk/>
            <pc:sldMk cId="0" sldId="281"/>
            <ac:picMk id="21" creationId="{00000000-0000-0000-0000-000000000000}"/>
          </ac:picMkLst>
        </pc:picChg>
      </pc:sldChg>
      <pc:sldChg chg="modSp mod">
        <pc:chgData name="sougata karmakar" userId="f817f9e68f892fa6" providerId="LiveId" clId="{6FB43450-73EE-4163-B6B7-8388EE1C9637}" dt="2026-09-10T08:51:36.366" v="112" actId="207"/>
        <pc:sldMkLst>
          <pc:docMk/>
          <pc:sldMk cId="0" sldId="290"/>
        </pc:sldMkLst>
        <pc:spChg chg="mod">
          <ac:chgData name="sougata karmakar" userId="f817f9e68f892fa6" providerId="LiveId" clId="{6FB43450-73EE-4163-B6B7-8388EE1C9637}" dt="2026-09-10T08:36:18.085" v="12" actId="2711"/>
          <ac:spMkLst>
            <pc:docMk/>
            <pc:sldMk cId="0" sldId="290"/>
            <ac:spMk id="6" creationId="{00000000-0000-0000-0000-000000000000}"/>
          </ac:spMkLst>
        </pc:spChg>
        <pc:spChg chg="mod">
          <ac:chgData name="sougata karmakar" userId="f817f9e68f892fa6" providerId="LiveId" clId="{6FB43450-73EE-4163-B6B7-8388EE1C9637}" dt="2026-09-10T08:36:18.085" v="12" actId="2711"/>
          <ac:spMkLst>
            <pc:docMk/>
            <pc:sldMk cId="0" sldId="290"/>
            <ac:spMk id="7" creationId="{00000000-0000-0000-0000-000000000000}"/>
          </ac:spMkLst>
        </pc:spChg>
        <pc:spChg chg="mod">
          <ac:chgData name="sougata karmakar" userId="f817f9e68f892fa6" providerId="LiveId" clId="{6FB43450-73EE-4163-B6B7-8388EE1C9637}" dt="2026-09-10T08:49:29.638" v="105" actId="207"/>
          <ac:spMkLst>
            <pc:docMk/>
            <pc:sldMk cId="0" sldId="290"/>
            <ac:spMk id="10" creationId="{AD4F69D3-EEB0-4C4C-9434-B9960FB5854C}"/>
          </ac:spMkLst>
        </pc:spChg>
        <pc:spChg chg="mod">
          <ac:chgData name="sougata karmakar" userId="f817f9e68f892fa6" providerId="LiveId" clId="{6FB43450-73EE-4163-B6B7-8388EE1C9637}" dt="2026-09-10T08:51:36.366" v="112" actId="207"/>
          <ac:spMkLst>
            <pc:docMk/>
            <pc:sldMk cId="0" sldId="290"/>
            <ac:spMk id="11" creationId="{5DBCE864-823D-4A13-9607-5DA1F0ED5FB8}"/>
          </ac:spMkLst>
        </pc:spChg>
        <pc:spChg chg="mod">
          <ac:chgData name="sougata karmakar" userId="f817f9e68f892fa6" providerId="LiveId" clId="{6FB43450-73EE-4163-B6B7-8388EE1C9637}" dt="2026-09-10T08:49:19.851" v="104" actId="207"/>
          <ac:spMkLst>
            <pc:docMk/>
            <pc:sldMk cId="0" sldId="290"/>
            <ac:spMk id="14" creationId="{00000000-0000-0000-0000-000000000000}"/>
          </ac:spMkLst>
        </pc:spChg>
        <pc:spChg chg="mod">
          <ac:chgData name="sougata karmakar" userId="f817f9e68f892fa6" providerId="LiveId" clId="{6FB43450-73EE-4163-B6B7-8388EE1C9637}" dt="2026-09-10T08:36:18.085" v="12" actId="2711"/>
          <ac:spMkLst>
            <pc:docMk/>
            <pc:sldMk cId="0" sldId="290"/>
            <ac:spMk id="15" creationId="{00000000-0000-0000-0000-000000000000}"/>
          </ac:spMkLst>
        </pc:spChg>
        <pc:spChg chg="mod">
          <ac:chgData name="sougata karmakar" userId="f817f9e68f892fa6" providerId="LiveId" clId="{6FB43450-73EE-4163-B6B7-8388EE1C9637}" dt="2026-09-10T08:37:03.627" v="18" actId="404"/>
          <ac:spMkLst>
            <pc:docMk/>
            <pc:sldMk cId="0" sldId="290"/>
            <ac:spMk id="16" creationId="{00000000-0000-0000-0000-000000000000}"/>
          </ac:spMkLst>
        </pc:spChg>
        <pc:spChg chg="mod">
          <ac:chgData name="sougata karmakar" userId="f817f9e68f892fa6" providerId="LiveId" clId="{6FB43450-73EE-4163-B6B7-8388EE1C9637}" dt="2026-09-10T08:37:03.627" v="18" actId="404"/>
          <ac:spMkLst>
            <pc:docMk/>
            <pc:sldMk cId="0" sldId="290"/>
            <ac:spMk id="17" creationId="{00000000-0000-0000-0000-000000000000}"/>
          </ac:spMkLst>
        </pc:spChg>
        <pc:spChg chg="mod">
          <ac:chgData name="sougata karmakar" userId="f817f9e68f892fa6" providerId="LiveId" clId="{6FB43450-73EE-4163-B6B7-8388EE1C9637}" dt="2026-09-10T08:36:18.085" v="12" actId="2711"/>
          <ac:spMkLst>
            <pc:docMk/>
            <pc:sldMk cId="0" sldId="290"/>
            <ac:spMk id="18" creationId="{00000000-0000-0000-0000-000000000000}"/>
          </ac:spMkLst>
        </pc:spChg>
        <pc:spChg chg="mod">
          <ac:chgData name="sougata karmakar" userId="f817f9e68f892fa6" providerId="LiveId" clId="{6FB43450-73EE-4163-B6B7-8388EE1C9637}" dt="2026-09-10T08:37:03.627" v="18" actId="404"/>
          <ac:spMkLst>
            <pc:docMk/>
            <pc:sldMk cId="0" sldId="290"/>
            <ac:spMk id="19" creationId="{00000000-0000-0000-0000-000000000000}"/>
          </ac:spMkLst>
        </pc:spChg>
        <pc:spChg chg="mod">
          <ac:chgData name="sougata karmakar" userId="f817f9e68f892fa6" providerId="LiveId" clId="{6FB43450-73EE-4163-B6B7-8388EE1C9637}" dt="2026-09-10T08:37:03.627" v="18" actId="404"/>
          <ac:spMkLst>
            <pc:docMk/>
            <pc:sldMk cId="0" sldId="290"/>
            <ac:spMk id="20" creationId="{00000000-0000-0000-0000-000000000000}"/>
          </ac:spMkLst>
        </pc:spChg>
        <pc:spChg chg="mod">
          <ac:chgData name="sougata karmakar" userId="f817f9e68f892fa6" providerId="LiveId" clId="{6FB43450-73EE-4163-B6B7-8388EE1C9637}" dt="2026-09-10T08:37:03.627" v="18" actId="404"/>
          <ac:spMkLst>
            <pc:docMk/>
            <pc:sldMk cId="0" sldId="290"/>
            <ac:spMk id="21" creationId="{00000000-0000-0000-0000-000000000000}"/>
          </ac:spMkLst>
        </pc:spChg>
        <pc:spChg chg="mod">
          <ac:chgData name="sougata karmakar" userId="f817f9e68f892fa6" providerId="LiveId" clId="{6FB43450-73EE-4163-B6B7-8388EE1C9637}" dt="2026-09-10T08:37:03.627" v="18" actId="404"/>
          <ac:spMkLst>
            <pc:docMk/>
            <pc:sldMk cId="0" sldId="290"/>
            <ac:spMk id="22" creationId="{00000000-0000-0000-0000-000000000000}"/>
          </ac:spMkLst>
        </pc:spChg>
        <pc:spChg chg="mod">
          <ac:chgData name="sougata karmakar" userId="f817f9e68f892fa6" providerId="LiveId" clId="{6FB43450-73EE-4163-B6B7-8388EE1C9637}" dt="2026-09-10T08:37:03.627" v="18" actId="404"/>
          <ac:spMkLst>
            <pc:docMk/>
            <pc:sldMk cId="0" sldId="290"/>
            <ac:spMk id="23" creationId="{00000000-0000-0000-0000-000000000000}"/>
          </ac:spMkLst>
        </pc:spChg>
        <pc:spChg chg="mod">
          <ac:chgData name="sougata karmakar" userId="f817f9e68f892fa6" providerId="LiveId" clId="{6FB43450-73EE-4163-B6B7-8388EE1C9637}" dt="2026-09-10T08:37:03.627" v="18" actId="404"/>
          <ac:spMkLst>
            <pc:docMk/>
            <pc:sldMk cId="0" sldId="290"/>
            <ac:spMk id="24" creationId="{00000000-0000-0000-0000-000000000000}"/>
          </ac:spMkLst>
        </pc:spChg>
        <pc:spChg chg="mod">
          <ac:chgData name="sougata karmakar" userId="f817f9e68f892fa6" providerId="LiveId" clId="{6FB43450-73EE-4163-B6B7-8388EE1C9637}" dt="2026-09-10T08:37:03.627" v="18" actId="404"/>
          <ac:spMkLst>
            <pc:docMk/>
            <pc:sldMk cId="0" sldId="290"/>
            <ac:spMk id="25" creationId="{00000000-0000-0000-0000-000000000000}"/>
          </ac:spMkLst>
        </pc:spChg>
        <pc:spChg chg="mod">
          <ac:chgData name="sougata karmakar" userId="f817f9e68f892fa6" providerId="LiveId" clId="{6FB43450-73EE-4163-B6B7-8388EE1C9637}" dt="2026-09-10T08:36:18.085" v="12" actId="2711"/>
          <ac:spMkLst>
            <pc:docMk/>
            <pc:sldMk cId="0" sldId="290"/>
            <ac:spMk id="26" creationId="{00000000-0000-0000-0000-000000000000}"/>
          </ac:spMkLst>
        </pc:spChg>
        <pc:spChg chg="mod">
          <ac:chgData name="sougata karmakar" userId="f817f9e68f892fa6" providerId="LiveId" clId="{6FB43450-73EE-4163-B6B7-8388EE1C9637}" dt="2026-09-10T08:37:03.627" v="18" actId="404"/>
          <ac:spMkLst>
            <pc:docMk/>
            <pc:sldMk cId="0" sldId="290"/>
            <ac:spMk id="27" creationId="{00000000-0000-0000-0000-000000000000}"/>
          </ac:spMkLst>
        </pc:spChg>
        <pc:spChg chg="mod">
          <ac:chgData name="sougata karmakar" userId="f817f9e68f892fa6" providerId="LiveId" clId="{6FB43450-73EE-4163-B6B7-8388EE1C9637}" dt="2026-09-10T08:50:30.548" v="109" actId="14100"/>
          <ac:spMkLst>
            <pc:docMk/>
            <pc:sldMk cId="0" sldId="290"/>
            <ac:spMk id="28" creationId="{00000000-0000-0000-0000-000000000000}"/>
          </ac:spMkLst>
        </pc:spChg>
        <pc:spChg chg="mod">
          <ac:chgData name="sougata karmakar" userId="f817f9e68f892fa6" providerId="LiveId" clId="{6FB43450-73EE-4163-B6B7-8388EE1C9637}" dt="2026-09-10T08:37:16.238" v="46" actId="20577"/>
          <ac:spMkLst>
            <pc:docMk/>
            <pc:sldMk cId="0" sldId="290"/>
            <ac:spMk id="29" creationId="{00000000-0000-0000-0000-000000000000}"/>
          </ac:spMkLst>
        </pc:spChg>
      </pc:sldChg>
      <pc:sldChg chg="addSp delSp modSp mod">
        <pc:chgData name="sougata karmakar" userId="f817f9e68f892fa6" providerId="LiveId" clId="{6FB43450-73EE-4163-B6B7-8388EE1C9637}" dt="2026-09-10T10:56:14.282" v="257" actId="20577"/>
        <pc:sldMkLst>
          <pc:docMk/>
          <pc:sldMk cId="0" sldId="291"/>
        </pc:sldMkLst>
        <pc:spChg chg="mod">
          <ac:chgData name="sougata karmakar" userId="f817f9e68f892fa6" providerId="LiveId" clId="{6FB43450-73EE-4163-B6B7-8388EE1C9637}" dt="2026-09-10T08:49:09.097" v="103" actId="207"/>
          <ac:spMkLst>
            <pc:docMk/>
            <pc:sldMk cId="0" sldId="291"/>
            <ac:spMk id="39" creationId="{00000000-0000-0000-0000-000000000000}"/>
          </ac:spMkLst>
        </pc:spChg>
        <pc:spChg chg="mod">
          <ac:chgData name="sougata karmakar" userId="f817f9e68f892fa6" providerId="LiveId" clId="{6FB43450-73EE-4163-B6B7-8388EE1C9637}" dt="2026-09-10T10:56:14.282" v="257" actId="20577"/>
          <ac:spMkLst>
            <pc:docMk/>
            <pc:sldMk cId="0" sldId="291"/>
            <ac:spMk id="40" creationId="{00000000-0000-0000-0000-000000000000}"/>
          </ac:spMkLst>
        </pc:spChg>
        <pc:picChg chg="add">
          <ac:chgData name="sougata karmakar" userId="f817f9e68f892fa6" providerId="LiveId" clId="{6FB43450-73EE-4163-B6B7-8388EE1C9637}" dt="2026-09-10T08:46:27.140" v="95" actId="22"/>
          <ac:picMkLst>
            <pc:docMk/>
            <pc:sldMk cId="0" sldId="291"/>
            <ac:picMk id="4" creationId="{24097A96-9F61-44D4-DAED-B407B2EC421B}"/>
          </ac:picMkLst>
        </pc:picChg>
      </pc:sldChg>
      <pc:sldChg chg="modSp mod">
        <pc:chgData name="sougata karmakar" userId="f817f9e68f892fa6" providerId="LiveId" clId="{6FB43450-73EE-4163-B6B7-8388EE1C9637}" dt="2026-09-10T09:03:43.371" v="125" actId="207"/>
        <pc:sldMkLst>
          <pc:docMk/>
          <pc:sldMk cId="3753387913" sldId="293"/>
        </pc:sldMkLst>
        <pc:spChg chg="mod">
          <ac:chgData name="sougata karmakar" userId="f817f9e68f892fa6" providerId="LiveId" clId="{6FB43450-73EE-4163-B6B7-8388EE1C9637}" dt="2026-09-10T08:51:04.665" v="110" actId="2711"/>
          <ac:spMkLst>
            <pc:docMk/>
            <pc:sldMk cId="3753387913" sldId="293"/>
            <ac:spMk id="7" creationId="{00000000-0000-0000-0000-000000000000}"/>
          </ac:spMkLst>
        </pc:spChg>
        <pc:spChg chg="mod">
          <ac:chgData name="sougata karmakar" userId="f817f9e68f892fa6" providerId="LiveId" clId="{6FB43450-73EE-4163-B6B7-8388EE1C9637}" dt="2026-09-10T08:56:50.406" v="115" actId="207"/>
          <ac:spMkLst>
            <pc:docMk/>
            <pc:sldMk cId="3753387913" sldId="293"/>
            <ac:spMk id="10" creationId="{AD4F69D3-EEB0-4C4C-9434-B9960FB5854C}"/>
          </ac:spMkLst>
        </pc:spChg>
        <pc:spChg chg="mod">
          <ac:chgData name="sougata karmakar" userId="f817f9e68f892fa6" providerId="LiveId" clId="{6FB43450-73EE-4163-B6B7-8388EE1C9637}" dt="2026-09-10T08:56:56.370" v="116" actId="207"/>
          <ac:spMkLst>
            <pc:docMk/>
            <pc:sldMk cId="3753387913" sldId="293"/>
            <ac:spMk id="12" creationId="{5DBCE864-823D-4A13-9607-5DA1F0ED5FB8}"/>
          </ac:spMkLst>
        </pc:spChg>
        <pc:spChg chg="mod">
          <ac:chgData name="sougata karmakar" userId="f817f9e68f892fa6" providerId="LiveId" clId="{6FB43450-73EE-4163-B6B7-8388EE1C9637}" dt="2026-09-10T08:51:04.665" v="110" actId="2711"/>
          <ac:spMkLst>
            <pc:docMk/>
            <pc:sldMk cId="3753387913" sldId="293"/>
            <ac:spMk id="13" creationId="{00000000-0000-0000-0000-000000000000}"/>
          </ac:spMkLst>
        </pc:spChg>
        <pc:spChg chg="mod">
          <ac:chgData name="sougata karmakar" userId="f817f9e68f892fa6" providerId="LiveId" clId="{6FB43450-73EE-4163-B6B7-8388EE1C9637}" dt="2026-09-10T08:57:03.558" v="117" actId="207"/>
          <ac:spMkLst>
            <pc:docMk/>
            <pc:sldMk cId="3753387913" sldId="293"/>
            <ac:spMk id="14" creationId="{00000000-0000-0000-0000-000000000000}"/>
          </ac:spMkLst>
        </pc:spChg>
        <pc:spChg chg="mod">
          <ac:chgData name="sougata karmakar" userId="f817f9e68f892fa6" providerId="LiveId" clId="{6FB43450-73EE-4163-B6B7-8388EE1C9637}" dt="2026-09-10T09:03:43.371" v="125" actId="207"/>
          <ac:spMkLst>
            <pc:docMk/>
            <pc:sldMk cId="3753387913" sldId="293"/>
            <ac:spMk id="15" creationId="{00000000-0000-0000-0000-000000000000}"/>
          </ac:spMkLst>
        </pc:spChg>
        <pc:spChg chg="mod">
          <ac:chgData name="sougata karmakar" userId="f817f9e68f892fa6" providerId="LiveId" clId="{6FB43450-73EE-4163-B6B7-8388EE1C9637}" dt="2026-09-10T09:03:24.680" v="122" actId="207"/>
          <ac:spMkLst>
            <pc:docMk/>
            <pc:sldMk cId="3753387913" sldId="293"/>
            <ac:spMk id="16" creationId="{00000000-0000-0000-0000-000000000000}"/>
          </ac:spMkLst>
        </pc:spChg>
        <pc:spChg chg="mod">
          <ac:chgData name="sougata karmakar" userId="f817f9e68f892fa6" providerId="LiveId" clId="{6FB43450-73EE-4163-B6B7-8388EE1C9637}" dt="2026-09-10T08:51:04.665" v="110" actId="2711"/>
          <ac:spMkLst>
            <pc:docMk/>
            <pc:sldMk cId="3753387913" sldId="293"/>
            <ac:spMk id="18" creationId="{00000000-0000-0000-0000-000000000000}"/>
          </ac:spMkLst>
        </pc:spChg>
        <pc:spChg chg="mod">
          <ac:chgData name="sougata karmakar" userId="f817f9e68f892fa6" providerId="LiveId" clId="{6FB43450-73EE-4163-B6B7-8388EE1C9637}" dt="2026-09-10T08:51:04.665" v="110" actId="2711"/>
          <ac:spMkLst>
            <pc:docMk/>
            <pc:sldMk cId="3753387913" sldId="293"/>
            <ac:spMk id="24" creationId="{00000000-0000-0000-0000-000000000000}"/>
          </ac:spMkLst>
        </pc:spChg>
        <pc:spChg chg="mod">
          <ac:chgData name="sougata karmakar" userId="f817f9e68f892fa6" providerId="LiveId" clId="{6FB43450-73EE-4163-B6B7-8388EE1C9637}" dt="2026-09-10T08:51:04.665" v="110" actId="2711"/>
          <ac:spMkLst>
            <pc:docMk/>
            <pc:sldMk cId="3753387913" sldId="293"/>
            <ac:spMk id="26" creationId="{00000000-0000-0000-0000-000000000000}"/>
          </ac:spMkLst>
        </pc:spChg>
        <pc:spChg chg="mod">
          <ac:chgData name="sougata karmakar" userId="f817f9e68f892fa6" providerId="LiveId" clId="{6FB43450-73EE-4163-B6B7-8388EE1C9637}" dt="2026-09-10T08:51:04.665" v="110" actId="2711"/>
          <ac:spMkLst>
            <pc:docMk/>
            <pc:sldMk cId="3753387913" sldId="293"/>
            <ac:spMk id="27" creationId="{00000000-0000-0000-0000-000000000000}"/>
          </ac:spMkLst>
        </pc:spChg>
        <pc:spChg chg="mod">
          <ac:chgData name="sougata karmakar" userId="f817f9e68f892fa6" providerId="LiveId" clId="{6FB43450-73EE-4163-B6B7-8388EE1C9637}" dt="2026-09-10T08:51:04.665" v="110" actId="2711"/>
          <ac:spMkLst>
            <pc:docMk/>
            <pc:sldMk cId="3753387913" sldId="293"/>
            <ac:spMk id="29" creationId="{00000000-0000-0000-0000-000000000000}"/>
          </ac:spMkLst>
        </pc:spChg>
      </pc:sldChg>
      <pc:sldChg chg="addSp delSp modSp mod">
        <pc:chgData name="sougata karmakar" userId="f817f9e68f892fa6" providerId="LiveId" clId="{6FB43450-73EE-4163-B6B7-8388EE1C9637}" dt="2026-09-12T16:16:50.824" v="448" actId="14100"/>
        <pc:sldMkLst>
          <pc:docMk/>
          <pc:sldMk cId="2997144140" sldId="294"/>
        </pc:sldMkLst>
        <pc:spChg chg="mod">
          <ac:chgData name="sougata karmakar" userId="f817f9e68f892fa6" providerId="LiveId" clId="{6FB43450-73EE-4163-B6B7-8388EE1C9637}" dt="2026-09-10T09:10:36.254" v="130" actId="207"/>
          <ac:spMkLst>
            <pc:docMk/>
            <pc:sldMk cId="2997144140" sldId="294"/>
            <ac:spMk id="10" creationId="{AD4F69D3-EEB0-4C4C-9434-B9960FB5854C}"/>
          </ac:spMkLst>
        </pc:spChg>
        <pc:spChg chg="mod">
          <ac:chgData name="sougata karmakar" userId="f817f9e68f892fa6" providerId="LiveId" clId="{6FB43450-73EE-4163-B6B7-8388EE1C9637}" dt="2026-09-12T16:14:04.579" v="336" actId="208"/>
          <ac:spMkLst>
            <pc:docMk/>
            <pc:sldMk cId="2997144140" sldId="294"/>
            <ac:spMk id="12" creationId="{5DBCE864-823D-4A13-9607-5DA1F0ED5FB8}"/>
          </ac:spMkLst>
        </pc:spChg>
        <pc:spChg chg="mod">
          <ac:chgData name="sougata karmakar" userId="f817f9e68f892fa6" providerId="LiveId" clId="{6FB43450-73EE-4163-B6B7-8388EE1C9637}" dt="2026-09-10T09:11:19.246" v="136" actId="255"/>
          <ac:spMkLst>
            <pc:docMk/>
            <pc:sldMk cId="2997144140" sldId="294"/>
            <ac:spMk id="13" creationId="{00000000-0000-0000-0000-000000000000}"/>
          </ac:spMkLst>
        </pc:spChg>
        <pc:spChg chg="mod">
          <ac:chgData name="sougata karmakar" userId="f817f9e68f892fa6" providerId="LiveId" clId="{6FB43450-73EE-4163-B6B7-8388EE1C9637}" dt="2026-09-10T09:11:07.934" v="135" actId="255"/>
          <ac:spMkLst>
            <pc:docMk/>
            <pc:sldMk cId="2997144140" sldId="294"/>
            <ac:spMk id="14" creationId="{00000000-0000-0000-0000-000000000000}"/>
          </ac:spMkLst>
        </pc:spChg>
        <pc:spChg chg="mod">
          <ac:chgData name="sougata karmakar" userId="f817f9e68f892fa6" providerId="LiveId" clId="{6FB43450-73EE-4163-B6B7-8388EE1C9637}" dt="2026-09-12T16:15:51.841" v="434" actId="1036"/>
          <ac:spMkLst>
            <pc:docMk/>
            <pc:sldMk cId="2997144140" sldId="294"/>
            <ac:spMk id="15" creationId="{00000000-0000-0000-0000-000000000000}"/>
          </ac:spMkLst>
        </pc:spChg>
        <pc:spChg chg="mod">
          <ac:chgData name="sougata karmakar" userId="f817f9e68f892fa6" providerId="LiveId" clId="{6FB43450-73EE-4163-B6B7-8388EE1C9637}" dt="2026-09-12T16:15:51.841" v="434" actId="1036"/>
          <ac:spMkLst>
            <pc:docMk/>
            <pc:sldMk cId="2997144140" sldId="294"/>
            <ac:spMk id="16" creationId="{00000000-0000-0000-0000-000000000000}"/>
          </ac:spMkLst>
        </pc:spChg>
        <pc:spChg chg="mod">
          <ac:chgData name="sougata karmakar" userId="f817f9e68f892fa6" providerId="LiveId" clId="{6FB43450-73EE-4163-B6B7-8388EE1C9637}" dt="2026-09-12T16:15:51.841" v="434" actId="1036"/>
          <ac:spMkLst>
            <pc:docMk/>
            <pc:sldMk cId="2997144140" sldId="294"/>
            <ac:spMk id="17" creationId="{00000000-0000-0000-0000-000000000000}"/>
          </ac:spMkLst>
        </pc:spChg>
        <pc:spChg chg="mod">
          <ac:chgData name="sougata karmakar" userId="f817f9e68f892fa6" providerId="LiveId" clId="{6FB43450-73EE-4163-B6B7-8388EE1C9637}" dt="2026-09-12T16:15:07.313" v="400" actId="1036"/>
          <ac:spMkLst>
            <pc:docMk/>
            <pc:sldMk cId="2997144140" sldId="294"/>
            <ac:spMk id="18" creationId="{00000000-0000-0000-0000-000000000000}"/>
          </ac:spMkLst>
        </pc:spChg>
        <pc:spChg chg="mod">
          <ac:chgData name="sougata karmakar" userId="f817f9e68f892fa6" providerId="LiveId" clId="{6FB43450-73EE-4163-B6B7-8388EE1C9637}" dt="2026-09-12T16:15:07.313" v="400" actId="1036"/>
          <ac:spMkLst>
            <pc:docMk/>
            <pc:sldMk cId="2997144140" sldId="294"/>
            <ac:spMk id="19" creationId="{00000000-0000-0000-0000-000000000000}"/>
          </ac:spMkLst>
        </pc:spChg>
        <pc:spChg chg="mod">
          <ac:chgData name="sougata karmakar" userId="f817f9e68f892fa6" providerId="LiveId" clId="{6FB43450-73EE-4163-B6B7-8388EE1C9637}" dt="2026-09-12T16:15:07.313" v="400" actId="1036"/>
          <ac:spMkLst>
            <pc:docMk/>
            <pc:sldMk cId="2997144140" sldId="294"/>
            <ac:spMk id="20" creationId="{00000000-0000-0000-0000-000000000000}"/>
          </ac:spMkLst>
        </pc:spChg>
        <pc:spChg chg="mod">
          <ac:chgData name="sougata karmakar" userId="f817f9e68f892fa6" providerId="LiveId" clId="{6FB43450-73EE-4163-B6B7-8388EE1C9637}" dt="2026-09-12T16:16:46.417" v="447" actId="14100"/>
          <ac:spMkLst>
            <pc:docMk/>
            <pc:sldMk cId="2997144140" sldId="294"/>
            <ac:spMk id="21" creationId="{00000000-0000-0000-0000-000000000000}"/>
          </ac:spMkLst>
        </pc:spChg>
        <pc:spChg chg="mod">
          <ac:chgData name="sougata karmakar" userId="f817f9e68f892fa6" providerId="LiveId" clId="{6FB43450-73EE-4163-B6B7-8388EE1C9637}" dt="2026-09-12T16:16:14.610" v="436" actId="14100"/>
          <ac:spMkLst>
            <pc:docMk/>
            <pc:sldMk cId="2997144140" sldId="294"/>
            <ac:spMk id="22" creationId="{00000000-0000-0000-0000-000000000000}"/>
          </ac:spMkLst>
        </pc:spChg>
        <pc:spChg chg="mod">
          <ac:chgData name="sougata karmakar" userId="f817f9e68f892fa6" providerId="LiveId" clId="{6FB43450-73EE-4163-B6B7-8388EE1C9637}" dt="2026-09-12T16:16:50.824" v="448" actId="14100"/>
          <ac:spMkLst>
            <pc:docMk/>
            <pc:sldMk cId="2997144140" sldId="294"/>
            <ac:spMk id="23" creationId="{00000000-0000-0000-0000-000000000000}"/>
          </ac:spMkLst>
        </pc:spChg>
        <pc:spChg chg="mod">
          <ac:chgData name="sougata karmakar" userId="f817f9e68f892fa6" providerId="LiveId" clId="{6FB43450-73EE-4163-B6B7-8388EE1C9637}" dt="2026-09-10T09:36:31.298" v="218" actId="1076"/>
          <ac:spMkLst>
            <pc:docMk/>
            <pc:sldMk cId="2997144140" sldId="294"/>
            <ac:spMk id="24" creationId="{00000000-0000-0000-0000-000000000000}"/>
          </ac:spMkLst>
        </pc:spChg>
        <pc:spChg chg="mod">
          <ac:chgData name="sougata karmakar" userId="f817f9e68f892fa6" providerId="LiveId" clId="{6FB43450-73EE-4163-B6B7-8388EE1C9637}" dt="2026-09-12T16:12:30.798" v="317" actId="14100"/>
          <ac:spMkLst>
            <pc:docMk/>
            <pc:sldMk cId="2997144140" sldId="294"/>
            <ac:spMk id="25" creationId="{00000000-0000-0000-0000-000000000000}"/>
          </ac:spMkLst>
        </pc:spChg>
        <pc:spChg chg="mod">
          <ac:chgData name="sougata karmakar" userId="f817f9e68f892fa6" providerId="LiveId" clId="{6FB43450-73EE-4163-B6B7-8388EE1C9637}" dt="2026-09-12T16:12:49.628" v="328" actId="14100"/>
          <ac:spMkLst>
            <pc:docMk/>
            <pc:sldMk cId="2997144140" sldId="294"/>
            <ac:spMk id="26" creationId="{00000000-0000-0000-0000-000000000000}"/>
          </ac:spMkLst>
        </pc:spChg>
        <pc:spChg chg="mod">
          <ac:chgData name="sougata karmakar" userId="f817f9e68f892fa6" providerId="LiveId" clId="{6FB43450-73EE-4163-B6B7-8388EE1C9637}" dt="2026-09-12T16:14:45.954" v="359" actId="1038"/>
          <ac:spMkLst>
            <pc:docMk/>
            <pc:sldMk cId="2997144140" sldId="294"/>
            <ac:spMk id="27" creationId="{00000000-0000-0000-0000-000000000000}"/>
          </ac:spMkLst>
        </pc:spChg>
        <pc:picChg chg="add del mod modCrop">
          <ac:chgData name="sougata karmakar" userId="f817f9e68f892fa6" providerId="LiveId" clId="{6FB43450-73EE-4163-B6B7-8388EE1C9637}" dt="2026-09-12T16:11:33.901" v="307" actId="478"/>
          <ac:picMkLst>
            <pc:docMk/>
            <pc:sldMk cId="2997144140" sldId="294"/>
            <ac:picMk id="3" creationId="{3826A6E1-D8A6-9B40-5742-5523A244EBD0}"/>
          </ac:picMkLst>
        </pc:picChg>
        <pc:picChg chg="add mod">
          <ac:chgData name="sougata karmakar" userId="f817f9e68f892fa6" providerId="LiveId" clId="{6FB43450-73EE-4163-B6B7-8388EE1C9637}" dt="2026-09-12T16:12:03.929" v="313" actId="1076"/>
          <ac:picMkLst>
            <pc:docMk/>
            <pc:sldMk cId="2997144140" sldId="294"/>
            <ac:picMk id="4" creationId="{36330FD7-9AD6-7BFE-ECC6-DD5C867A9110}"/>
          </ac:picMkLst>
        </pc:picChg>
      </pc:sldChg>
      <pc:sldChg chg="addSp delSp modSp mod">
        <pc:chgData name="sougata karmakar" userId="f817f9e68f892fa6" providerId="LiveId" clId="{6FB43450-73EE-4163-B6B7-8388EE1C9637}" dt="2026-09-10T09:20:12.593" v="202" actId="207"/>
        <pc:sldMkLst>
          <pc:docMk/>
          <pc:sldMk cId="3916788613" sldId="296"/>
        </pc:sldMkLst>
        <pc:spChg chg="add mod">
          <ac:chgData name="sougata karmakar" userId="f817f9e68f892fa6" providerId="LiveId" clId="{6FB43450-73EE-4163-B6B7-8388EE1C9637}" dt="2026-09-10T09:20:12.593" v="202" actId="207"/>
          <ac:spMkLst>
            <pc:docMk/>
            <pc:sldMk cId="3916788613" sldId="296"/>
            <ac:spMk id="3" creationId="{861B1863-9C76-5BF7-4010-3F4F72BEA8BD}"/>
          </ac:spMkLst>
        </pc:spChg>
        <pc:spChg chg="mod">
          <ac:chgData name="sougata karmakar" userId="f817f9e68f892fa6" providerId="LiveId" clId="{6FB43450-73EE-4163-B6B7-8388EE1C9637}" dt="2026-09-10T09:16:17.585" v="151" actId="207"/>
          <ac:spMkLst>
            <pc:docMk/>
            <pc:sldMk cId="3916788613" sldId="296"/>
            <ac:spMk id="9" creationId="{5DBCE864-823D-4A13-9607-5DA1F0ED5FB8}"/>
          </ac:spMkLst>
        </pc:spChg>
        <pc:spChg chg="mod">
          <ac:chgData name="sougata karmakar" userId="f817f9e68f892fa6" providerId="LiveId" clId="{6FB43450-73EE-4163-B6B7-8388EE1C9637}" dt="2026-09-10T09:16:07.568" v="149" actId="207"/>
          <ac:spMkLst>
            <pc:docMk/>
            <pc:sldMk cId="3916788613" sldId="296"/>
            <ac:spMk id="10" creationId="{AD4F69D3-EEB0-4C4C-9434-B9960FB5854C}"/>
          </ac:spMkLst>
        </pc:spChg>
        <pc:spChg chg="mod">
          <ac:chgData name="sougata karmakar" userId="f817f9e68f892fa6" providerId="LiveId" clId="{6FB43450-73EE-4163-B6B7-8388EE1C9637}" dt="2026-09-10T09:16:01.070" v="148" actId="207"/>
          <ac:spMkLst>
            <pc:docMk/>
            <pc:sldMk cId="3916788613" sldId="296"/>
            <ac:spMk id="1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914400" y="365760"/>
            <a:ext cx="8686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B365D"/>
                </a:solidFill>
                <a:latin typeface="Times New Roman"/>
              </a:defRPr>
            </a:pPr>
            <a:r>
              <a:t>SMART INDIA HACKATHON 2026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234440"/>
            <a:ext cx="12188952" cy="3200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48640" y="1645920"/>
            <a:ext cx="6858000" cy="3898503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400"/>
              </a:spcAft>
            </a:pPr>
            <a:r>
              <a:rPr sz="2400" b="1" dirty="0">
                <a:solidFill>
                  <a:schemeClr val="tx2">
                    <a:lumMod val="50000"/>
                  </a:schemeClr>
                </a:solidFill>
                <a:latin typeface="Times New Roman"/>
              </a:rPr>
              <a:t>Problem Statement ID </a:t>
            </a:r>
            <a:r>
              <a:rPr sz="2400" b="1" dirty="0">
                <a:solidFill>
                  <a:srgbClr val="2E7D32"/>
                </a:solidFill>
                <a:latin typeface="Times New Roman"/>
              </a:rPr>
              <a:t>- </a:t>
            </a:r>
            <a:r>
              <a:rPr sz="2400" dirty="0">
                <a:solidFill>
                  <a:srgbClr val="111827"/>
                </a:solidFill>
                <a:latin typeface="Times New Roman"/>
              </a:rPr>
              <a:t>SIH26001</a:t>
            </a:r>
          </a:p>
          <a:p>
            <a:pPr>
              <a:spcAft>
                <a:spcPts val="1400"/>
              </a:spcAft>
            </a:pPr>
            <a:r>
              <a:rPr sz="2400" b="1" dirty="0">
                <a:solidFill>
                  <a:schemeClr val="tx2">
                    <a:lumMod val="50000"/>
                  </a:schemeClr>
                </a:solidFill>
                <a:latin typeface="Times New Roman"/>
              </a:rPr>
              <a:t>Problem Statement Title - </a:t>
            </a:r>
            <a:r>
              <a:rPr sz="2400" dirty="0">
                <a:solidFill>
                  <a:srgbClr val="111827"/>
                </a:solidFill>
                <a:latin typeface="Times New Roman"/>
              </a:rPr>
              <a:t>Landslide Intelligence using Temporal &amp; Hyperlocal Observation System (LITHOS)</a:t>
            </a:r>
          </a:p>
          <a:p>
            <a:pPr>
              <a:spcAft>
                <a:spcPts val="1400"/>
              </a:spcAft>
            </a:pPr>
            <a:r>
              <a:rPr sz="2400" b="1" dirty="0">
                <a:solidFill>
                  <a:schemeClr val="tx2">
                    <a:lumMod val="50000"/>
                  </a:schemeClr>
                </a:solidFill>
                <a:latin typeface="Times New Roman"/>
              </a:rPr>
              <a:t>Theme</a:t>
            </a:r>
            <a:r>
              <a:rPr sz="2400" b="1" dirty="0">
                <a:solidFill>
                  <a:srgbClr val="2E7D32"/>
                </a:solidFill>
                <a:latin typeface="Times New Roman"/>
              </a:rPr>
              <a:t> - </a:t>
            </a:r>
            <a:r>
              <a:rPr sz="2400" dirty="0">
                <a:solidFill>
                  <a:srgbClr val="111827"/>
                </a:solidFill>
                <a:latin typeface="Times New Roman"/>
              </a:rPr>
              <a:t>Disaster Management &amp; Climate Resilience</a:t>
            </a:r>
          </a:p>
          <a:p>
            <a:pPr>
              <a:spcAft>
                <a:spcPts val="1400"/>
              </a:spcAft>
            </a:pPr>
            <a:r>
              <a:rPr sz="2400" b="1" dirty="0">
                <a:solidFill>
                  <a:schemeClr val="tx2">
                    <a:lumMod val="50000"/>
                  </a:schemeClr>
                </a:solidFill>
                <a:latin typeface="Times New Roman"/>
              </a:rPr>
              <a:t>PS Category </a:t>
            </a:r>
            <a:r>
              <a:rPr sz="2400" b="1" dirty="0">
                <a:solidFill>
                  <a:srgbClr val="2E7D32"/>
                </a:solidFill>
                <a:latin typeface="Times New Roman"/>
              </a:rPr>
              <a:t>- </a:t>
            </a:r>
            <a:r>
              <a:rPr sz="2400" dirty="0">
                <a:solidFill>
                  <a:srgbClr val="111827"/>
                </a:solidFill>
                <a:latin typeface="Times New Roman"/>
              </a:rPr>
              <a:t>Software</a:t>
            </a:r>
          </a:p>
          <a:p>
            <a:pPr>
              <a:spcAft>
                <a:spcPts val="1400"/>
              </a:spcAft>
            </a:pPr>
            <a:r>
              <a:rPr sz="2400" b="1" dirty="0">
                <a:solidFill>
                  <a:schemeClr val="tx2">
                    <a:lumMod val="50000"/>
                  </a:schemeClr>
                </a:solidFill>
                <a:latin typeface="Times New Roman"/>
              </a:rPr>
              <a:t>Team ID </a:t>
            </a:r>
            <a:r>
              <a:rPr sz="2400" b="1" dirty="0">
                <a:solidFill>
                  <a:srgbClr val="2E7D32"/>
                </a:solidFill>
                <a:latin typeface="Times New Roman"/>
              </a:rPr>
              <a:t>- </a:t>
            </a:r>
            <a:r>
              <a:rPr sz="2400" dirty="0">
                <a:solidFill>
                  <a:srgbClr val="111827"/>
                </a:solidFill>
                <a:latin typeface="Times New Roman"/>
              </a:rPr>
              <a:t>26001</a:t>
            </a:r>
          </a:p>
          <a:p>
            <a:pPr>
              <a:spcAft>
                <a:spcPts val="1400"/>
              </a:spcAft>
            </a:pPr>
            <a:r>
              <a:rPr sz="2400" b="1" dirty="0">
                <a:solidFill>
                  <a:schemeClr val="tx2">
                    <a:lumMod val="50000"/>
                  </a:schemeClr>
                </a:solidFill>
                <a:latin typeface="Times New Roman"/>
              </a:rPr>
              <a:t>Team Name </a:t>
            </a:r>
            <a:r>
              <a:rPr sz="2400" b="1" dirty="0">
                <a:solidFill>
                  <a:srgbClr val="2E7D32"/>
                </a:solidFill>
                <a:latin typeface="Times New Roman"/>
              </a:rPr>
              <a:t>- </a:t>
            </a:r>
            <a:r>
              <a:rPr sz="2400" dirty="0">
                <a:solidFill>
                  <a:srgbClr val="111827"/>
                </a:solidFill>
                <a:latin typeface="Times New Roman"/>
              </a:rPr>
              <a:t>LITHOS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097A96-9F61-44D4-DAED-B407B2EC421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0040" y="182880"/>
            <a:ext cx="1280160" cy="777240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9333EA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1827"/>
                </a:solidFill>
                <a:latin typeface="Times New Roman"/>
              </a:defRPr>
            </a:pPr>
            <a:r>
              <a:t>LITHOS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645920" y="164592"/>
            <a:ext cx="804672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111827"/>
                </a:solidFill>
                <a:latin typeface="Times New Roman"/>
              </a:defRPr>
            </a:pPr>
            <a:r>
              <a:rPr dirty="0"/>
              <a:t>LITHOS: Physics-Informed &amp; InSAR Landslide Early Warning System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1078992"/>
            <a:ext cx="12188952" cy="3200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1188720"/>
            <a:ext cx="4937760" cy="4611519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200"/>
              </a:spcAft>
            </a:pPr>
            <a:r>
              <a:rPr b="1" dirty="0">
                <a:solidFill>
                  <a:schemeClr val="tx2">
                    <a:lumMod val="50000"/>
                  </a:schemeClr>
                </a:solidFill>
                <a:latin typeface="Times New Roman"/>
              </a:rPr>
              <a:t>Current Challenges:</a:t>
            </a:r>
          </a:p>
          <a:p>
            <a:pPr>
              <a:spcAft>
                <a:spcPts val="700"/>
              </a:spcAft>
            </a:pPr>
            <a:r>
              <a:rPr sz="1200" b="0" dirty="0">
                <a:solidFill>
                  <a:srgbClr val="111827"/>
                </a:solidFill>
                <a:latin typeface="Times New Roman"/>
              </a:rPr>
              <a:t>Conventional alerts rely on </a:t>
            </a:r>
            <a:r>
              <a:rPr sz="1200" b="1" dirty="0">
                <a:solidFill>
                  <a:schemeClr val="accent1">
                    <a:lumMod val="75000"/>
                  </a:schemeClr>
                </a:solidFill>
                <a:latin typeface="Times New Roman"/>
              </a:rPr>
              <a:t>coarse 50km block warnings</a:t>
            </a:r>
            <a:r>
              <a:rPr sz="1200" b="0" dirty="0">
                <a:solidFill>
                  <a:schemeClr val="accent1">
                    <a:lumMod val="75000"/>
                  </a:schemeClr>
                </a:solidFill>
                <a:latin typeface="Times New Roman"/>
              </a:rPr>
              <a:t> </a:t>
            </a:r>
            <a:r>
              <a:rPr sz="1200" b="0" dirty="0">
                <a:solidFill>
                  <a:srgbClr val="111827"/>
                </a:solidFill>
                <a:latin typeface="Times New Roman"/>
              </a:rPr>
              <a:t>(IMD/GSI), triggering severe </a:t>
            </a:r>
            <a:r>
              <a:rPr sz="1200" b="1" dirty="0">
                <a:solidFill>
                  <a:schemeClr val="accent1">
                    <a:lumMod val="75000"/>
                  </a:schemeClr>
                </a:solidFill>
                <a:latin typeface="Times New Roman"/>
              </a:rPr>
              <a:t>false-alarm fatigue</a:t>
            </a:r>
            <a:r>
              <a:rPr sz="1200" b="0" dirty="0">
                <a:solidFill>
                  <a:srgbClr val="111827"/>
                </a:solidFill>
                <a:latin typeface="Times New Roman"/>
              </a:rPr>
              <a:t>. Pure black-box AI models suffer from </a:t>
            </a:r>
            <a:r>
              <a:rPr sz="1200" b="1" dirty="0">
                <a:solidFill>
                  <a:schemeClr val="accent1">
                    <a:lumMod val="75000"/>
                  </a:schemeClr>
                </a:solidFill>
                <a:latin typeface="Times New Roman"/>
              </a:rPr>
              <a:t>'rainfall hallucinations'</a:t>
            </a:r>
            <a:r>
              <a:rPr sz="1200" b="0" dirty="0">
                <a:solidFill>
                  <a:schemeClr val="accent1">
                    <a:lumMod val="75000"/>
                  </a:schemeClr>
                </a:solidFill>
                <a:latin typeface="Times New Roman"/>
              </a:rPr>
              <a:t> </a:t>
            </a:r>
            <a:r>
              <a:rPr sz="1200" b="0" dirty="0">
                <a:solidFill>
                  <a:srgbClr val="111827"/>
                </a:solidFill>
                <a:latin typeface="Times New Roman"/>
              </a:rPr>
              <a:t>predicting slides on flat plains, while existing systems are </a:t>
            </a:r>
            <a:r>
              <a:rPr sz="1200" b="1" dirty="0">
                <a:solidFill>
                  <a:schemeClr val="accent1">
                    <a:lumMod val="75000"/>
                  </a:schemeClr>
                </a:solidFill>
                <a:latin typeface="Times New Roman"/>
              </a:rPr>
              <a:t>completely blind to pre-failure ground creep.</a:t>
            </a:r>
          </a:p>
          <a:p>
            <a:pPr>
              <a:spcAft>
                <a:spcPts val="200"/>
              </a:spcAft>
            </a:pPr>
            <a:r>
              <a:rPr b="1" dirty="0">
                <a:solidFill>
                  <a:schemeClr val="tx2">
                    <a:lumMod val="50000"/>
                  </a:schemeClr>
                </a:solidFill>
                <a:latin typeface="Times New Roman"/>
              </a:rPr>
              <a:t>Our Solution:</a:t>
            </a:r>
          </a:p>
          <a:p>
            <a:pPr>
              <a:spcAft>
                <a:spcPts val="700"/>
              </a:spcAft>
            </a:pPr>
            <a:r>
              <a:rPr sz="1200" b="0" dirty="0">
                <a:solidFill>
                  <a:srgbClr val="111827"/>
                </a:solidFill>
                <a:latin typeface="Times New Roman"/>
              </a:rPr>
              <a:t>An </a:t>
            </a:r>
            <a:r>
              <a:rPr sz="1200" b="1" dirty="0">
                <a:solidFill>
                  <a:schemeClr val="accent1">
                    <a:lumMod val="75000"/>
                  </a:schemeClr>
                </a:solidFill>
                <a:latin typeface="Times New Roman"/>
              </a:rPr>
              <a:t>AI-powered PINN &amp; Sentinel-1 InSAR system with Wireless IoT Sensors &amp; Debris Runout Analytics</a:t>
            </a:r>
            <a:r>
              <a:rPr sz="1200" b="0" dirty="0">
                <a:solidFill>
                  <a:schemeClr val="accent1">
                    <a:lumMod val="75000"/>
                  </a:schemeClr>
                </a:solidFill>
                <a:latin typeface="Times New Roman"/>
              </a:rPr>
              <a:t> </a:t>
            </a:r>
            <a:r>
              <a:rPr sz="1200" b="0" dirty="0">
                <a:solidFill>
                  <a:srgbClr val="111827"/>
                </a:solidFill>
                <a:latin typeface="Times New Roman"/>
              </a:rPr>
              <a:t>that predicts slope failure across </a:t>
            </a:r>
            <a:r>
              <a:rPr sz="1200" b="1" dirty="0">
                <a:solidFill>
                  <a:schemeClr val="accent1">
                    <a:lumMod val="75000"/>
                  </a:schemeClr>
                </a:solidFill>
                <a:latin typeface="Times New Roman"/>
              </a:rPr>
              <a:t>580,508 hydrological </a:t>
            </a:r>
            <a:r>
              <a:rPr sz="1200" b="1">
                <a:solidFill>
                  <a:schemeClr val="accent1">
                    <a:lumMod val="75000"/>
                  </a:schemeClr>
                </a:solidFill>
                <a:latin typeface="Times New Roman"/>
              </a:rPr>
              <a:t>slope units</a:t>
            </a:r>
            <a:r>
              <a:rPr sz="1200" b="0">
                <a:solidFill>
                  <a:schemeClr val="accent1"/>
                </a:solidFill>
                <a:latin typeface="Times New Roman"/>
              </a:rPr>
              <a:t> </a:t>
            </a:r>
            <a:r>
              <a:rPr sz="1200" b="0" dirty="0">
                <a:solidFill>
                  <a:srgbClr val="111827"/>
                </a:solidFill>
                <a:latin typeface="Times New Roman"/>
              </a:rPr>
              <a:t>in North-East India, </a:t>
            </a:r>
            <a:r>
              <a:rPr sz="1200" b="1" dirty="0">
                <a:solidFill>
                  <a:schemeClr val="accent1">
                    <a:lumMod val="75000"/>
                  </a:schemeClr>
                </a:solidFill>
                <a:latin typeface="Times New Roman"/>
              </a:rPr>
              <a:t>empowering sub-80ms real-time disaster decision intelligence.</a:t>
            </a:r>
          </a:p>
          <a:p>
            <a:pPr>
              <a:spcAft>
                <a:spcPts val="200"/>
              </a:spcAft>
            </a:pPr>
            <a:r>
              <a:rPr b="1" dirty="0">
                <a:solidFill>
                  <a:schemeClr val="tx2">
                    <a:lumMod val="50000"/>
                  </a:schemeClr>
                </a:solidFill>
                <a:latin typeface="Times New Roman"/>
              </a:rPr>
              <a:t>Our Unique Value Proposition :</a:t>
            </a:r>
          </a:p>
          <a:p>
            <a:pPr>
              <a:spcAft>
                <a:spcPts val="250"/>
              </a:spcAft>
            </a:pPr>
            <a:r>
              <a:rPr sz="1200" b="1" dirty="0">
                <a:solidFill>
                  <a:srgbClr val="111827"/>
                </a:solidFill>
                <a:latin typeface="Times New Roman"/>
              </a:rPr>
              <a:t>Slope Units: </a:t>
            </a:r>
            <a:r>
              <a:rPr sz="1200" dirty="0">
                <a:solidFill>
                  <a:srgbClr val="111827"/>
                </a:solidFill>
                <a:latin typeface="Times New Roman"/>
              </a:rPr>
              <a:t>Replaces 291M noisy pixels with </a:t>
            </a:r>
            <a:r>
              <a:rPr sz="1200" b="1" dirty="0">
                <a:solidFill>
                  <a:schemeClr val="accent1">
                    <a:lumMod val="75000"/>
                  </a:schemeClr>
                </a:solidFill>
                <a:latin typeface="Times New Roman"/>
              </a:rPr>
              <a:t>natural geomorphological drainage divides</a:t>
            </a: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Times New Roman"/>
              </a:rPr>
              <a:t> </a:t>
            </a:r>
            <a:r>
              <a:rPr sz="1200" dirty="0">
                <a:solidFill>
                  <a:srgbClr val="111827"/>
                </a:solidFill>
                <a:latin typeface="Times New Roman"/>
              </a:rPr>
              <a:t>across 8 NER states (</a:t>
            </a:r>
            <a:r>
              <a:rPr sz="1200" dirty="0" err="1">
                <a:solidFill>
                  <a:srgbClr val="111827"/>
                </a:solidFill>
                <a:latin typeface="Times New Roman"/>
              </a:rPr>
              <a:t>Alvioli</a:t>
            </a:r>
            <a:r>
              <a:rPr sz="1200" dirty="0">
                <a:solidFill>
                  <a:srgbClr val="111827"/>
                </a:solidFill>
                <a:latin typeface="Times New Roman"/>
              </a:rPr>
              <a:t> 2016).</a:t>
            </a:r>
          </a:p>
          <a:p>
            <a:pPr>
              <a:spcAft>
                <a:spcPts val="250"/>
              </a:spcAft>
            </a:pPr>
            <a:r>
              <a:rPr sz="1200" b="1" dirty="0">
                <a:solidFill>
                  <a:srgbClr val="111827"/>
                </a:solidFill>
                <a:latin typeface="Times New Roman"/>
              </a:rPr>
              <a:t>Geotechnical Physics Embedding: </a:t>
            </a:r>
            <a:r>
              <a:rPr sz="1200" dirty="0">
                <a:solidFill>
                  <a:srgbClr val="111827"/>
                </a:solidFill>
                <a:latin typeface="Times New Roman"/>
              </a:rPr>
              <a:t>Enforces Mohr-Coulomb yield &amp; </a:t>
            </a:r>
            <a:r>
              <a:rPr sz="1200" b="1" dirty="0">
                <a:solidFill>
                  <a:schemeClr val="accent1">
                    <a:lumMod val="75000"/>
                  </a:schemeClr>
                </a:solidFill>
                <a:latin typeface="Times New Roman"/>
              </a:rPr>
              <a:t>IS 1893 Zone V seismic inertia</a:t>
            </a:r>
            <a:r>
              <a:rPr sz="1200" dirty="0">
                <a:solidFill>
                  <a:srgbClr val="111827"/>
                </a:solidFill>
                <a:latin typeface="Times New Roman"/>
              </a:rPr>
              <a:t> into </a:t>
            </a:r>
            <a:r>
              <a:rPr sz="1200" dirty="0" err="1">
                <a:solidFill>
                  <a:srgbClr val="111827"/>
                </a:solidFill>
                <a:latin typeface="Times New Roman"/>
              </a:rPr>
              <a:t>PyTorch</a:t>
            </a:r>
            <a:r>
              <a:rPr sz="1200" dirty="0">
                <a:solidFill>
                  <a:srgbClr val="111827"/>
                </a:solidFill>
                <a:latin typeface="Times New Roman"/>
              </a:rPr>
              <a:t> loss.</a:t>
            </a:r>
          </a:p>
          <a:p>
            <a:pPr>
              <a:spcAft>
                <a:spcPts val="250"/>
              </a:spcAft>
            </a:pPr>
            <a:r>
              <a:rPr sz="1200" b="1" dirty="0">
                <a:solidFill>
                  <a:srgbClr val="111827"/>
                </a:solidFill>
                <a:latin typeface="Times New Roman"/>
              </a:rPr>
              <a:t>Sentinel-1 InSAR &amp; IoT Sensor Fusion: </a:t>
            </a:r>
            <a:r>
              <a:rPr sz="1200" dirty="0">
                <a:solidFill>
                  <a:srgbClr val="111827"/>
                </a:solidFill>
                <a:latin typeface="Times New Roman"/>
              </a:rPr>
              <a:t>Combines satellite radar creep with </a:t>
            </a:r>
            <a:r>
              <a:rPr sz="1200" b="1" dirty="0">
                <a:solidFill>
                  <a:schemeClr val="accent1">
                    <a:lumMod val="75000"/>
                  </a:schemeClr>
                </a:solidFill>
                <a:latin typeface="Times New Roman"/>
              </a:rPr>
              <a:t>field IoT piezometers &amp; MEMS inclinometers</a:t>
            </a: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Times New Roman"/>
              </a:rPr>
              <a:t> </a:t>
            </a:r>
            <a:r>
              <a:rPr sz="1200" dirty="0">
                <a:solidFill>
                  <a:srgbClr val="111827"/>
                </a:solidFill>
                <a:latin typeface="Times New Roman"/>
              </a:rPr>
              <a:t>for multi-tier ground telemetry.</a:t>
            </a:r>
          </a:p>
          <a:p>
            <a:pPr>
              <a:spcAft>
                <a:spcPts val="250"/>
              </a:spcAft>
            </a:pPr>
            <a:r>
              <a:rPr sz="1200" b="1" dirty="0">
                <a:solidFill>
                  <a:srgbClr val="111827"/>
                </a:solidFill>
                <a:latin typeface="Times New Roman"/>
              </a:rPr>
              <a:t>Cascade Debris Runout Modeling: </a:t>
            </a:r>
            <a:r>
              <a:rPr sz="1200" dirty="0">
                <a:solidFill>
                  <a:srgbClr val="111827"/>
                </a:solidFill>
                <a:latin typeface="Times New Roman"/>
              </a:rPr>
              <a:t>Traces downslope sediment inundation paths via the </a:t>
            </a:r>
            <a:r>
              <a:rPr sz="1200" b="1" dirty="0">
                <a:solidFill>
                  <a:schemeClr val="accent1">
                    <a:lumMod val="75000"/>
                  </a:schemeClr>
                </a:solidFill>
                <a:latin typeface="Times New Roman"/>
              </a:rPr>
              <a:t>empirical </a:t>
            </a:r>
            <a:r>
              <a:rPr sz="1200" b="1" dirty="0" err="1">
                <a:solidFill>
                  <a:schemeClr val="accent1">
                    <a:lumMod val="75000"/>
                  </a:schemeClr>
                </a:solidFill>
                <a:latin typeface="Times New Roman"/>
              </a:rPr>
              <a:t>Fahrböschung</a:t>
            </a:r>
            <a:r>
              <a:rPr sz="1200" b="1" dirty="0">
                <a:solidFill>
                  <a:schemeClr val="accent1">
                    <a:lumMod val="75000"/>
                  </a:schemeClr>
                </a:solidFill>
                <a:latin typeface="Times New Roman"/>
              </a:rPr>
              <a:t> model</a:t>
            </a: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Times New Roman"/>
              </a:rPr>
              <a:t> </a:t>
            </a:r>
            <a:r>
              <a:rPr sz="1200" dirty="0">
                <a:solidFill>
                  <a:srgbClr val="111827"/>
                </a:solidFill>
                <a:latin typeface="Times New Roman"/>
              </a:rPr>
              <a:t>when </a:t>
            </a:r>
            <a:r>
              <a:rPr sz="1200" dirty="0" err="1">
                <a:solidFill>
                  <a:srgbClr val="111827"/>
                </a:solidFill>
                <a:latin typeface="Times New Roman"/>
              </a:rPr>
              <a:t>FoS</a:t>
            </a:r>
            <a:r>
              <a:rPr sz="1200" dirty="0">
                <a:solidFill>
                  <a:srgbClr val="111827"/>
                </a:solidFill>
                <a:latin typeface="Times New Roman"/>
              </a:rPr>
              <a:t> &lt; 1.0.</a:t>
            </a:r>
          </a:p>
          <a:p>
            <a:pPr>
              <a:spcAft>
                <a:spcPts val="250"/>
              </a:spcAft>
            </a:pPr>
            <a:r>
              <a:rPr sz="1200" b="1" dirty="0">
                <a:solidFill>
                  <a:srgbClr val="111827"/>
                </a:solidFill>
                <a:latin typeface="Times New Roman"/>
              </a:rPr>
              <a:t>Civil Engineering &amp; A* Routing: </a:t>
            </a:r>
            <a:r>
              <a:rPr sz="1200" dirty="0">
                <a:solidFill>
                  <a:srgbClr val="111827"/>
                </a:solidFill>
                <a:latin typeface="Times New Roman"/>
              </a:rPr>
              <a:t>Translates hazard into </a:t>
            </a:r>
            <a:r>
              <a:rPr sz="1200" b="1" dirty="0">
                <a:solidFill>
                  <a:schemeClr val="accent1">
                    <a:lumMod val="75000"/>
                  </a:schemeClr>
                </a:solidFill>
                <a:latin typeface="Times New Roman"/>
              </a:rPr>
              <a:t>IS 14458 retaining wall designs</a:t>
            </a:r>
            <a:r>
              <a:rPr sz="1200" dirty="0">
                <a:solidFill>
                  <a:schemeClr val="accent1">
                    <a:lumMod val="75000"/>
                  </a:schemeClr>
                </a:solidFill>
                <a:latin typeface="Times New Roman"/>
              </a:rPr>
              <a:t> </a:t>
            </a:r>
            <a:r>
              <a:rPr sz="1200" dirty="0">
                <a:solidFill>
                  <a:srgbClr val="111827"/>
                </a:solidFill>
                <a:latin typeface="Times New Roman"/>
              </a:rPr>
              <a:t>+ dynamic offline safe evacuation.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40680" y="1188720"/>
            <a:ext cx="3291840" cy="5029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440680" y="1188720"/>
            <a:ext cx="32918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rtlCol="0" anchor="ctr"/>
          <a:lstStyle/>
          <a:p>
            <a:pPr algn="ctr">
              <a:defRPr sz="1000" b="1">
                <a:solidFill>
                  <a:srgbClr val="1B365D"/>
                </a:solidFill>
                <a:latin typeface="Times New Roman"/>
              </a:defRPr>
            </a:pPr>
            <a:r>
              <a:t>LITHOS 3D InSAR Hazard Interface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532120" y="1825962"/>
            <a:ext cx="3108960" cy="198403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532120" y="4156199"/>
            <a:ext cx="3108960" cy="854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300"/>
              </a:spcAft>
              <a:defRPr sz="950" b="1">
                <a:solidFill>
                  <a:srgbClr val="2E7D32"/>
                </a:solidFill>
                <a:latin typeface="Times New Roman"/>
              </a:defRPr>
            </a:pPr>
            <a:r>
              <a:rPr sz="14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Photorealistic 3D </a:t>
            </a:r>
            <a:r>
              <a:rPr sz="1400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WebGIS</a:t>
            </a:r>
            <a:r>
              <a:rPr sz="14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Features:</a:t>
            </a:r>
          </a:p>
          <a:p>
            <a:pPr>
              <a:spcAft>
                <a:spcPts val="200"/>
              </a:spcAft>
              <a:defRPr sz="819">
                <a:solidFill>
                  <a:srgbClr val="374151"/>
                </a:solidFill>
                <a:latin typeface="Arial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CesiumJS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3D Globe with calibrated factor of safety (</a:t>
            </a:r>
            <a:r>
              <a:rPr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FoS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draping across all 580,508 slope units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823960" y="1188720"/>
            <a:ext cx="3154680" cy="5029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823960" y="1188720"/>
            <a:ext cx="3154680" cy="3474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rtlCol="0" anchor="ctr"/>
          <a:lstStyle/>
          <a:p>
            <a:pPr algn="ctr">
              <a:defRPr sz="1000" b="1">
                <a:solidFill>
                  <a:srgbClr val="1B5E20"/>
                </a:solidFill>
                <a:latin typeface="Times New Roman"/>
              </a:defRPr>
            </a:pPr>
            <a:r>
              <a:t>Live Evacuation &amp; Navigation System</a:t>
            </a: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915400" y="1820846"/>
            <a:ext cx="2971800" cy="198915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941886" y="4176519"/>
            <a:ext cx="2971800" cy="83356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300"/>
              </a:spcAft>
              <a:defRPr sz="950" b="1">
                <a:solidFill>
                  <a:srgbClr val="2E7D32"/>
                </a:solidFill>
                <a:latin typeface="Times New Roman"/>
              </a:defRPr>
            </a:pPr>
            <a:r>
              <a:rPr sz="14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Dynamic Safe Routing Features:</a:t>
            </a:r>
          </a:p>
          <a:p>
            <a:pPr>
              <a:spcAft>
                <a:spcPts val="200"/>
              </a:spcAft>
              <a:defRPr sz="819">
                <a:solidFill>
                  <a:srgbClr val="374151"/>
                </a:solidFill>
                <a:latin typeface="Arial"/>
              </a:defRPr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Real-time A* risk-penalized road graph routing around active Red/Orange hazard zones.</a:t>
            </a:r>
          </a:p>
          <a:p>
            <a:pPr>
              <a:spcAft>
                <a:spcPts val="200"/>
              </a:spcAft>
              <a:defRPr sz="819">
                <a:solidFill>
                  <a:srgbClr val="374151"/>
                </a:solidFill>
                <a:latin typeface="Arial"/>
              </a:defRPr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</a:t>
            </a:fld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@SIH Idea submission- Template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0040" y="182880"/>
            <a:ext cx="1280160" cy="777240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9333EA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182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LITHOS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645920" y="164592"/>
            <a:ext cx="804672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11182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1078992"/>
            <a:ext cx="12188952" cy="3200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365760" y="1188720"/>
            <a:ext cx="5486400" cy="5029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94360" y="1536192"/>
            <a:ext cx="5029200" cy="7498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tlCol="0" anchor="ctr"/>
          <a:lstStyle/>
          <a:p>
            <a:pPr algn="ctr">
              <a:defRPr sz="1100" b="1">
                <a:solidFill>
                  <a:srgbClr val="111827"/>
                </a:solidFill>
                <a:latin typeface="Times New Roman"/>
              </a:defRPr>
            </a:pP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Data Sources :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1645920"/>
            <a:ext cx="1508760" cy="5486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rtlCol="0" anchor="ctr"/>
          <a:lstStyle/>
          <a:p>
            <a:pPr algn="ctr">
              <a:defRPr sz="750" b="1">
                <a:solidFill>
                  <a:srgbClr val="1B365D"/>
                </a:solidFill>
                <a:latin typeface="Arial"/>
              </a:defRPr>
            </a:pPr>
            <a:r>
              <a:rPr sz="900">
                <a:latin typeface="Times New Roman" panose="02020603050405020304" pitchFamily="18" charset="0"/>
                <a:cs typeface="Times New Roman" panose="02020603050405020304" pitchFamily="18" charset="0"/>
              </a:rPr>
              <a:t>NASA SRTM 30m DEM</a:t>
            </a:r>
            <a:br>
              <a:rPr sz="9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900">
                <a:latin typeface="Times New Roman" panose="02020603050405020304" pitchFamily="18" charset="0"/>
                <a:cs typeface="Times New Roman" panose="02020603050405020304" pitchFamily="18" charset="0"/>
              </a:rPr>
              <a:t>(Slope, Aspect, TWI)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86000" y="1645920"/>
            <a:ext cx="1600200" cy="5486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rtlCol="0" anchor="ctr"/>
          <a:lstStyle/>
          <a:p>
            <a:pPr algn="ctr">
              <a:defRPr sz="750" b="1">
                <a:solidFill>
                  <a:srgbClr val="1B365D"/>
                </a:solidFill>
                <a:latin typeface="Arial"/>
              </a:defRPr>
            </a:pPr>
            <a:r>
              <a:rPr sz="900">
                <a:latin typeface="Times New Roman" panose="02020603050405020304" pitchFamily="18" charset="0"/>
                <a:cs typeface="Times New Roman" panose="02020603050405020304" pitchFamily="18" charset="0"/>
              </a:rPr>
              <a:t>Sentinel-1 InSAR Radar</a:t>
            </a:r>
            <a:br>
              <a:rPr sz="9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900">
                <a:latin typeface="Times New Roman" panose="02020603050405020304" pitchFamily="18" charset="0"/>
                <a:cs typeface="Times New Roman" panose="02020603050405020304" pitchFamily="18" charset="0"/>
              </a:rPr>
              <a:t>(mm/yr Ground Creep)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77639" y="1645920"/>
            <a:ext cx="1554480" cy="5486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rtlCol="0" anchor="ctr"/>
          <a:lstStyle/>
          <a:p>
            <a:pPr algn="ctr">
              <a:defRPr sz="750" b="1">
                <a:solidFill>
                  <a:srgbClr val="1B365D"/>
                </a:solidFill>
                <a:latin typeface="Arial"/>
              </a:defRPr>
            </a:pPr>
            <a:r>
              <a:rPr sz="900">
                <a:latin typeface="Times New Roman" panose="02020603050405020304" pitchFamily="18" charset="0"/>
                <a:cs typeface="Times New Roman" panose="02020603050405020304" pitchFamily="18" charset="0"/>
              </a:rPr>
              <a:t>IoT Sensors &amp; IMD Gauges</a:t>
            </a:r>
            <a:br>
              <a:rPr sz="9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900">
                <a:latin typeface="Times New Roman" panose="02020603050405020304" pitchFamily="18" charset="0"/>
                <a:cs typeface="Times New Roman" panose="02020603050405020304" pitchFamily="18" charset="0"/>
              </a:rPr>
              <a:t>(MEMS Tilt, Piezometers)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2103120" y="2331720"/>
            <a:ext cx="182880" cy="228600"/>
          </a:xfrm>
          <a:prstGeom prst="downArrow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94360" y="2606040"/>
            <a:ext cx="3200400" cy="1005840"/>
          </a:xfrm>
          <a:prstGeom prst="roundRect">
            <a:avLst/>
          </a:prstGeom>
          <a:solidFill>
            <a:srgbClr val="FEFCE8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tlCol="0" anchor="ctr"/>
          <a:lstStyle/>
          <a:p>
            <a:pPr algn="ctr">
              <a:defRPr sz="1050" b="1">
                <a:solidFill>
                  <a:srgbClr val="111827"/>
                </a:solidFill>
                <a:latin typeface="Times New Roman"/>
              </a:defRPr>
            </a:pPr>
            <a:r>
              <a:rPr sz="1200">
                <a:latin typeface="Times New Roman" panose="02020603050405020304" pitchFamily="18" charset="0"/>
                <a:cs typeface="Times New Roman" panose="02020603050405020304" pitchFamily="18" charset="0"/>
              </a:rPr>
              <a:t>Data Ingestion &amp; Preprocessing</a:t>
            </a:r>
          </a:p>
          <a:p>
            <a:pPr>
              <a:defRPr sz="750">
                <a:solidFill>
                  <a:srgbClr val="374151"/>
                </a:solidFill>
                <a:latin typeface="Arial"/>
              </a:defRPr>
            </a:pPr>
            <a:r>
              <a:rPr sz="900">
                <a:latin typeface="Times New Roman" panose="02020603050405020304" pitchFamily="18" charset="0"/>
                <a:cs typeface="Times New Roman" panose="02020603050405020304" pitchFamily="18" charset="0"/>
              </a:rPr>
              <a:t>- r.slopeunits: 580,508 Terrain Units (5.8 Lakhs)</a:t>
            </a:r>
            <a:br>
              <a:rPr sz="9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900">
                <a:latin typeface="Times New Roman" panose="02020603050405020304" pitchFamily="18" charset="0"/>
                <a:cs typeface="Times New Roman" panose="02020603050405020304" pitchFamily="18" charset="0"/>
              </a:rPr>
              <a:t>- GDAL / Rasterio: Geo-Harmonization</a:t>
            </a:r>
            <a:br>
              <a:rPr sz="9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900">
                <a:latin typeface="Times New Roman" panose="02020603050405020304" pitchFamily="18" charset="0"/>
                <a:cs typeface="Times New Roman" panose="02020603050405020304" pitchFamily="18" charset="0"/>
              </a:rPr>
              <a:t>- Cohesion (c') &amp; Friction Angle (φ')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2103120" y="3657600"/>
            <a:ext cx="182880" cy="228600"/>
          </a:xfrm>
          <a:prstGeom prst="downArrow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594360" y="3931920"/>
            <a:ext cx="3200400" cy="210312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tlCol="0" anchor="ctr"/>
          <a:lstStyle/>
          <a:p>
            <a:pPr algn="ctr">
              <a:defRPr sz="1100" b="1">
                <a:solidFill>
                  <a:srgbClr val="1B365D"/>
                </a:solidFill>
                <a:latin typeface="Times New Roman"/>
              </a:defRPr>
            </a:pP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Simulation Engine &amp; AI Model</a:t>
            </a:r>
          </a:p>
          <a:p>
            <a:pPr>
              <a:defRPr sz="780">
                <a:solidFill>
                  <a:srgbClr val="374151"/>
                </a:solidFill>
                <a:latin typeface="Arial"/>
              </a:defRPr>
            </a:pPr>
            <a:r>
              <a:rPr sz="900">
                <a:latin typeface="Times New Roman" panose="02020603050405020304" pitchFamily="18" charset="0"/>
                <a:cs typeface="Times New Roman" panose="02020603050405020304" pitchFamily="18" charset="0"/>
              </a:rPr>
              <a:t>1. Limit Equilibrium FoS Physics:</a:t>
            </a:r>
            <a:br>
              <a:rPr sz="9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900">
                <a:latin typeface="Times New Roman" panose="02020603050405020304" pitchFamily="18" charset="0"/>
                <a:cs typeface="Times New Roman" panose="02020603050405020304" pitchFamily="18" charset="0"/>
              </a:rPr>
              <a:t>   Mohr-Coulomb + IS 1893 Zone V (k_h=0.18)</a:t>
            </a:r>
            <a:br>
              <a:rPr sz="9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900">
                <a:latin typeface="Times New Roman" panose="02020603050405020304" pitchFamily="18" charset="0"/>
                <a:cs typeface="Times New Roman" panose="02020603050405020304" pitchFamily="18" charset="0"/>
              </a:rPr>
              <a:t>2. PyTorch PINN Core:</a:t>
            </a:r>
            <a:br>
              <a:rPr sz="9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900">
                <a:latin typeface="Times New Roman" panose="02020603050405020304" pitchFamily="18" charset="0"/>
                <a:cs typeface="Times New Roman" panose="02020603050405020304" pitchFamily="18" charset="0"/>
              </a:rPr>
              <a:t>   Constrained loss L = L_data + λ·L_physics</a:t>
            </a:r>
            <a:br>
              <a:rPr sz="9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900">
                <a:latin typeface="Times New Roman" panose="02020603050405020304" pitchFamily="18" charset="0"/>
                <a:cs typeface="Times New Roman" panose="02020603050405020304" pitchFamily="18" charset="0"/>
              </a:rPr>
              <a:t>3. Level-2 Stacking Super Learner:</a:t>
            </a:r>
            <a:br>
              <a:rPr sz="9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900">
                <a:latin typeface="Times New Roman" panose="02020603050405020304" pitchFamily="18" charset="0"/>
                <a:cs typeface="Times New Roman" panose="02020603050405020304" pitchFamily="18" charset="0"/>
              </a:rPr>
              <a:t>   XGBoost, LightGBM, RF &amp; PINN Fusion</a:t>
            </a:r>
            <a:br>
              <a:rPr sz="9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900">
                <a:latin typeface="Times New Roman" panose="02020603050405020304" pitchFamily="18" charset="0"/>
                <a:cs typeface="Times New Roman" panose="02020603050405020304" pitchFamily="18" charset="0"/>
              </a:rPr>
              <a:t>4. Monte Carlo Dropout:</a:t>
            </a:r>
            <a:br>
              <a:rPr sz="9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900">
                <a:latin typeface="Times New Roman" panose="02020603050405020304" pitchFamily="18" charset="0"/>
                <a:cs typeface="Times New Roman" panose="02020603050405020304" pitchFamily="18" charset="0"/>
              </a:rPr>
              <a:t>   50 stochastic passes for uncertainty (σ)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3886200" y="4846320"/>
            <a:ext cx="274320" cy="182880"/>
          </a:xfrm>
          <a:prstGeom prst="rightArrow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4206240" y="4663440"/>
            <a:ext cx="1463040" cy="548640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73152" rtlCol="0" anchor="ctr"/>
          <a:lstStyle/>
          <a:p>
            <a:pPr algn="ctr">
              <a:defRPr sz="800" b="1">
                <a:solidFill>
                  <a:srgbClr val="1B5E20"/>
                </a:solidFill>
                <a:latin typeface="Arial"/>
              </a:defRPr>
            </a:pPr>
            <a:r>
              <a:rPr sz="1000">
                <a:latin typeface="Times New Roman" panose="02020603050405020304" pitchFamily="18" charset="0"/>
                <a:cs typeface="Times New Roman" panose="02020603050405020304" pitchFamily="18" charset="0"/>
              </a:rPr>
              <a:t>Backend &amp; API</a:t>
            </a:r>
            <a:br>
              <a:rPr sz="1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000">
                <a:latin typeface="Times New Roman" panose="02020603050405020304" pitchFamily="18" charset="0"/>
                <a:cs typeface="Times New Roman" panose="02020603050405020304" pitchFamily="18" charset="0"/>
              </a:rPr>
              <a:t>(FastAPI WebSockets)</a:t>
            </a:r>
          </a:p>
        </p:txBody>
      </p:sp>
      <p:sp>
        <p:nvSpPr>
          <p:cNvPr id="26" name="Up Arrow 25"/>
          <p:cNvSpPr/>
          <p:nvPr/>
        </p:nvSpPr>
        <p:spPr>
          <a:xfrm>
            <a:off x="4846320" y="4251960"/>
            <a:ext cx="182880" cy="320040"/>
          </a:xfrm>
          <a:prstGeom prst="upArrow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3977639" y="2606040"/>
            <a:ext cx="169164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54864" rtlCol="0" anchor="ctr"/>
          <a:lstStyle/>
          <a:p>
            <a:pPr algn="ctr">
              <a:defRPr sz="950" b="1">
                <a:solidFill>
                  <a:srgbClr val="7E22CE"/>
                </a:solidFill>
                <a:latin typeface="Times New Roman"/>
              </a:defRPr>
            </a:pPr>
            <a:r>
              <a:rPr sz="105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3D</a:t>
            </a:r>
            <a:br>
              <a:rPr sz="105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050"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</a:p>
          <a:p>
            <a:pPr algn="ctr">
              <a:defRPr sz="750">
                <a:solidFill>
                  <a:srgbClr val="374151"/>
                </a:solidFill>
                <a:latin typeface="Arial"/>
              </a:defRPr>
            </a:pPr>
            <a:r>
              <a:rPr sz="900">
                <a:latin typeface="Times New Roman" panose="02020603050405020304" pitchFamily="18" charset="0"/>
                <a:cs typeface="Times New Roman" panose="02020603050405020304" pitchFamily="18" charset="0"/>
              </a:rPr>
              <a:t>CesiumJS 3D Globe</a:t>
            </a:r>
            <a:br>
              <a:rPr sz="9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900">
                <a:latin typeface="Times New Roman" panose="02020603050405020304" pitchFamily="18" charset="0"/>
                <a:cs typeface="Times New Roman" panose="02020603050405020304" pitchFamily="18" charset="0"/>
              </a:rPr>
              <a:t>Dynamic A* Router</a:t>
            </a:r>
            <a:br>
              <a:rPr sz="9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900">
                <a:latin typeface="Times New Roman" panose="02020603050405020304" pitchFamily="18" charset="0"/>
                <a:cs typeface="Times New Roman" panose="02020603050405020304" pitchFamily="18" charset="0"/>
              </a:rPr>
              <a:t>Offline PWA Alerts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39" y="1188720"/>
            <a:ext cx="5911427" cy="2697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>
              <a:spcAft>
                <a:spcPts val="700"/>
              </a:spcAft>
            </a:pPr>
            <a:r>
              <a:rPr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 :</a:t>
            </a:r>
            <a:r>
              <a:rPr sz="1100" b="1" dirty="0">
                <a:solidFill>
                  <a:srgbClr val="2E7D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050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 18, </a:t>
            </a:r>
            <a:r>
              <a:rPr sz="1050" dirty="0" err="1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CesiumJS</a:t>
            </a:r>
            <a:r>
              <a:rPr sz="1050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(3D Photorealistic Terrain), Leaflet 2D, Vite, </a:t>
            </a:r>
            <a:r>
              <a:rPr sz="1050" dirty="0" err="1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TailwindCSS</a:t>
            </a:r>
            <a:endParaRPr sz="1050" dirty="0">
              <a:solidFill>
                <a:srgbClr val="11182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700"/>
              </a:spcAft>
            </a:pPr>
            <a:r>
              <a:rPr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 : </a:t>
            </a:r>
            <a:r>
              <a:rPr sz="1050" dirty="0" err="1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sz="1050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(Asynchronous Python 3.11), </a:t>
            </a:r>
            <a:r>
              <a:rPr sz="1050" dirty="0" err="1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WebSockets</a:t>
            </a:r>
            <a:r>
              <a:rPr sz="1050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Streaming (&lt; 80ms)</a:t>
            </a:r>
          </a:p>
          <a:p>
            <a:pPr>
              <a:spcAft>
                <a:spcPts val="700"/>
              </a:spcAft>
            </a:pPr>
            <a:r>
              <a:rPr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&amp; Management : </a:t>
            </a:r>
            <a:r>
              <a:rPr sz="1050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PostgreSQL, </a:t>
            </a:r>
            <a:r>
              <a:rPr sz="1050" dirty="0" err="1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PostGIS</a:t>
            </a:r>
            <a:r>
              <a:rPr sz="1050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Cloudflare R2, </a:t>
            </a:r>
            <a:r>
              <a:rPr sz="1050" dirty="0" err="1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GeoPandas</a:t>
            </a:r>
            <a:r>
              <a:rPr sz="1050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050" dirty="0" err="1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Rasterio</a:t>
            </a:r>
            <a:endParaRPr sz="1050" dirty="0">
              <a:solidFill>
                <a:srgbClr val="11182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700"/>
              </a:spcAft>
            </a:pPr>
            <a:r>
              <a:rPr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AI/ML Models &amp; Libraries : </a:t>
            </a:r>
            <a:r>
              <a:rPr sz="1050" dirty="0" err="1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sz="1050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2.4 (PINN), </a:t>
            </a:r>
            <a:r>
              <a:rPr sz="1050" dirty="0" err="1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sz="1050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050" dirty="0" err="1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r>
              <a:rPr sz="1050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Scikit-Learn</a:t>
            </a:r>
          </a:p>
          <a:p>
            <a:pPr>
              <a:spcAft>
                <a:spcPts val="700"/>
              </a:spcAft>
            </a:pPr>
            <a:r>
              <a:rPr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Geodesy &amp; IoT Telemetry : </a:t>
            </a:r>
            <a:r>
              <a:rPr sz="1050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Copernicus Sentinel-1 InSAR, </a:t>
            </a:r>
            <a:r>
              <a:rPr sz="1050" dirty="0" err="1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LoRaWAN</a:t>
            </a:r>
            <a:r>
              <a:rPr sz="1050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/4G MEMS Inclinometers &amp; Piezometers</a:t>
            </a:r>
          </a:p>
          <a:p>
            <a:pPr>
              <a:spcAft>
                <a:spcPts val="700"/>
              </a:spcAft>
            </a:pPr>
            <a:r>
              <a:rPr sz="1100" b="1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MLOps</a:t>
            </a:r>
            <a:r>
              <a:rPr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&amp; Deployment : </a:t>
            </a:r>
            <a:r>
              <a:rPr sz="1050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Docker Containerization, Git, GitHub Actions CI (24/24 CI Tests Passed)</a:t>
            </a:r>
          </a:p>
          <a:p>
            <a:pPr>
              <a:spcAft>
                <a:spcPts val="700"/>
              </a:spcAft>
            </a:pPr>
            <a:r>
              <a:rPr sz="11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Civil Engineering &amp; PWA : </a:t>
            </a:r>
            <a:r>
              <a:rPr sz="1050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14458 Remediation Portal + </a:t>
            </a:r>
            <a:r>
              <a:rPr sz="1050" dirty="0" err="1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IndexedDB</a:t>
            </a:r>
            <a:r>
              <a:rPr sz="1050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Offline Evacuation PWA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35040" y="5166360"/>
            <a:ext cx="585216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28016" rtlCol="0" anchor="ctr"/>
          <a:lstStyle/>
          <a:p>
            <a:pPr algn="ctr"/>
            <a:r>
              <a:rPr sz="1300" b="1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Prototype Link : </a:t>
            </a:r>
            <a:r>
              <a:rPr sz="1300" b="1" dirty="0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https://lithos</a:t>
            </a:r>
            <a:r>
              <a:rPr lang="en-US" sz="1300" b="1" dirty="0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s.tech</a:t>
            </a:r>
            <a:endParaRPr sz="1300" b="1" dirty="0">
              <a:solidFill>
                <a:srgbClr val="2563E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0040" y="182880"/>
            <a:ext cx="1280160" cy="777240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9333EA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182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LITHOS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645920" y="164592"/>
            <a:ext cx="804672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111827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1078992"/>
            <a:ext cx="12188952" cy="3200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365760" y="1188720"/>
            <a:ext cx="356616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Ins="164592"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111827"/>
                </a:solidFill>
                <a:latin typeface="Times New Roman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</a:t>
            </a:r>
          </a:p>
          <a:p>
            <a:pPr>
              <a:spcAft>
                <a:spcPts val="800"/>
              </a:spcAft>
            </a:pPr>
            <a:r>
              <a:rPr sz="1200" b="1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Technical : </a:t>
            </a:r>
            <a:r>
              <a:rPr sz="1200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Dual Macro-to-Micro Architecture: Satellite InSAR covers all 580,508 units (5.8 Lakhs), while plug-and-play </a:t>
            </a:r>
            <a:r>
              <a:rPr sz="12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 sensors (MEMS tiltmeters &amp; piezometers)</a:t>
            </a:r>
            <a:r>
              <a:rPr sz="12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 live telemetry on critical corridors like NH-10 with sub-80ms queries.</a:t>
            </a:r>
          </a:p>
          <a:p>
            <a:pPr>
              <a:spcAft>
                <a:spcPts val="800"/>
              </a:spcAft>
            </a:pPr>
            <a:r>
              <a:rPr sz="1200" b="1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Economic : </a:t>
            </a:r>
            <a:r>
              <a:rPr sz="1200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Zero hardware sensor </a:t>
            </a:r>
            <a:r>
              <a:rPr sz="1200" dirty="0" err="1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CapEx</a:t>
            </a:r>
            <a:r>
              <a:rPr sz="1200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Relies on 100% free open satellite feeds (NASA, ESA, IMD). Cloud infrastructure operates at </a:t>
            </a:r>
            <a:r>
              <a:rPr sz="12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 ₹1,500 ($18) per month</a:t>
            </a:r>
            <a:r>
              <a:rPr sz="12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800"/>
              </a:spcAft>
            </a:pPr>
            <a:r>
              <a:rPr sz="1200" b="1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Operating : </a:t>
            </a:r>
            <a:r>
              <a:rPr sz="1200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Designed for field disaster responders with zero GIS expertise required. </a:t>
            </a:r>
            <a:r>
              <a:rPr sz="12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Offline PWA with </a:t>
            </a:r>
            <a:r>
              <a:rPr sz="1200" b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IndexedDB</a:t>
            </a:r>
            <a:r>
              <a:rPr sz="12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guarantees access during power blackouts.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0" y="1188720"/>
            <a:ext cx="38404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Ins="164592"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111827"/>
                </a:solidFill>
                <a:latin typeface="Times New Roman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Viability</a:t>
            </a:r>
          </a:p>
          <a:p>
            <a:pPr>
              <a:spcAft>
                <a:spcPts val="600"/>
              </a:spcAft>
            </a:pPr>
            <a:r>
              <a:rPr sz="1200" b="1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Large potential user base : </a:t>
            </a:r>
            <a:r>
              <a:rPr sz="1200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Protects 45 million citizens, mountain transport, and tribal hamlets across </a:t>
            </a:r>
            <a:r>
              <a:rPr sz="12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8 North-Eastern states</a:t>
            </a:r>
            <a:r>
              <a:rPr sz="12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600"/>
              </a:spcAft>
            </a:pPr>
            <a:r>
              <a:rPr sz="1200" b="1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Nationally Scalable : </a:t>
            </a:r>
            <a:r>
              <a:rPr sz="1200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Vector slope unit architecture readily scales to </a:t>
            </a:r>
            <a:r>
              <a:rPr sz="12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580,000 mountain units</a:t>
            </a:r>
            <a:r>
              <a:rPr sz="12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India (Western Ghats, Uttarakhand).</a:t>
            </a:r>
          </a:p>
          <a:p>
            <a:pPr>
              <a:spcAft>
                <a:spcPts val="600"/>
              </a:spcAft>
            </a:pPr>
            <a:r>
              <a:rPr sz="1200" b="1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Long-term value : </a:t>
            </a:r>
            <a:r>
              <a:rPr sz="1200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Integrates directly with state departments: </a:t>
            </a:r>
            <a:r>
              <a:rPr sz="12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NDRF, SDRF, BRO, and </a:t>
            </a:r>
            <a:r>
              <a:rPr sz="1200" b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MDoNER</a:t>
            </a:r>
            <a:r>
              <a:rPr sz="12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active relief deployment.</a:t>
            </a:r>
          </a:p>
          <a:p>
            <a:pPr>
              <a:spcAft>
                <a:spcPts val="600"/>
              </a:spcAft>
            </a:pPr>
            <a:r>
              <a:rPr sz="1200" b="1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Economic Impact : </a:t>
            </a:r>
            <a:r>
              <a:rPr sz="1200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Mitigates an estimated </a:t>
            </a:r>
            <a:r>
              <a:rPr sz="12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₹450+ Crore annually</a:t>
            </a:r>
            <a:r>
              <a:rPr sz="12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highway reconstruction, stranded cargo, and relief.</a:t>
            </a:r>
          </a:p>
          <a:p>
            <a:pPr>
              <a:spcAft>
                <a:spcPts val="600"/>
              </a:spcAft>
            </a:pPr>
            <a:r>
              <a:rPr sz="1200" b="1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Effectivity : </a:t>
            </a:r>
            <a:r>
              <a:rPr sz="1200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generalization </a:t>
            </a:r>
            <a:r>
              <a:rPr sz="12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sz="12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0.8788 Mean ROC-AUC</a:t>
            </a:r>
            <a:r>
              <a:rPr sz="12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 unseen states and 0.9273 Ensemble PR-AUC.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1188720"/>
            <a:ext cx="3749039" cy="5029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321040" y="1298448"/>
            <a:ext cx="338328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rtlCol="0" anchor="ctr"/>
          <a:lstStyle/>
          <a:p>
            <a:pPr algn="ctr">
              <a:defRPr sz="850">
                <a:solidFill>
                  <a:srgbClr val="111827"/>
                </a:solidFill>
                <a:latin typeface="Arial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NASA &amp; Sentinel-1 InSAR Ingestion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9921240" y="1691640"/>
            <a:ext cx="128016" cy="164592"/>
          </a:xfrm>
          <a:prstGeom prst="downArrow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321040" y="1892808"/>
            <a:ext cx="338328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rtlCol="0" anchor="ctr"/>
          <a:lstStyle/>
          <a:p>
            <a:pPr algn="ctr">
              <a:defRPr sz="850">
                <a:solidFill>
                  <a:srgbClr val="111827"/>
                </a:solidFill>
                <a:latin typeface="Arial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Hydrological Slope-Unit Delineation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9921240" y="2286000"/>
            <a:ext cx="128016" cy="164592"/>
          </a:xfrm>
          <a:prstGeom prst="downArrow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8321040" y="2487168"/>
            <a:ext cx="338328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rtlCol="0" anchor="ctr"/>
          <a:lstStyle/>
          <a:p>
            <a:pPr algn="ctr">
              <a:defRPr sz="850">
                <a:solidFill>
                  <a:srgbClr val="111827"/>
                </a:solidFill>
                <a:latin typeface="Arial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Geotechnical Limit-Equilibrium FoS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9921240" y="2880360"/>
            <a:ext cx="128016" cy="164592"/>
          </a:xfrm>
          <a:prstGeom prst="downArrow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8321040" y="3081528"/>
            <a:ext cx="338328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rtlCol="0" anchor="ctr"/>
          <a:lstStyle/>
          <a:p>
            <a:pPr algn="ctr">
              <a:defRPr sz="850">
                <a:solidFill>
                  <a:srgbClr val="111827"/>
                </a:solidFill>
                <a:latin typeface="Arial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Physics-Informed Deep Neural Training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9921240" y="3474720"/>
            <a:ext cx="128016" cy="164592"/>
          </a:xfrm>
          <a:prstGeom prst="downArrow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321040" y="3675888"/>
            <a:ext cx="338328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rtlCol="0" anchor="ctr"/>
          <a:lstStyle/>
          <a:p>
            <a:pPr algn="ctr">
              <a:defRPr sz="850">
                <a:solidFill>
                  <a:srgbClr val="111827"/>
                </a:solidFill>
                <a:latin typeface="Arial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Level-2 Stacking Super Learner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9921240" y="4069080"/>
            <a:ext cx="128016" cy="164592"/>
          </a:xfrm>
          <a:prstGeom prst="downArrow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8321040" y="4270248"/>
            <a:ext cx="338328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rtlCol="0" anchor="ctr"/>
          <a:lstStyle/>
          <a:p>
            <a:pPr algn="ctr">
              <a:defRPr sz="850">
                <a:solidFill>
                  <a:srgbClr val="111827"/>
                </a:solidFill>
                <a:latin typeface="Arial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Monte Carlo Spatial Uncertainty (σ)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9921240" y="4663440"/>
            <a:ext cx="128016" cy="164592"/>
          </a:xfrm>
          <a:prstGeom prst="downArrow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8321040" y="4864608"/>
            <a:ext cx="338328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rtlCol="0" anchor="ctr"/>
          <a:lstStyle/>
          <a:p>
            <a:pPr algn="ctr">
              <a:defRPr sz="850">
                <a:solidFill>
                  <a:srgbClr val="111827"/>
                </a:solidFill>
                <a:latin typeface="Arial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Dynamic A* Evacuation Routing</a:t>
            </a:r>
          </a:p>
        </p:txBody>
      </p:sp>
      <p:sp>
        <p:nvSpPr>
          <p:cNvPr id="31" name="Down Arrow 30"/>
          <p:cNvSpPr/>
          <p:nvPr/>
        </p:nvSpPr>
        <p:spPr>
          <a:xfrm>
            <a:off x="9921240" y="5257800"/>
            <a:ext cx="128016" cy="164592"/>
          </a:xfrm>
          <a:prstGeom prst="downArrow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8321040" y="5458968"/>
            <a:ext cx="338328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rtlCol="0" anchor="ctr"/>
          <a:lstStyle/>
          <a:p>
            <a:pPr algn="ctr">
              <a:defRPr sz="850">
                <a:solidFill>
                  <a:srgbClr val="111827"/>
                </a:solidFill>
                <a:latin typeface="Arial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Photorealistic 3D WebGIS Deployment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@SIH Idea submission- Template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0040" y="182880"/>
            <a:ext cx="1280160" cy="77724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1827"/>
                </a:solidFill>
                <a:latin typeface="Times New Roman"/>
              </a:defRPr>
            </a:pPr>
            <a:r>
              <a:rPr sz="1200">
                <a:latin typeface="Times New Roman" panose="02020603050405020304" pitchFamily="18" charset="0"/>
                <a:cs typeface="Times New Roman" panose="02020603050405020304" pitchFamily="18" charset="0"/>
              </a:rPr>
              <a:t>LITHOS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645920" y="164592"/>
            <a:ext cx="804672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111827"/>
                </a:solidFill>
                <a:latin typeface="Times New Roman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1078992"/>
            <a:ext cx="12188952" cy="3200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65760" y="1903312"/>
            <a:ext cx="2766907" cy="1961388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65760" y="1903312"/>
            <a:ext cx="2766907" cy="384048"/>
          </a:xfrm>
          <a:prstGeom prst="rect">
            <a:avLst/>
          </a:prstGeom>
          <a:solidFill>
            <a:schemeClr val="accent1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rtlCol="0" anchor="ctr"/>
          <a:lstStyle/>
          <a:p>
            <a:pPr algn="ctr">
              <a:defRPr sz="1050" b="1">
                <a:solidFill>
                  <a:srgbClr val="111827"/>
                </a:solidFill>
                <a:latin typeface="Times New Roman"/>
              </a:defRPr>
            </a:pPr>
            <a:r>
              <a:rPr sz="1200">
                <a:latin typeface="Times New Roman" panose="02020603050405020304" pitchFamily="18" charset="0"/>
                <a:cs typeface="Times New Roman" panose="02020603050405020304" pitchFamily="18" charset="0"/>
              </a:rPr>
              <a:t>Impact on Commuters &amp; Logistics (BRO)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238" y="2216211"/>
            <a:ext cx="2675467" cy="144142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400"/>
              </a:spcAft>
              <a:defRPr sz="880">
                <a:solidFill>
                  <a:srgbClr val="111827"/>
                </a:solidFill>
                <a:latin typeface="Arial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Up to 6-12 hours advance warning along vital corridors (NH-10, NH-29)</a:t>
            </a:r>
          </a:p>
          <a:p>
            <a:pPr>
              <a:spcAft>
                <a:spcPts val="400"/>
              </a:spcAft>
              <a:defRPr sz="880">
                <a:solidFill>
                  <a:srgbClr val="111827"/>
                </a:solidFill>
                <a:latin typeface="Arial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Dynamic A* routing redirects military convoys around high-risk slide zones</a:t>
            </a:r>
          </a:p>
          <a:p>
            <a:pPr>
              <a:spcAft>
                <a:spcPts val="400"/>
              </a:spcAft>
              <a:defRPr sz="880">
                <a:solidFill>
                  <a:srgbClr val="111827"/>
                </a:solidFill>
                <a:latin typeface="Arial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Prevents hazardous stranding and multi-week mountain supply blockages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84332" y="1809247"/>
            <a:ext cx="2638213" cy="20357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884332" y="1818643"/>
            <a:ext cx="2638212" cy="384048"/>
          </a:xfrm>
          <a:prstGeom prst="rect">
            <a:avLst/>
          </a:prstGeom>
          <a:solidFill>
            <a:schemeClr val="accent1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rtlCol="0" anchor="ctr"/>
          <a:lstStyle/>
          <a:p>
            <a:pPr algn="ctr">
              <a:defRPr sz="1050" b="1">
                <a:solidFill>
                  <a:srgbClr val="111827"/>
                </a:solidFill>
                <a:latin typeface="Times New Roman"/>
              </a:defRPr>
            </a:pPr>
            <a:r>
              <a:rPr sz="1200">
                <a:latin typeface="Times New Roman" panose="02020603050405020304" pitchFamily="18" charset="0"/>
                <a:cs typeface="Times New Roman" panose="02020603050405020304" pitchFamily="18" charset="0"/>
              </a:rPr>
              <a:t>Impact on Remote Hill Hamlets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82495" y="2197287"/>
            <a:ext cx="2326640" cy="144142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400"/>
              </a:spcAft>
              <a:defRPr sz="880">
                <a:solidFill>
                  <a:srgbClr val="111827"/>
                </a:solidFill>
                <a:latin typeface="Arial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Hyperlocal slope-unit resolution eliminates false-alarm fatigue</a:t>
            </a:r>
          </a:p>
          <a:p>
            <a:pPr>
              <a:spcAft>
                <a:spcPts val="400"/>
              </a:spcAft>
              <a:defRPr sz="880">
                <a:solidFill>
                  <a:srgbClr val="111827"/>
                </a:solidFill>
                <a:latin typeface="Arial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Offline PWA alerts reach isolated tribal villages before cell towers fail</a:t>
            </a:r>
          </a:p>
          <a:p>
            <a:pPr>
              <a:spcAft>
                <a:spcPts val="400"/>
              </a:spcAft>
              <a:defRPr sz="880">
                <a:solidFill>
                  <a:srgbClr val="111827"/>
                </a:solidFill>
                <a:latin typeface="Arial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Pinpoints safe pedestrian evacuation routes to designated shelters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8394" y="4286802"/>
            <a:ext cx="2849828" cy="1755234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68394" y="4290441"/>
            <a:ext cx="2849828" cy="384048"/>
          </a:xfrm>
          <a:prstGeom prst="rect">
            <a:avLst/>
          </a:prstGeom>
          <a:solidFill>
            <a:schemeClr val="accent1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rtlCol="0" anchor="ctr"/>
          <a:lstStyle/>
          <a:p>
            <a:pPr algn="ctr">
              <a:defRPr sz="1050" b="1">
                <a:solidFill>
                  <a:srgbClr val="111827"/>
                </a:solidFill>
                <a:latin typeface="Times New Roman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on First Responders (NDRF, SDRF)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" y="4600615"/>
            <a:ext cx="2722407" cy="144142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400"/>
              </a:spcAft>
              <a:defRPr sz="880">
                <a:solidFill>
                  <a:srgbClr val="111827"/>
                </a:solidFill>
                <a:latin typeface="Arial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One-tap SOS distress beacon transmits exact GPS &amp; slope hazard indices</a:t>
            </a:r>
          </a:p>
          <a:p>
            <a:pPr>
              <a:spcAft>
                <a:spcPts val="400"/>
              </a:spcAft>
              <a:defRPr sz="880">
                <a:solidFill>
                  <a:srgbClr val="111827"/>
                </a:solidFill>
                <a:latin typeface="Arial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Top-50 Priority Site ranking allows pre-positioning earthmovers &amp; rescue gear</a:t>
            </a:r>
          </a:p>
          <a:p>
            <a:pPr>
              <a:spcAft>
                <a:spcPts val="400"/>
              </a:spcAft>
              <a:defRPr sz="880">
                <a:solidFill>
                  <a:srgbClr val="111827"/>
                </a:solidFill>
                <a:latin typeface="Arial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Live situational 3D dashboard slashes mobilization response time by &gt; 40%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593078" y="4270248"/>
            <a:ext cx="2765213" cy="1759902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593078" y="4279045"/>
            <a:ext cx="2765213" cy="384048"/>
          </a:xfrm>
          <a:prstGeom prst="rect">
            <a:avLst/>
          </a:prstGeom>
          <a:solidFill>
            <a:schemeClr val="accent1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rtlCol="0" anchor="ctr"/>
          <a:lstStyle/>
          <a:p>
            <a:pPr algn="ctr">
              <a:defRPr sz="1050" b="1">
                <a:solidFill>
                  <a:srgbClr val="111827"/>
                </a:solidFill>
                <a:latin typeface="Times New Roman"/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on Infrastructure &amp; Governance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2928" y="4587220"/>
            <a:ext cx="2619588" cy="1333698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400"/>
              </a:spcAft>
              <a:defRPr sz="880">
                <a:solidFill>
                  <a:srgbClr val="111827"/>
                </a:solidFill>
                <a:latin typeface="Arial"/>
              </a:defRPr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Slope cut risk analytics guide engineered retaining walls (IS 14458)</a:t>
            </a:r>
          </a:p>
          <a:p>
            <a:pPr>
              <a:spcAft>
                <a:spcPts val="400"/>
              </a:spcAft>
              <a:defRPr sz="880">
                <a:solidFill>
                  <a:srgbClr val="111827"/>
                </a:solidFill>
                <a:latin typeface="Arial"/>
              </a:defRPr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Mitigates an estimated ₹450+ Crore annually in road rebuilding &amp; relief</a:t>
            </a:r>
          </a:p>
          <a:p>
            <a:pPr>
              <a:spcAft>
                <a:spcPts val="400"/>
              </a:spcAft>
              <a:defRPr sz="880">
                <a:solidFill>
                  <a:srgbClr val="111827"/>
                </a:solidFill>
                <a:latin typeface="Arial"/>
              </a:defRPr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Provides empirical geotechnical zoning for planned urban hill development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44468" y="1182709"/>
            <a:ext cx="3453203" cy="512489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228600" rtlCol="0" anchor="ctr"/>
          <a:lstStyle/>
          <a:p>
            <a:pPr algn="ctr">
              <a:spcAft>
                <a:spcPts val="800"/>
              </a:spcAft>
              <a:defRPr sz="2600" b="1">
                <a:solidFill>
                  <a:srgbClr val="111827"/>
                </a:solidFill>
                <a:latin typeface="Times New Roman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</a:t>
            </a:r>
          </a:p>
          <a:p>
            <a:pPr>
              <a:spcAft>
                <a:spcPts val="200"/>
              </a:spcAft>
            </a:pPr>
            <a:r>
              <a:rPr sz="1200" b="1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Direct Alignment with National Goals :</a:t>
            </a:r>
          </a:p>
          <a:p>
            <a:pPr>
              <a:spcAft>
                <a:spcPts val="300"/>
              </a:spcAft>
            </a:pPr>
            <a:r>
              <a:rPr sz="12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sz="1200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Fulfills the principles of PM's 10-Point DRR Agenda, Sendai Framework Target G, and 'Atmanirbhar Bharat'.</a:t>
            </a:r>
          </a:p>
          <a:p>
            <a:pPr>
              <a:spcAft>
                <a:spcPts val="300"/>
              </a:spcAft>
            </a:pPr>
            <a:r>
              <a:rPr sz="1200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- 100% indigenous software stack with zero foreign proprietary licensing.</a:t>
            </a:r>
          </a:p>
          <a:p>
            <a:pPr>
              <a:spcAft>
                <a:spcPts val="200"/>
              </a:spcAft>
            </a:pPr>
            <a:r>
              <a:rPr sz="1200" b="1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Preserving Mountain Lifelines :</a:t>
            </a:r>
          </a:p>
          <a:p>
            <a:pPr>
              <a:spcAft>
                <a:spcPts val="300"/>
              </a:spcAft>
            </a:pPr>
            <a:r>
              <a:rPr sz="1200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Ensures that vital mountain supply lifelines for defense and civilians remain uninterrupted during monsoons.</a:t>
            </a:r>
          </a:p>
          <a:p>
            <a:pPr>
              <a:spcAft>
                <a:spcPts val="200"/>
              </a:spcAft>
            </a:pPr>
            <a:r>
              <a:rPr sz="1200" b="1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Economic Loss Mitigation :</a:t>
            </a:r>
          </a:p>
          <a:p>
            <a:pPr>
              <a:spcAft>
                <a:spcPts val="300"/>
              </a:spcAft>
            </a:pPr>
            <a:r>
              <a:rPr sz="1200" dirty="0">
                <a:solidFill>
                  <a:srgbClr val="2E7D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sz="1200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Saves over ₹450 Crore annually in highway reconstruction, stranded cargo losses, and disaster relief expenses.</a:t>
            </a:r>
          </a:p>
          <a:p>
            <a:pPr>
              <a:spcAft>
                <a:spcPts val="200"/>
              </a:spcAft>
            </a:pPr>
            <a:r>
              <a:rPr sz="1200" b="1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Zero Preventable Casualties :</a:t>
            </a:r>
          </a:p>
          <a:p>
            <a:pPr>
              <a:spcAft>
                <a:spcPts val="300"/>
              </a:spcAft>
            </a:pPr>
            <a:r>
              <a:rPr sz="1200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Real-time early warnings ensure zero lives lost to predictable rain-triggered and creep-accelerated slope failures.</a:t>
            </a:r>
          </a:p>
          <a:p>
            <a:pPr>
              <a:spcAft>
                <a:spcPts val="200"/>
              </a:spcAft>
            </a:pPr>
            <a:r>
              <a:rPr sz="1200" b="1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Strengthened Digital India Initiative :</a:t>
            </a:r>
          </a:p>
          <a:p>
            <a:pPr>
              <a:spcAft>
                <a:spcPts val="300"/>
              </a:spcAft>
            </a:pPr>
            <a:r>
              <a:rPr sz="1200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Connects village disaster outposts directly to state command centers via </a:t>
            </a:r>
            <a:r>
              <a:rPr sz="1200" dirty="0" err="1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WebGIS</a:t>
            </a:r>
            <a:r>
              <a:rPr sz="1200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330FD7-9AD6-7BFE-ECC6-DD5C867A91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8222" y="2401926"/>
            <a:ext cx="2728009" cy="2527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0040" y="182880"/>
            <a:ext cx="1280160" cy="777240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9333EA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1827"/>
                </a:solidFill>
                <a:latin typeface="Times New Roman"/>
              </a:defRPr>
            </a:pPr>
            <a:r>
              <a:t>LITHOS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645920" y="164592"/>
            <a:ext cx="804672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111827"/>
                </a:solidFill>
                <a:latin typeface="Times New Roman"/>
              </a:defRPr>
            </a:pPr>
            <a:r>
              <a:t>RESEARCH AND REFERENCES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1078992"/>
            <a:ext cx="12188952" cy="3200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1B1863-9C76-5BF7-4010-3F4F72BEA8BD}"/>
              </a:ext>
            </a:extLst>
          </p:cNvPr>
          <p:cNvSpPr txBox="1"/>
          <p:nvPr/>
        </p:nvSpPr>
        <p:spPr>
          <a:xfrm>
            <a:off x="77397" y="1368976"/>
            <a:ext cx="11867872" cy="4585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n-US" sz="1200" b="1" dirty="0" err="1">
                <a:solidFill>
                  <a:srgbClr val="111827"/>
                </a:solidFill>
                <a:latin typeface="Times New Roman"/>
              </a:rPr>
              <a:t>Alvioli</a:t>
            </a:r>
            <a:r>
              <a:rPr lang="en-US" sz="1200" b="1" dirty="0">
                <a:solidFill>
                  <a:srgbClr val="111827"/>
                </a:solidFill>
                <a:latin typeface="Times New Roman"/>
              </a:rPr>
              <a:t>, M., Marchesini, I., Reichenbach, P., Rossi, M., Ardizzone, F., Fiorucci, F., &amp; Guzzetti, F. (2016). </a:t>
            </a:r>
            <a:r>
              <a:rPr lang="en-US" sz="1200" dirty="0">
                <a:solidFill>
                  <a:srgbClr val="111827"/>
                </a:solidFill>
                <a:latin typeface="Times New Roman"/>
              </a:rPr>
              <a:t>Automatic delineation of slope units in large regions for landslide susceptibility sensitivity. </a:t>
            </a:r>
            <a:r>
              <a:rPr lang="en-US" sz="1200" b="1" dirty="0">
                <a:latin typeface="Times New Roman"/>
              </a:rPr>
              <a:t>Geomorphology</a:t>
            </a:r>
            <a:r>
              <a:rPr lang="en-US" sz="1200" dirty="0">
                <a:latin typeface="Times New Roman"/>
              </a:rPr>
              <a:t>, </a:t>
            </a:r>
            <a:r>
              <a:rPr lang="en-US" sz="1200" dirty="0">
                <a:solidFill>
                  <a:srgbClr val="2563EB"/>
                </a:solidFill>
                <a:latin typeface="Times New Roman"/>
              </a:rPr>
              <a:t>268, 87–106. DOI: 10.1016/j.geomorph.2016.05.028</a:t>
            </a:r>
            <a:r>
              <a:rPr lang="en-US" sz="1200" dirty="0">
                <a:solidFill>
                  <a:srgbClr val="374151"/>
                </a:solidFill>
                <a:latin typeface="Times New Roman"/>
              </a:rPr>
              <a:t> [Foundational paper for LITHOS 580,508 slope unit delineation (5.8 Lakhs)].</a:t>
            </a:r>
          </a:p>
          <a:p>
            <a:pPr>
              <a:spcAft>
                <a:spcPts val="400"/>
              </a:spcAft>
            </a:pPr>
            <a:r>
              <a:rPr lang="en-US" sz="1200" b="1" dirty="0">
                <a:solidFill>
                  <a:srgbClr val="111827"/>
                </a:solidFill>
                <a:latin typeface="Times New Roman"/>
              </a:rPr>
              <a:t>Sattar, A., Goswami, A., &amp; Kulkarni, A. V. (2024). </a:t>
            </a:r>
            <a:r>
              <a:rPr lang="en-US" sz="1200" dirty="0">
                <a:solidFill>
                  <a:srgbClr val="111827"/>
                </a:solidFill>
                <a:latin typeface="Times New Roman"/>
              </a:rPr>
              <a:t>Rainfall-induced shallow landslide initiation and threshold dynamics in the Eastern Himalayas. </a:t>
            </a:r>
            <a:r>
              <a:rPr lang="en-US" sz="1200" b="1" dirty="0">
                <a:solidFill>
                  <a:srgbClr val="2E7D32"/>
                </a:solidFill>
                <a:latin typeface="Times New Roman"/>
              </a:rPr>
              <a:t>Engineering Geology</a:t>
            </a:r>
            <a:r>
              <a:rPr lang="en-US" sz="1200" dirty="0">
                <a:solidFill>
                  <a:srgbClr val="2563EB"/>
                </a:solidFill>
                <a:latin typeface="Times New Roman"/>
              </a:rPr>
              <a:t>, 312, 106940. DOI: 10.1016/j.enggeo.2023.106940</a:t>
            </a:r>
            <a:r>
              <a:rPr lang="en-US" sz="1200" dirty="0">
                <a:solidFill>
                  <a:srgbClr val="374151"/>
                </a:solidFill>
                <a:latin typeface="Times New Roman"/>
              </a:rPr>
              <a:t> [Defines empirical rainfall triggering thresholds].</a:t>
            </a:r>
          </a:p>
          <a:p>
            <a:pPr>
              <a:spcAft>
                <a:spcPts val="400"/>
              </a:spcAft>
            </a:pPr>
            <a:r>
              <a:rPr lang="en-US" sz="1200" b="1" dirty="0" err="1">
                <a:solidFill>
                  <a:srgbClr val="111827"/>
                </a:solidFill>
                <a:latin typeface="Times New Roman"/>
              </a:rPr>
              <a:t>Raissi</a:t>
            </a:r>
            <a:r>
              <a:rPr lang="en-US" sz="1200" b="1" dirty="0">
                <a:solidFill>
                  <a:srgbClr val="111827"/>
                </a:solidFill>
                <a:latin typeface="Times New Roman"/>
              </a:rPr>
              <a:t>, M., </a:t>
            </a:r>
            <a:r>
              <a:rPr lang="en-US" sz="1200" b="1" dirty="0" err="1">
                <a:solidFill>
                  <a:srgbClr val="111827"/>
                </a:solidFill>
                <a:latin typeface="Times New Roman"/>
              </a:rPr>
              <a:t>Perdikaris</a:t>
            </a:r>
            <a:r>
              <a:rPr lang="en-US" sz="1200" b="1" dirty="0">
                <a:solidFill>
                  <a:srgbClr val="111827"/>
                </a:solidFill>
                <a:latin typeface="Times New Roman"/>
              </a:rPr>
              <a:t>, P., &amp; </a:t>
            </a:r>
            <a:r>
              <a:rPr lang="en-US" sz="1200" b="1" dirty="0" err="1">
                <a:solidFill>
                  <a:srgbClr val="111827"/>
                </a:solidFill>
                <a:latin typeface="Times New Roman"/>
              </a:rPr>
              <a:t>Karniadakis</a:t>
            </a:r>
            <a:r>
              <a:rPr lang="en-US" sz="1200" b="1" dirty="0">
                <a:solidFill>
                  <a:srgbClr val="111827"/>
                </a:solidFill>
                <a:latin typeface="Times New Roman"/>
              </a:rPr>
              <a:t>, G. E. (2019). </a:t>
            </a:r>
            <a:r>
              <a:rPr lang="en-US" sz="1200" dirty="0">
                <a:solidFill>
                  <a:srgbClr val="111827"/>
                </a:solidFill>
                <a:latin typeface="Times New Roman"/>
              </a:rPr>
              <a:t>Physics-informed neural networks: A deep learning framework for solving forward and inverse problems. </a:t>
            </a:r>
            <a:r>
              <a:rPr lang="en-US" sz="1200" b="1" dirty="0">
                <a:solidFill>
                  <a:srgbClr val="2E7D32"/>
                </a:solidFill>
                <a:latin typeface="Times New Roman"/>
              </a:rPr>
              <a:t>Journal of </a:t>
            </a:r>
            <a:r>
              <a:rPr lang="en-US" sz="1200" b="1" dirty="0">
                <a:latin typeface="Times New Roman"/>
              </a:rPr>
              <a:t>Computational Physics</a:t>
            </a:r>
            <a:r>
              <a:rPr lang="en-US" sz="1200" dirty="0">
                <a:solidFill>
                  <a:srgbClr val="2563EB"/>
                </a:solidFill>
                <a:latin typeface="Times New Roman"/>
              </a:rPr>
              <a:t>, 378, 686–707. DOI: 10.1016/j.jcp.2018.10.045</a:t>
            </a:r>
            <a:r>
              <a:rPr lang="en-US" sz="1200" dirty="0">
                <a:solidFill>
                  <a:srgbClr val="374151"/>
                </a:solidFill>
                <a:latin typeface="Times New Roman"/>
              </a:rPr>
              <a:t> [Basis for LITHOS PINN loss formulation].</a:t>
            </a:r>
          </a:p>
          <a:p>
            <a:pPr>
              <a:spcAft>
                <a:spcPts val="400"/>
              </a:spcAft>
            </a:pPr>
            <a:r>
              <a:rPr lang="en-US" sz="1200" b="1" dirty="0">
                <a:solidFill>
                  <a:srgbClr val="111827"/>
                </a:solidFill>
                <a:latin typeface="Times New Roman"/>
              </a:rPr>
              <a:t>Bishop, A. W. (1955). </a:t>
            </a:r>
            <a:r>
              <a:rPr lang="en-US" sz="1200" dirty="0">
                <a:solidFill>
                  <a:srgbClr val="111827"/>
                </a:solidFill>
                <a:latin typeface="Times New Roman"/>
              </a:rPr>
              <a:t>The use of the Slip Circle in the Stability Analysis of Slopes. </a:t>
            </a:r>
            <a:r>
              <a:rPr lang="en-US" sz="1200" b="1" dirty="0" err="1">
                <a:latin typeface="Times New Roman"/>
              </a:rPr>
              <a:t>Géotechnique</a:t>
            </a:r>
            <a:r>
              <a:rPr lang="en-US" sz="1200" dirty="0">
                <a:latin typeface="Times New Roman"/>
              </a:rPr>
              <a:t>, </a:t>
            </a:r>
            <a:r>
              <a:rPr lang="en-US" sz="1200" dirty="0">
                <a:solidFill>
                  <a:srgbClr val="2563EB"/>
                </a:solidFill>
                <a:latin typeface="Times New Roman"/>
              </a:rPr>
              <a:t>5(1), 7–17. &amp; </a:t>
            </a:r>
            <a:r>
              <a:rPr lang="en-US" sz="1200" dirty="0" err="1">
                <a:solidFill>
                  <a:srgbClr val="2563EB"/>
                </a:solidFill>
                <a:latin typeface="Times New Roman"/>
              </a:rPr>
              <a:t>Skempton</a:t>
            </a:r>
            <a:r>
              <a:rPr lang="en-US" sz="1200" dirty="0">
                <a:solidFill>
                  <a:srgbClr val="2563EB"/>
                </a:solidFill>
                <a:latin typeface="Times New Roman"/>
              </a:rPr>
              <a:t>, A. W. (1954). </a:t>
            </a:r>
            <a:r>
              <a:rPr lang="en-US" sz="1200" dirty="0">
                <a:solidFill>
                  <a:srgbClr val="374151"/>
                </a:solidFill>
                <a:latin typeface="Times New Roman"/>
              </a:rPr>
              <a:t>The Pore-Pressure Coefficients. </a:t>
            </a:r>
            <a:r>
              <a:rPr lang="en-US" sz="1200" dirty="0" err="1">
                <a:solidFill>
                  <a:srgbClr val="374151"/>
                </a:solidFill>
                <a:latin typeface="Times New Roman"/>
              </a:rPr>
              <a:t>Géotechnique</a:t>
            </a:r>
            <a:r>
              <a:rPr lang="en-US" sz="1200" dirty="0">
                <a:solidFill>
                  <a:srgbClr val="374151"/>
                </a:solidFill>
                <a:latin typeface="Times New Roman"/>
              </a:rPr>
              <a:t>, 4(4), 143–147. [Infinite-slope effective stress].</a:t>
            </a:r>
          </a:p>
          <a:p>
            <a:pPr>
              <a:spcAft>
                <a:spcPts val="400"/>
              </a:spcAft>
            </a:pPr>
            <a:r>
              <a:rPr lang="en-US" sz="1200" b="1" dirty="0">
                <a:solidFill>
                  <a:srgbClr val="111827"/>
                </a:solidFill>
                <a:latin typeface="Times New Roman"/>
              </a:rPr>
              <a:t>Wasowski, J., &amp; </a:t>
            </a:r>
            <a:r>
              <a:rPr lang="en-US" sz="1200" b="1" dirty="0" err="1">
                <a:solidFill>
                  <a:srgbClr val="111827"/>
                </a:solidFill>
                <a:latin typeface="Times New Roman"/>
              </a:rPr>
              <a:t>Bovenga</a:t>
            </a:r>
            <a:r>
              <a:rPr lang="en-US" sz="1200" b="1" dirty="0">
                <a:solidFill>
                  <a:srgbClr val="111827"/>
                </a:solidFill>
                <a:latin typeface="Times New Roman"/>
              </a:rPr>
              <a:t>, F. (2014). </a:t>
            </a:r>
            <a:r>
              <a:rPr lang="en-US" sz="1200" dirty="0">
                <a:solidFill>
                  <a:srgbClr val="111827"/>
                </a:solidFill>
                <a:latin typeface="Times New Roman"/>
              </a:rPr>
              <a:t>Investigating landslides and unstable slopes with satellite Multi-Temporal InSAR: A review. </a:t>
            </a:r>
            <a:r>
              <a:rPr lang="en-US" sz="1200" b="1" dirty="0">
                <a:solidFill>
                  <a:srgbClr val="2E7D32"/>
                </a:solidFill>
                <a:latin typeface="Times New Roman"/>
              </a:rPr>
              <a:t>Engineering Geology</a:t>
            </a:r>
            <a:r>
              <a:rPr lang="en-US" sz="1200" dirty="0">
                <a:solidFill>
                  <a:srgbClr val="2563EB"/>
                </a:solidFill>
                <a:latin typeface="Times New Roman"/>
              </a:rPr>
              <a:t>, 174, 103–138. DOI: 10.1016/j.enggeo.2014.03.003</a:t>
            </a:r>
            <a:r>
              <a:rPr lang="en-US" sz="1200" dirty="0">
                <a:solidFill>
                  <a:srgbClr val="374151"/>
                </a:solidFill>
                <a:latin typeface="Times New Roman"/>
              </a:rPr>
              <a:t> [Sentinel-1 InSAR creep detection].</a:t>
            </a:r>
          </a:p>
          <a:p>
            <a:pPr>
              <a:spcAft>
                <a:spcPts val="400"/>
              </a:spcAft>
            </a:pPr>
            <a:r>
              <a:rPr lang="en-US" sz="1200" b="1" dirty="0">
                <a:solidFill>
                  <a:srgbClr val="111827"/>
                </a:solidFill>
                <a:latin typeface="Times New Roman"/>
              </a:rPr>
              <a:t>Gal, Y., &amp; Ghahramani, Z. (2016). </a:t>
            </a:r>
            <a:r>
              <a:rPr lang="en-US" sz="1200" dirty="0">
                <a:solidFill>
                  <a:srgbClr val="111827"/>
                </a:solidFill>
                <a:latin typeface="Times New Roman"/>
              </a:rPr>
              <a:t>Dropout as a Bayesian Approximation: Representing Model Uncertainty in Deep Learning. </a:t>
            </a:r>
            <a:r>
              <a:rPr lang="en-US" sz="1200" b="1" dirty="0">
                <a:solidFill>
                  <a:srgbClr val="2E7D32"/>
                </a:solidFill>
                <a:latin typeface="Times New Roman"/>
              </a:rPr>
              <a:t>Proc. 33rd ICML</a:t>
            </a:r>
            <a:r>
              <a:rPr lang="en-US" sz="1200" dirty="0">
                <a:solidFill>
                  <a:srgbClr val="2563EB"/>
                </a:solidFill>
                <a:latin typeface="Times New Roman"/>
              </a:rPr>
              <a:t>, PMLR 48:1050–1059. </a:t>
            </a:r>
            <a:r>
              <a:rPr lang="en-US" sz="1200" dirty="0">
                <a:solidFill>
                  <a:srgbClr val="374151"/>
                </a:solidFill>
                <a:latin typeface="Times New Roman"/>
              </a:rPr>
              <a:t> [Provides spatial epistemic uncertainty </a:t>
            </a:r>
            <a:r>
              <a:rPr lang="el-GR" sz="1200" dirty="0">
                <a:solidFill>
                  <a:srgbClr val="374151"/>
                </a:solidFill>
                <a:latin typeface="Times New Roman"/>
              </a:rPr>
              <a:t>σ].</a:t>
            </a:r>
          </a:p>
          <a:p>
            <a:pPr>
              <a:spcAft>
                <a:spcPts val="300"/>
              </a:spcAft>
            </a:pPr>
            <a:r>
              <a:rPr lang="en-US" sz="1200" b="1" dirty="0">
                <a:solidFill>
                  <a:srgbClr val="111827"/>
                </a:solidFill>
                <a:latin typeface="Times New Roman"/>
              </a:rPr>
              <a:t>IS 14458 (Parts 1–4: 1998): </a:t>
            </a:r>
            <a:r>
              <a:rPr lang="en-US" sz="1200" dirty="0">
                <a:solidFill>
                  <a:srgbClr val="374151"/>
                </a:solidFill>
                <a:latin typeface="Times New Roman"/>
              </a:rPr>
              <a:t>Guidelines for Retaining Wall Design, Landslide Analysis, and Hill Slope Stabilization in Mountainous Terrains. Bureau of Indian Standards, New Delhi.</a:t>
            </a:r>
          </a:p>
          <a:p>
            <a:pPr>
              <a:spcAft>
                <a:spcPts val="300"/>
              </a:spcAft>
            </a:pPr>
            <a:r>
              <a:rPr lang="en-US" sz="1200" b="1" dirty="0">
                <a:solidFill>
                  <a:srgbClr val="111827"/>
                </a:solidFill>
                <a:latin typeface="Times New Roman"/>
              </a:rPr>
              <a:t>IS 1893 (Part 1: 2016): </a:t>
            </a:r>
            <a:r>
              <a:rPr lang="en-US" sz="1200" dirty="0">
                <a:solidFill>
                  <a:srgbClr val="374151"/>
                </a:solidFill>
                <a:latin typeface="Times New Roman"/>
              </a:rPr>
              <a:t>Criteria for Earthquake Resistant Design of Structures (Mandating Seismic Zone V Horizontal Seismic Acceleration Coefficient </a:t>
            </a:r>
            <a:r>
              <a:rPr lang="en-US" sz="1200" dirty="0" err="1">
                <a:solidFill>
                  <a:srgbClr val="374151"/>
                </a:solidFill>
                <a:latin typeface="Times New Roman"/>
              </a:rPr>
              <a:t>k_h</a:t>
            </a:r>
            <a:r>
              <a:rPr lang="en-US" sz="1200" dirty="0">
                <a:solidFill>
                  <a:srgbClr val="374151"/>
                </a:solidFill>
                <a:latin typeface="Times New Roman"/>
              </a:rPr>
              <a:t> = 0.18 for North-East India).</a:t>
            </a:r>
          </a:p>
          <a:p>
            <a:pPr>
              <a:spcAft>
                <a:spcPts val="300"/>
              </a:spcAft>
            </a:pPr>
            <a:r>
              <a:rPr lang="en-US" sz="1200" b="1" dirty="0">
                <a:solidFill>
                  <a:srgbClr val="111827"/>
                </a:solidFill>
                <a:latin typeface="Times New Roman"/>
              </a:rPr>
              <a:t>IS 14680: 1999: </a:t>
            </a:r>
            <a:r>
              <a:rPr lang="en-US" sz="1200" dirty="0">
                <a:solidFill>
                  <a:srgbClr val="374151"/>
                </a:solidFill>
                <a:latin typeface="Times New Roman"/>
              </a:rPr>
              <a:t>Guidelines for Landslide Hazard Zonation Mapping in Mountainous Terrains (BIS Standards).</a:t>
            </a:r>
          </a:p>
          <a:p>
            <a:pPr>
              <a:spcAft>
                <a:spcPts val="300"/>
              </a:spcAft>
            </a:pPr>
            <a:r>
              <a:rPr lang="en-US" sz="1200" b="1" dirty="0">
                <a:solidFill>
                  <a:srgbClr val="111827"/>
                </a:solidFill>
                <a:latin typeface="Times New Roman"/>
              </a:rPr>
              <a:t>NDMA Guidelines (2019): </a:t>
            </a:r>
            <a:r>
              <a:rPr lang="en-US" sz="1200" dirty="0">
                <a:solidFill>
                  <a:srgbClr val="374151"/>
                </a:solidFill>
                <a:latin typeface="Times New Roman"/>
              </a:rPr>
              <a:t>National Landslide Risk Management Strategy, National Disaster Management Authority, Ministry of Home Affairs, Government of India.</a:t>
            </a:r>
          </a:p>
          <a:p>
            <a:pPr>
              <a:spcAft>
                <a:spcPts val="250"/>
              </a:spcAft>
            </a:pPr>
            <a:r>
              <a:rPr lang="en-US" sz="1200" b="1" dirty="0">
                <a:solidFill>
                  <a:srgbClr val="111827"/>
                </a:solidFill>
                <a:latin typeface="Times New Roman"/>
              </a:rPr>
              <a:t>Copernicus Sentinel-1 SAR Constellation: </a:t>
            </a:r>
            <a:r>
              <a:rPr lang="en-US" sz="1200" dirty="0">
                <a:solidFill>
                  <a:srgbClr val="374151"/>
                </a:solidFill>
                <a:latin typeface="Times New Roman"/>
              </a:rPr>
              <a:t>European Space Agency (ESA) &amp; Google Earth Engine (GEE) Level-1 SLC / GRD Interferometric Wide Swath Products.</a:t>
            </a:r>
          </a:p>
          <a:p>
            <a:pPr>
              <a:spcAft>
                <a:spcPts val="250"/>
              </a:spcAft>
            </a:pPr>
            <a:r>
              <a:rPr lang="en-US" sz="1200" b="1" dirty="0">
                <a:solidFill>
                  <a:srgbClr val="111827"/>
                </a:solidFill>
                <a:latin typeface="Times New Roman"/>
              </a:rPr>
              <a:t>NASA SRTM 30m Global DEM: </a:t>
            </a:r>
            <a:r>
              <a:rPr lang="en-US" sz="1200" dirty="0">
                <a:solidFill>
                  <a:srgbClr val="374151"/>
                </a:solidFill>
                <a:latin typeface="Times New Roman"/>
              </a:rPr>
              <a:t>Shuttle Radar Topography Mission 1 Arc-Second Global Elevation Model v3.0 (USGS </a:t>
            </a:r>
            <a:r>
              <a:rPr lang="en-US" sz="1200" dirty="0" err="1">
                <a:solidFill>
                  <a:srgbClr val="374151"/>
                </a:solidFill>
                <a:latin typeface="Times New Roman"/>
              </a:rPr>
              <a:t>Earthdata</a:t>
            </a:r>
            <a:r>
              <a:rPr lang="en-US" sz="1200" dirty="0">
                <a:solidFill>
                  <a:srgbClr val="374151"/>
                </a:solidFill>
                <a:latin typeface="Times New Roman"/>
              </a:rPr>
              <a:t>).</a:t>
            </a:r>
          </a:p>
          <a:p>
            <a:pPr>
              <a:spcAft>
                <a:spcPts val="250"/>
              </a:spcAft>
            </a:pPr>
            <a:r>
              <a:rPr lang="en-US" sz="1200" b="1" dirty="0">
                <a:solidFill>
                  <a:srgbClr val="111827"/>
                </a:solidFill>
                <a:latin typeface="Times New Roman"/>
              </a:rPr>
              <a:t>Geological Survey of India (GSI): </a:t>
            </a:r>
            <a:r>
              <a:rPr lang="en-US" sz="1200" dirty="0">
                <a:solidFill>
                  <a:srgbClr val="374151"/>
                </a:solidFill>
                <a:latin typeface="Times New Roman"/>
              </a:rPr>
              <a:t>1:50,000 National Landslide Susceptibility Mapping (NLSM) &amp; </a:t>
            </a:r>
            <a:r>
              <a:rPr lang="en-US" sz="1200" dirty="0" err="1">
                <a:solidFill>
                  <a:srgbClr val="374151"/>
                </a:solidFill>
                <a:latin typeface="Times New Roman"/>
              </a:rPr>
              <a:t>Bhukosh</a:t>
            </a:r>
            <a:r>
              <a:rPr lang="en-US" sz="1200" dirty="0">
                <a:solidFill>
                  <a:srgbClr val="374151"/>
                </a:solidFill>
                <a:latin typeface="Times New Roman"/>
              </a:rPr>
              <a:t> Geospatial Database.</a:t>
            </a:r>
          </a:p>
          <a:p>
            <a:pPr>
              <a:spcAft>
                <a:spcPts val="250"/>
              </a:spcAft>
            </a:pPr>
            <a:r>
              <a:rPr lang="en-US" sz="1200" b="1" dirty="0">
                <a:solidFill>
                  <a:srgbClr val="111827"/>
                </a:solidFill>
                <a:latin typeface="Times New Roman"/>
              </a:rPr>
              <a:t>India Meteorological Department (IMD): </a:t>
            </a:r>
            <a:r>
              <a:rPr lang="en-US" sz="1200" dirty="0">
                <a:solidFill>
                  <a:srgbClr val="374151"/>
                </a:solidFill>
                <a:latin typeface="Times New Roman"/>
              </a:rPr>
              <a:t>National Numerical Weather Prediction (NWP) 1h &amp; 24h Gridded Precipitation Products.</a:t>
            </a:r>
          </a:p>
          <a:p>
            <a:pPr>
              <a:spcAft>
                <a:spcPts val="400"/>
              </a:spcAft>
            </a:pPr>
            <a:endParaRPr lang="en-US" sz="1200" dirty="0">
              <a:solidFill>
                <a:srgbClr val="374151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7667</TotalTime>
  <Words>1691</Words>
  <Application>Microsoft Office PowerPoint</Application>
  <PresentationFormat>Widescreen</PresentationFormat>
  <Paragraphs>132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ＭＳ Ｐゴシック</vt:lpstr>
      <vt:lpstr>Arial</vt:lpstr>
      <vt:lpstr>Calibri</vt:lpstr>
      <vt:lpstr>Times New Roman</vt:lpstr>
      <vt:lpstr>TradeGothic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sougata karmakar</cp:lastModifiedBy>
  <cp:revision>148</cp:revision>
  <dcterms:created xsi:type="dcterms:W3CDTF">2013-12-12T18:46:50Z</dcterms:created>
  <dcterms:modified xsi:type="dcterms:W3CDTF">2026-09-12T16:16:59Z</dcterms:modified>
  <cp:category/>
</cp:coreProperties>
</file>