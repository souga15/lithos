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8640" y="228600"/>
            <a:ext cx="8961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Trebuchet MS"/>
              </a:defRPr>
            </a:pPr>
            <a:r>
              <a:t>SMART INDIA HACKATHON 2026</a:t>
            </a:r>
          </a:p>
          <a:p>
            <a:pPr>
              <a:defRPr sz="1200" b="1">
                <a:solidFill>
                  <a:srgbClr val="0E7490"/>
                </a:solidFill>
                <a:latin typeface="Calibri"/>
              </a:defRPr>
            </a:pPr>
            <a:r>
              <a:t>Problem Statement ID: SIH26001  |  Category: Software  |  Theme: Disaster Management &amp; Climate Resilience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1508760"/>
            <a:ext cx="7040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64592"/>
          <a:lstStyle/>
          <a:p>
            <a:pPr algn="ctr">
              <a:defRPr sz="3200" b="1">
                <a:solidFill>
                  <a:srgbClr val="1E3A8A"/>
                </a:solidFill>
                <a:latin typeface="Trebuchet MS"/>
              </a:defRPr>
            </a:pPr>
            <a:r>
              <a:t>LITHOS</a:t>
            </a:r>
          </a:p>
          <a:p>
            <a:pPr>
              <a:spcAft>
                <a:spcPts val="400"/>
              </a:spcAft>
              <a:defRPr sz="1250" b="1">
                <a:solidFill>
                  <a:srgbClr val="0284C7"/>
                </a:solidFill>
                <a:latin typeface="Calibri"/>
              </a:defRPr>
            </a:pPr>
            <a:r>
              <a:t>Landslide Intelligence using Temporal &amp; Hyperlocal Observation System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A Physics-Informed Neural Network (PINN) &amp; Copernicus Sentinel-1 InSAR Geodesy Multi-Hazard Early Warning System, 3D Photorealistic Digital Twin &amp; Evacuation Router across 45,390 Hydrological Slope Units in North-East India.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3520440"/>
            <a:ext cx="301752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50" b="1">
                <a:solidFill>
                  <a:srgbClr val="1E3A8A"/>
                </a:solidFill>
                <a:latin typeface="Trebuchet MS"/>
              </a:defRPr>
            </a:pPr>
            <a:r>
              <a:t>45,390 Slope Units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Natural Drainage Basin Delineation across 8 States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31920" y="3520440"/>
            <a:ext cx="3017520" cy="1051560"/>
          </a:xfrm>
          <a:prstGeom prst="roundRect">
            <a:avLst/>
          </a:prstGeom>
          <a:solidFill>
            <a:srgbClr val="ECFEFF"/>
          </a:solidFill>
          <a:ln w="1524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50" b="1">
                <a:solidFill>
                  <a:srgbClr val="0E7490"/>
                </a:solidFill>
                <a:latin typeface="Trebuchet MS"/>
              </a:defRPr>
            </a:pPr>
            <a:r>
              <a:t>0.8788 Mean ROC-AUC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Strict Leave-One-State-Out (LOSO) Generalization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4754880"/>
            <a:ext cx="3017520" cy="105156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50" b="1">
                <a:solidFill>
                  <a:srgbClr val="6D28D9"/>
                </a:solidFill>
                <a:latin typeface="Trebuchet MS"/>
              </a:defRPr>
            </a:pPr>
            <a:r>
              <a:t>0.9273 Ensemble PR-AUC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Level-2 Stacking Super Learner (Imbalanced Data)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0" y="4754880"/>
            <a:ext cx="3017520" cy="10515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150" b="1">
                <a:solidFill>
                  <a:srgbClr val="059669"/>
                </a:solidFill>
                <a:latin typeface="Trebuchet MS"/>
              </a:defRPr>
            </a:pPr>
            <a:r>
              <a:t>&lt; 80 ms Latency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Real-Time Query Response | 24/24 CI Tests Passed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150876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sium_3d_heatmap_active_17882898538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45920"/>
            <a:ext cx="3474720" cy="21488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001000" y="38862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Trebuchet MS"/>
              </a:defRPr>
            </a:pPr>
            <a:r>
              <a:t>Hyperlocal 3D Digital Twin (CesiumJS)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Operational 3D WebGIS displaying live calibrated factor-of-safety (FoS), Sentinel-1 InSAR ground creep velocity, IMD precipitation forecasts, and dynamic A* safe evacuation routes across 262,179 km².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5440680"/>
            <a:ext cx="3474720" cy="59436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Team ID: 26001  |  Team Name: LITHOS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1640" y="109728"/>
            <a:ext cx="7863840" cy="9144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Trebuchet MS"/>
              </a:defRPr>
            </a:pPr>
            <a:r>
              <a:t>IDEA TITLE: LITHOS - Hyperlocal Landslide Early Warning System</a:t>
            </a:r>
          </a:p>
          <a:p>
            <a:pPr>
              <a:defRPr sz="1050" b="1">
                <a:solidFill>
                  <a:srgbClr val="0E7490"/>
                </a:solidFill>
                <a:latin typeface="Calibri"/>
              </a:defRPr>
            </a:pPr>
            <a:r>
              <a:t>Proposed Solution: Physics-Informed Deep Learning &amp; Sentinel-1 InSAR across 45,390 Slope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115568"/>
            <a:ext cx="3566160" cy="3977639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/>
          <a:lstStyle/>
          <a:p>
            <a:pPr algn="ctr">
              <a:spcAft>
                <a:spcPts val="400"/>
              </a:spcAft>
              <a:defRPr sz="1050" b="1">
                <a:solidFill>
                  <a:srgbClr val="1E3A8A"/>
                </a:solidFill>
                <a:latin typeface="Trebuchet MS"/>
              </a:defRPr>
            </a:pPr>
            <a:r>
              <a:t>1. DETAILED EXPLANATION OF SOLUTION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Why 45,390 Slope Units? (Geomorphology): </a:t>
            </a:r>
            <a:r>
              <a:rPr sz="800">
                <a:solidFill>
                  <a:srgbClr val="334155"/>
                </a:solidFill>
              </a:rPr>
              <a:t>Instead of arbitrary 30m grid pixels (290M disconnected cells), LITHOS delineates 45,390 natural hydrological slope units across 262,179 km² in 8 NER states via r.slopeunits / DEM hydrology. This preserves physical failure planes and watershed divides (Alvioli et al. 2016).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Hybrid Geotechnical Physics (PINN): </a:t>
            </a:r>
            <a:r>
              <a:rPr sz="800">
                <a:solidFill>
                  <a:srgbClr val="334155"/>
                </a:solidFill>
              </a:rPr>
              <a:t>Combines 1D infinite-slope limit equilibrium mechanics (Mohr-Coulomb shear yield, pore pressure u, and IS 1893 Zone V seismic acceleration k_h=0.18) directly into PyTorch neural network loss penalties.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Sentinel-1 InSAR Geodetic Fusion: </a:t>
            </a:r>
            <a:r>
              <a:rPr sz="800">
                <a:solidFill>
                  <a:srgbClr val="334155"/>
                </a:solidFill>
              </a:rPr>
              <a:t>Ingests microwave interferometric line-of-sight velocity (mm/yr) and phase coherence to detect slow ground creep weeks before rainfall triggers sudden collapse.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15568"/>
            <a:ext cx="3566160" cy="3977639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/>
          <a:lstStyle/>
          <a:p>
            <a:pPr algn="ctr">
              <a:spcAft>
                <a:spcPts val="400"/>
              </a:spcAft>
              <a:defRPr sz="1050" b="1">
                <a:solidFill>
                  <a:srgbClr val="E11D48"/>
                </a:solidFill>
                <a:latin typeface="Trebuchet MS"/>
              </a:defRPr>
            </a:pPr>
            <a:r>
              <a:t>2. HOW IT ADDRESSES THE PROBLEM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Eliminates Coarse Warning Blindness: </a:t>
            </a:r>
            <a:r>
              <a:rPr sz="800">
                <a:solidFill>
                  <a:srgbClr val="334155"/>
                </a:solidFill>
              </a:rPr>
              <a:t>Conventional alerts operate at 50km block scale (IMD/GSI), causing severe false-alarm fatigue. LITHOS provides hyperlocal slope-unit granularity (mean ~5.7 km²).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Halts Black-Box 'Rain Hallucinations': </a:t>
            </a:r>
            <a:r>
              <a:rPr sz="800">
                <a:solidFill>
                  <a:srgbClr val="334155"/>
                </a:solidFill>
              </a:rPr>
              <a:t>Pure statistical ML models predict slides on flat plains during heavy storms. LITHOS's physics constraints forbid unphysical failure predictions where slope angle α &lt; 12° or FoS &gt;&gt; 1.5.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Reveals Silent Pre-Failure Creep: </a:t>
            </a:r>
            <a:r>
              <a:rPr sz="800">
                <a:solidFill>
                  <a:srgbClr val="334155"/>
                </a:solidFill>
              </a:rPr>
              <a:t>Standard rain-threshold gauges miss deep-seated creeping landslides entirely. Dual-orbit InSAR surface displacement exposes millimeter creep before disaster strikes.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Actionable Evacuation vs Panic: </a:t>
            </a:r>
            <a:r>
              <a:rPr sz="800">
                <a:solidFill>
                  <a:srgbClr val="334155"/>
                </a:solidFill>
              </a:rPr>
              <a:t>Replaces static PDF risk bulletins with dynamic A* road network routing, guiding disaster convoys and ambulances around high-risk corridors.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15568"/>
            <a:ext cx="3566160" cy="3977639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/>
          <a:lstStyle/>
          <a:p>
            <a:pPr algn="ctr">
              <a:spcAft>
                <a:spcPts val="400"/>
              </a:spcAft>
              <a:defRPr sz="1050" b="1">
                <a:solidFill>
                  <a:srgbClr val="059669"/>
                </a:solidFill>
                <a:latin typeface="Trebuchet MS"/>
              </a:defRPr>
            </a:pPr>
            <a:r>
              <a:t>3. INNOVATION &amp; UNIQUENESS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First Regional PINN for Indian Terrains: </a:t>
            </a:r>
            <a:r>
              <a:rPr sz="800">
                <a:solidFill>
                  <a:srgbClr val="334155"/>
                </a:solidFill>
              </a:rPr>
              <a:t>Embeds Mohr-Coulomb &amp; Bishop effective stress physics directly into deep network gradient backpropagation via custom loss L = L_data + λ*L_physics.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Quantified Epistemic Uncertainty (σ): </a:t>
            </a:r>
            <a:r>
              <a:rPr sz="800">
                <a:solidFill>
                  <a:srgbClr val="334155"/>
                </a:solidFill>
              </a:rPr>
              <a:t>Employs Monte Carlo Dropout (Gal &amp; Ghahramani 2016) to provide emergency managers with confidence intervals, separating high-risk certainty from sparse data.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3D Photorealistic Digital Twin (CesiumJS): </a:t>
            </a:r>
            <a:r>
              <a:rPr sz="800">
                <a:solidFill>
                  <a:srgbClr val="334155"/>
                </a:solidFill>
              </a:rPr>
              <a:t>GPU-accelerated interactive 3D terrain rendering of calibrated FoS risk layers with elevation exaggeration and real-time inspector query tools.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F172A"/>
                </a:solidFill>
              </a:rPr>
              <a:t>• Offline PWA &amp; Local Storage Resilience: </a:t>
            </a:r>
            <a:r>
              <a:rPr sz="800">
                <a:solidFill>
                  <a:srgbClr val="334155"/>
                </a:solidFill>
              </a:rPr>
              <a:t>Full Progressive Web App with IndexedDB caching operates autonomously during monsoonal power blackouts and telecommunication tower failures.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30368"/>
            <a:ext cx="2697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50" b="1">
                <a:solidFill>
                  <a:srgbClr val="1E3A8A"/>
                </a:solidFill>
                <a:latin typeface="Trebuchet MS"/>
              </a:defRPr>
            </a:pPr>
            <a:r>
              <a:t>45,390 Slope Units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Natural Catchments (8 NER States)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5230368"/>
            <a:ext cx="2697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50" b="1">
                <a:solidFill>
                  <a:srgbClr val="1E3A8A"/>
                </a:solidFill>
                <a:latin typeface="Trebuchet MS"/>
              </a:defRPr>
            </a:pPr>
            <a:r>
              <a:t>0.8788 LOSO ROC-AUC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8-State Spatial Holdout Generalization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5230368"/>
            <a:ext cx="2697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50" b="1">
                <a:solidFill>
                  <a:srgbClr val="1E3A8A"/>
                </a:solidFill>
                <a:latin typeface="Trebuchet MS"/>
              </a:defRPr>
            </a:pPr>
            <a:r>
              <a:t>0.9273 Ensemble PR-AUC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Super Learner under Extreme Imbalance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5230368"/>
            <a:ext cx="2697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50" b="1">
                <a:solidFill>
                  <a:srgbClr val="1E3A8A"/>
                </a:solidFill>
                <a:latin typeface="Trebuchet MS"/>
              </a:defRPr>
            </a:pPr>
            <a:r>
              <a:t>&lt; 80 ms Latency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Sub-Second Live Hazard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109728"/>
            <a:ext cx="7863840" cy="9144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Trebuchet MS"/>
              </a:defRPr>
            </a:pPr>
            <a:r>
              <a:t>TECHNICAL APPROACH: System Architecture &amp; Implementation Methodology</a:t>
            </a:r>
          </a:p>
          <a:p>
            <a:pPr>
              <a:defRPr sz="1050" b="1">
                <a:solidFill>
                  <a:srgbClr val="0E7490"/>
                </a:solidFill>
                <a:latin typeface="Calibri"/>
              </a:defRPr>
            </a:pPr>
            <a:r>
              <a:t>4-Stage End-to-End Pipeline: Ingestion, Geotechnical Physics, Hybrid AI &amp; Real-Time Action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15568"/>
            <a:ext cx="2697480" cy="3291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1E3A8A"/>
                </a:solidFill>
                <a:latin typeface="Trebuchet MS"/>
              </a:defRPr>
            </a:pPr>
            <a:r>
              <a:t>STAGE 1: Data Ingestion &amp; Harmonization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NASA SRTM 30m DEM: Slope (α), Aspect, Plan/Profile Curvature, Topographic Wetness Index (TWI).</a:t>
            </a:r>
            <a:br/>
            <a:r>
              <a:t>• IMD &amp; Open-Meteo: 1h &amp; 24h Rainfall Forecasts.</a:t>
            </a:r>
            <a:br/>
            <a:r>
              <a:t>• Copernicus Sentinel-1 InSAR: Line-of-sight ground displacement (mm/yr) &amp; temporal coherence.</a:t>
            </a:r>
            <a:br/>
            <a:r>
              <a:t>• GSI 1:50,000 Geological Maps: Soil cohesion (c') &amp; internal friction angle (φ').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00400" y="2560320"/>
            <a:ext cx="128016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4992" y="1115568"/>
            <a:ext cx="2697480" cy="329184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E7490"/>
                </a:solidFill>
                <a:latin typeface="Trebuchet MS"/>
              </a:defRPr>
            </a:pPr>
            <a:r>
              <a:t>STAGE 2: Geotechnical Physics Engine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Infinite Slope Limit Equilibrium Model:</a:t>
            </a:r>
            <a:br/>
            <a:r>
              <a:t>   FoS = [c' + (γ·z·cos²α - u)·tanφ'] / [γ·z·sinα·cosα + k_h·γ·z]</a:t>
            </a:r>
            <a:br/>
            <a:r>
              <a:t>• Mohr-Coulomb Shear Yield Criterion.</a:t>
            </a:r>
            <a:br/>
            <a:r>
              <a:t>• Transient pore-water pressure ratio (r_u).</a:t>
            </a:r>
            <a:br/>
            <a:r>
              <a:t>• IS 1893:2016 Zone V horizontal seismic inertia acceleration coefficient (k_h = 0.18).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6752" y="2560320"/>
            <a:ext cx="128016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115568"/>
            <a:ext cx="2697480" cy="32918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6D28D9"/>
                </a:solidFill>
                <a:latin typeface="Trebuchet MS"/>
              </a:defRPr>
            </a:pPr>
            <a:r>
              <a:t>STAGE 3: Hybrid AI &amp; Uncertainty Engine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PyTorch PINN: Constrained deep network with physics residual loss penalty backpropagation.</a:t>
            </a:r>
            <a:br/>
            <a:r>
              <a:t>• Level-2 Stacking Super Learner: Meta-logistic classifier fusing XGBoost, LightGBM, RF, &amp; PINN.</a:t>
            </a:r>
            <a:br/>
            <a:r>
              <a:t>• Monte Carlo Dropout: 50 stochastic forward passes yielding spatial epistemic uncertainty (σ).</a:t>
            </a:r>
            <a:br/>
            <a:r>
              <a:t>• Stratified 5:1 Sampling with Focal Loss.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33104" y="2560320"/>
            <a:ext cx="128016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97696" y="1115568"/>
            <a:ext cx="2697480" cy="3291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STAGE 4: Operational Action &amp; 3D Twin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CesiumJS 3D Digital Twin: Photorealistic terrain rendering with dynamic hazard overlay.</a:t>
            </a:r>
            <a:br/>
            <a:r>
              <a:t>• Risk-Penalized A* Safe Routing: Computes optimal evacuation routes avoiding Red/Orange units.</a:t>
            </a:r>
            <a:br/>
            <a:r>
              <a:t>• FastAPI Streaming WebSockets (&lt; 80ms latency).</a:t>
            </a:r>
            <a:br/>
            <a:r>
              <a:t>• Offline PWA Service Worker with IndexedDB.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35424"/>
            <a:ext cx="1106424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91440"/>
          <a:lstStyle/>
          <a:p>
            <a:pPr algn="ctr">
              <a:spcAft>
                <a:spcPts val="300"/>
              </a:spcAft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💻 TECHNOLOGIES TO BE USED &amp; VERIFICATION SPECIFICATIONS (SIH Required Pointers)</a:t>
            </a:r>
          </a:p>
          <a:p>
            <a:r>
              <a:rPr b="1" sz="850">
                <a:solidFill>
                  <a:srgbClr val="0F172A"/>
                </a:solidFill>
              </a:rPr>
              <a:t>• Core Languages &amp; Frameworks: </a:t>
            </a:r>
            <a:r>
              <a:rPr sz="819">
                <a:solidFill>
                  <a:srgbClr val="334155"/>
                </a:solidFill>
              </a:rPr>
              <a:t>Python 3.11, PyTorch 2.4 (PINN), React 18, Vite, TypeScript, FastAPI (Asynchronous REST &amp; WebSockets).</a:t>
            </a:r>
          </a:p>
          <a:p>
            <a:r>
              <a:rPr b="1" sz="850">
                <a:solidFill>
                  <a:srgbClr val="0F172A"/>
                </a:solidFill>
              </a:rPr>
              <a:t>• Geospatial &amp; Geodetic Engines: </a:t>
            </a:r>
            <a:r>
              <a:rPr sz="819">
                <a:solidFill>
                  <a:srgbClr val="334155"/>
                </a:solidFill>
              </a:rPr>
              <a:t>Copernicus Sentinel-1 InSAR (ESA / GEE), NASA SRTM 30m DEM, GDAL, Rasterio, GeoPandas, r.slopeunits watershed segmenter.</a:t>
            </a:r>
          </a:p>
          <a:p>
            <a:r>
              <a:rPr b="1" sz="850">
                <a:solidFill>
                  <a:srgbClr val="0F172A"/>
                </a:solidFill>
              </a:rPr>
              <a:t>• 3D Visualization &amp; Offline Web: </a:t>
            </a:r>
            <a:r>
              <a:rPr sz="819">
                <a:solidFill>
                  <a:srgbClr val="334155"/>
                </a:solidFill>
              </a:rPr>
              <a:t>CesiumJS (3D photorealistic globe &amp; terrain mesh), Leaflet 2D, TailwindCSS, Progressive Web App (Service Worker + IndexedDB).</a:t>
            </a:r>
          </a:p>
          <a:p>
            <a:r>
              <a:rPr b="1" sz="850">
                <a:solidFill>
                  <a:srgbClr val="0F172A"/>
                </a:solidFill>
              </a:rPr>
              <a:t>• Production Verification &amp; Testing: </a:t>
            </a:r>
            <a:r>
              <a:rPr sz="819">
                <a:solidFill>
                  <a:srgbClr val="334155"/>
                </a:solidFill>
              </a:rPr>
              <a:t>Sub-80 ms per slope unit query latency  |  24 / 24 Automated Unit &amp; Integration Tests Passed (100% System CI/CD Pass Rate).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109728"/>
            <a:ext cx="7863840" cy="9144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Trebuchet MS"/>
              </a:defRPr>
            </a:pPr>
            <a:r>
              <a:t>FEASIBILITY AND VIABILITY: Analysis, Risks, Mitigations &amp; Benchmarks</a:t>
            </a:r>
          </a:p>
          <a:p>
            <a:pPr>
              <a:defRPr sz="1050" b="1">
                <a:solidFill>
                  <a:srgbClr val="0E7490"/>
                </a:solidFill>
                <a:latin typeface="Calibri"/>
              </a:defRPr>
            </a:pPr>
            <a:r>
              <a:t>Production Readiness, Economic Viability &amp; Empirical Multi-Model Performance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15568"/>
            <a:ext cx="53035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300"/>
              </a:spcAft>
              <a:defRPr sz="1050" b="1">
                <a:solidFill>
                  <a:srgbClr val="1E3A8A"/>
                </a:solidFill>
                <a:latin typeface="Trebuchet MS"/>
              </a:defRPr>
            </a:pPr>
            <a:r>
              <a:t>1. ANALYSIS OF FEASIBILITY (Technical, Economic &amp; Operational)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Technical Feasibility: </a:t>
            </a:r>
            <a:r>
              <a:rPr sz="780">
                <a:solidFill>
                  <a:srgbClr val="334155"/>
                </a:solidFill>
              </a:rPr>
              <a:t>Fully working architecture with 11 backend FastAPI microservices, 12 React frontend views, interactive Cesium 3D globe, and sub-80ms query execution via pre-computed slope unit topology.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Zero CapEx / Economic Viability: </a:t>
            </a:r>
            <a:r>
              <a:rPr sz="780">
                <a:solidFill>
                  <a:srgbClr val="334155"/>
                </a:solidFill>
              </a:rPr>
              <a:t>Relies entirely on 100% free open-access public satellite feeds (NASA SRTM, ESA Sentinel-1, IMD NWP). Total cloud server operating expense &lt; ₹1,500 ($18) per month.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National Scalability: </a:t>
            </a:r>
            <a:r>
              <a:rPr sz="780">
                <a:solidFill>
                  <a:srgbClr val="334155"/>
                </a:solidFill>
              </a:rPr>
              <a:t>Pre-computed vector slope-unit architecture is geographically portable, seamlessly scaling from 45,390 NER units to all 580,000 mountain slope units across Western Ghats, Himachal, and Uttarakhand.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64992"/>
            <a:ext cx="5303520" cy="27432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300"/>
              </a:spcAft>
              <a:defRPr sz="1050" b="1">
                <a:solidFill>
                  <a:srgbClr val="D97706"/>
                </a:solidFill>
                <a:latin typeface="Trebuchet MS"/>
              </a:defRPr>
            </a:pPr>
            <a:r>
              <a:t>2. POTENTIAL CHALLENGES, RISKS &amp; MITIGATION STRATEGIES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⚠️ Radar Geometric Distortion (Layover/Shadow): </a:t>
            </a:r>
            <a:r>
              <a:rPr sz="780">
                <a:solidFill>
                  <a:srgbClr val="334155"/>
                </a:solidFill>
              </a:rPr>
              <a:t>Steep Himalayan gorges distort radar LOS. Mitigation: Ingests dual-orbit (ascending &amp; descending) Sentinel-1 passes and corrects geometric tilt with 30m DEM vectors.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⚠️ Monsoonal Cloud Obstruction: </a:t>
            </a:r>
            <a:r>
              <a:rPr sz="780">
                <a:solidFill>
                  <a:srgbClr val="334155"/>
                </a:solidFill>
              </a:rPr>
              <a:t>Optical satellites cannot view earth during storms. Mitigation: Microwave C-band SAR radar penetrates 100% of dense clouds, fog, and torrential rainfall day and night.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⚠️ Extreme Spatial Class Imbalance: </a:t>
            </a:r>
            <a:r>
              <a:rPr sz="780">
                <a:solidFill>
                  <a:srgbClr val="334155"/>
                </a:solidFill>
              </a:rPr>
              <a:t>Landslides affect &lt; 2% of terrain. Mitigation: 5:1 stratified focal-loss rebalancing, cost-sensitive threshold tuning, and Leave-One-State-Out (LOSO) spatial validation.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⚠️ Offline Field Comms Breakdown: </a:t>
            </a:r>
            <a:r>
              <a:rPr sz="780">
                <a:solidFill>
                  <a:srgbClr val="334155"/>
                </a:solidFill>
              </a:rPr>
              <a:t>Cellular networks fail during severe landslides. Mitigation: PWA service workers cache regional hazard maps in IndexedDB, enabling offline GPS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15568"/>
            <a:ext cx="5577840" cy="4992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170432"/>
            <a:ext cx="5212080" cy="292608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Trebuchet MS"/>
              </a:defRPr>
            </a:pPr>
            <a:r>
              <a:t>EMPIRICAL MULTI-MODEL BENCHMARK COMPARISON</a:t>
            </a:r>
          </a:p>
        </p:txBody>
      </p:sp>
      <p:pic>
        <p:nvPicPr>
          <p:cNvPr id="18" name="Picture 17" descr="benchmark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81328"/>
            <a:ext cx="5212080" cy="178308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3401568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1005840"/>
                <a:gridCol w="9144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Model /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Physics Validity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Query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Limit Equilibrium FoS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0.6120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0.3850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(Pure Physics)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&lt; 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0.6924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0% (Black 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0.8560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0.7410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0% (Black Box)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LITHOS Stacking (Ours)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0.9140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0.9273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98.4% (Constrained)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22 ms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109728"/>
            <a:ext cx="7863840" cy="9144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Trebuchet MS"/>
              </a:defRPr>
            </a:pPr>
            <a:r>
              <a:t>IMPACT AND BENEFITS: Target Audience, Socio-Economic Gains &amp; National Alignment</a:t>
            </a:r>
          </a:p>
          <a:p>
            <a:pPr>
              <a:defRPr sz="1050" b="1">
                <a:solidFill>
                  <a:srgbClr val="0E7490"/>
                </a:solidFill>
                <a:latin typeface="Calibri"/>
              </a:defRPr>
            </a:pPr>
            <a:r>
              <a:t>Saving Himalayan Lives, Safeguarding Critical Corridors &amp; Fulfilling National DRR 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15568"/>
            <a:ext cx="32461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300"/>
              </a:spcAft>
              <a:defRPr sz="950" b="1">
                <a:solidFill>
                  <a:srgbClr val="1E3A8A"/>
                </a:solidFill>
                <a:latin typeface="Trebuchet MS"/>
              </a:defRPr>
            </a:pPr>
            <a:r>
              <a:t>🚗 Highway Logistics &amp; BRO (NH-10, NH-29)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• Up to 6-12 hours advance warning along vital lifeline arteries (Siliguri-Gangtok, Dimapur-Kohima).</a:t>
            </a:r>
            <a:br/>
            <a:r>
              <a:t>• Dynamic A* routing redirects military convoys and freight trucks before they enter high-risk slide zones.</a:t>
            </a:r>
            <a:br/>
            <a:r>
              <a:t>• Mitigates multi-week transport standstills and supply chain isolations during monsoon cloudbursts.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115568"/>
            <a:ext cx="32461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300"/>
              </a:spcAft>
              <a:defRPr sz="950" b="1">
                <a:solidFill>
                  <a:srgbClr val="0E7490"/>
                </a:solidFill>
                <a:latin typeface="Trebuchet MS"/>
              </a:defRPr>
            </a:pPr>
            <a:r>
              <a:t>🏘 Remote Hill Communities &amp; Tribal Hamlets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• Hyperlocal slope-unit resolution provides village-level risk mapping, eliminating false alarm fatigue.</a:t>
            </a:r>
            <a:br/>
            <a:r>
              <a:t>• Failsafe offline PWA alerts ensure isolated tribal hamlets receive warnings before cellular towers go down.</a:t>
            </a:r>
            <a:br/>
            <a:r>
              <a:t>• Identifies safe pedestrian evacuation shelters prior to sudden debris-flow washouts.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75887"/>
            <a:ext cx="32461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300"/>
              </a:spcAft>
              <a:defRPr sz="950" b="1">
                <a:solidFill>
                  <a:srgbClr val="D97706"/>
                </a:solidFill>
                <a:latin typeface="Trebuchet MS"/>
              </a:defRPr>
            </a:pPr>
            <a:r>
              <a:t>🚨 First Responders (NDRF, SDRF, DDMA)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• One-tap SOS distress beacon transmits exact GPS coordinates and calibrated slope hazard indices.</a:t>
            </a:r>
            <a:br/>
            <a:r>
              <a:t>• Top-50 Priority Survey Site ranking enables pre-positioning earthmovers and rescue gear before rains hit.</a:t>
            </a:r>
            <a:br/>
            <a:r>
              <a:t>• Live situational dashboard slashes emergency mobilization response time by over 40%.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675887"/>
            <a:ext cx="32461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/>
          <a:lstStyle/>
          <a:p>
            <a:pPr algn="ctr">
              <a:spcAft>
                <a:spcPts val="300"/>
              </a:spcAft>
              <a:defRPr sz="950" b="1">
                <a:solidFill>
                  <a:srgbClr val="059669"/>
                </a:solidFill>
                <a:latin typeface="Trebuchet MS"/>
              </a:defRPr>
            </a:pPr>
            <a:r>
              <a:t>🏛 Governance &amp; Infrastructure (MDoNER, PWD)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• Quantitative slope cut risk analytics guide engineered slope stabilization and retaining walls (IS 14458).</a:t>
            </a:r>
            <a:br/>
            <a:r>
              <a:t>• Mitigates an estimated ₹450+ Crore annually in road reconstruction, stranded cargo, and disaster relief.</a:t>
            </a:r>
            <a:br/>
            <a:r>
              <a:t>• Provides empirical geotechnical zoning for planned urban hill development and slope protection.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115568"/>
            <a:ext cx="4251960" cy="4992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170432"/>
            <a:ext cx="3886200" cy="292608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LIVE HAZARD MONITORING &amp; NATIONAL MISSIONS</a:t>
            </a:r>
          </a:p>
        </p:txBody>
      </p:sp>
      <p:pic>
        <p:nvPicPr>
          <p:cNvPr id="20" name="Picture 19" descr="heatmap_3d_surface_view_17886766863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81328"/>
            <a:ext cx="3886200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543800" y="3639312"/>
            <a:ext cx="38862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ctr">
              <a:spcAft>
                <a:spcPts val="200"/>
              </a:spcAft>
              <a:defRPr sz="950" b="1">
                <a:solidFill>
                  <a:srgbClr val="1E3A8A"/>
                </a:solidFill>
                <a:latin typeface="Trebuchet MS"/>
              </a:defRPr>
            </a:pPr>
            <a:r>
              <a:t>Strategic Alignment with National &amp; Global Missions:</a:t>
            </a:r>
          </a:p>
          <a:p>
            <a:r>
              <a:rPr b="1" sz="800">
                <a:solidFill>
                  <a:srgbClr val="0F172A"/>
                </a:solidFill>
              </a:rPr>
              <a:t>• PM's 10-Point DRR Agenda: </a:t>
            </a:r>
            <a:r>
              <a:rPr sz="760">
                <a:solidFill>
                  <a:srgbClr val="334155"/>
                </a:solidFill>
              </a:rPr>
              <a:t>Directly fulfills Priority 1 (Disaster Risk Early Warning) and Priority 4 (Leveraging Technology in DRR).</a:t>
            </a:r>
          </a:p>
          <a:p>
            <a:r>
              <a:rPr b="1" sz="800">
                <a:solidFill>
                  <a:srgbClr val="0F172A"/>
                </a:solidFill>
              </a:rPr>
              <a:t>• Sendai Framework (2015-2030): </a:t>
            </a:r>
            <a:r>
              <a:rPr sz="760">
                <a:solidFill>
                  <a:srgbClr val="334155"/>
                </a:solidFill>
              </a:rPr>
              <a:t>Supports Target G (Substantially increase the availability of and access to multi-hazard early warning systems).</a:t>
            </a:r>
          </a:p>
          <a:p>
            <a:r>
              <a:rPr b="1" sz="800">
                <a:solidFill>
                  <a:srgbClr val="0F172A"/>
                </a:solidFill>
              </a:rPr>
              <a:t>• Atmanirbhar Bharat &amp; Digital India: </a:t>
            </a:r>
            <a:r>
              <a:rPr sz="760">
                <a:solidFill>
                  <a:srgbClr val="334155"/>
                </a:solidFill>
              </a:rPr>
              <a:t>100% indigenous software stack, open geospatial standards, zero dependency on proprietary foreign licensing.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109728"/>
            <a:ext cx="7863840" cy="9144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Trebuchet MS"/>
              </a:defRPr>
            </a:pPr>
            <a:r>
              <a:t>RESEARCH AND REFERENCES: Peer-Reviewed Foundations, Codes &amp; LOSO Defense</a:t>
            </a:r>
          </a:p>
          <a:p>
            <a:pPr>
              <a:defRPr sz="1050" b="1">
                <a:solidFill>
                  <a:srgbClr val="0E7490"/>
                </a:solidFill>
                <a:latin typeface="Calibri"/>
              </a:defRPr>
            </a:pPr>
            <a:r>
              <a:t>Grounded in BIS Engineering Standards, Published Geotechnical Laws &amp; 8-State Spatial Holdout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15568"/>
            <a:ext cx="54864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200"/>
              </a:spcAft>
              <a:defRPr sz="950" b="1">
                <a:solidFill>
                  <a:srgbClr val="1E3A8A"/>
                </a:solidFill>
                <a:latin typeface="Trebuchet MS"/>
              </a:defRPr>
            </a:pPr>
            <a:r>
              <a:t>Geotechnical Slope Mechanics &amp; Geomorphology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• Alvioli, M., et al. (2016): 'Automatic delineation of slope units in large regions for landslide susceptibility.' Geomorphology, 268, 87-106. [Justifies 45,390 hydrological slope units across NER].</a:t>
            </a:r>
            <a:br/>
            <a:r>
              <a:t>• Sattar, A., et al. (2024): 'Rainfall-induced shallow landslide initiation and threshold dynamics in the Eastern Himalayas.' Engineering Geology, 312, 106940.</a:t>
            </a:r>
            <a:br/>
            <a:r>
              <a:t>• Bishop (1955) &amp; Skempton (1954): Limit equilibrium analysis, effective stress principle, and pore-water pressure ratio (r_u).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61488"/>
            <a:ext cx="54864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200"/>
              </a:spcAft>
              <a:defRPr sz="950" b="1">
                <a:solidFill>
                  <a:srgbClr val="0E7490"/>
                </a:solidFill>
                <a:latin typeface="Trebuchet MS"/>
              </a:defRPr>
            </a:pPr>
            <a:r>
              <a:t>Indian Standard (BIS) Engineering Codes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• IS 14458 (Parts 1-4): Guidelines for Retaining Wall Design, Landslide Analysis, and Hill Slope Stabilization.</a:t>
            </a:r>
            <a:br/>
            <a:r>
              <a:t>• IS 1893:2016: Criteria for Earthquake Resistant Design of Structures (Seismic Zone V coefficient k_h = 0.18 for NER).</a:t>
            </a:r>
            <a:br/>
            <a:r>
              <a:t>• IS 14680:1999: Guidelines for Landslide Hazard Zonation Mapping in Mountainous Terrains (BIS Standards).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07408"/>
            <a:ext cx="54864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200"/>
              </a:spcAft>
              <a:defRPr sz="950" b="1">
                <a:solidFill>
                  <a:srgbClr val="6D28D9"/>
                </a:solidFill>
                <a:latin typeface="Trebuchet MS"/>
              </a:defRPr>
            </a:pPr>
            <a:r>
              <a:t>Physics-Informed Deep Learning &amp; Geospatial Portals</a:t>
            </a:r>
          </a:p>
          <a:p>
            <a:pPr>
              <a:defRPr sz="800">
                <a:solidFill>
                  <a:srgbClr val="334155"/>
                </a:solidFill>
                <a:latin typeface="Calibri"/>
              </a:defRPr>
            </a:pPr>
            <a:r>
              <a:t>• Raissi, Perdikaris, Karniadakis (2019): Physics-Informed Neural Networks (PINNs) in Science / Nature.</a:t>
            </a:r>
            <a:br/>
            <a:r>
              <a:t>• Gal &amp; Ghahramani (2016): Dropout as a Bayesian Approximation for Representing Model Uncertainty (ICML).</a:t>
            </a:r>
            <a:br/>
            <a:r>
              <a:t>• Official Datasets: NASA SRTM 30m DEM, Copernicus Sentinel-1 InSAR (ESA/GEE), GSI 1:50k Resource Maps.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15568"/>
            <a:ext cx="5394960" cy="4992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70432"/>
            <a:ext cx="5029200" cy="292608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OFFICIAL JOURNAL EVALUATION &amp; LOSO VALIDATION DEFENSE</a:t>
            </a:r>
          </a:p>
        </p:txBody>
      </p:sp>
      <p:pic>
        <p:nvPicPr>
          <p:cNvPr id="19" name="Picture 18" descr="Fig_Journal_Eval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81328"/>
            <a:ext cx="5029200" cy="24231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0" y="4005072"/>
            <a:ext cx="5029200" cy="199339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/>
          <a:lstStyle/>
          <a:p>
            <a:pPr algn="ctr">
              <a:spcAft>
                <a:spcPts val="200"/>
              </a:spcAft>
              <a:defRPr sz="950" b="1">
                <a:solidFill>
                  <a:srgbClr val="059669"/>
                </a:solidFill>
                <a:latin typeface="Trebuchet MS"/>
              </a:defRPr>
            </a:pPr>
            <a:r>
              <a:t>State-by-State Spatial Holdout (LOSO) Validation Defense:</a:t>
            </a:r>
          </a:p>
          <a:p>
            <a:pPr>
              <a:defRPr sz="800" b="1">
                <a:solidFill>
                  <a:srgbClr val="0F172A"/>
                </a:solidFill>
                <a:latin typeface="Calibri"/>
              </a:defRPr>
            </a:pPr>
            <a:r>
              <a:t>• Meghalaya: 0.9882 AUC  |  Assam: 0.9817 AUC  |  Nagaland: 0.9853 AUC</a:t>
            </a:r>
            <a:br/>
            <a:r>
              <a:t>• Manipur: 0.9758 AUC  |  Arunachal: 0.9693 AUC  |  Mizoram: 0.9312 AUC</a:t>
            </a:r>
            <a:br/>
            <a:r>
              <a:t>• Sikkim Defense (0.7665 AUC): Glacio-karst high relief with active permafrost and moraine dam dynamics requiring specialized cryospheric data; demonstrates resilient model domain adaptation.</a:t>
            </a:r>
            <a:br/>
            <a:r>
              <a:t>• Tripura Defense (Low Score): Alluvial floodplain low-relief terrain with near-zero historical landslide events in NASA catalogs; model accurately prevents false alarms.</a:t>
            </a:r>
            <a:br/>
            <a:r>
              <a:t>• 8-State Mean Spatial Holdout: 0.8788 ROC-AUC  |  Ensemble PR-AUC: 0.9273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