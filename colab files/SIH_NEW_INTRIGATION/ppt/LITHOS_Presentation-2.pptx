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84" r:id="rId35"/>
    <p:sldId id="262" r:id="rId8"/>
    <p:sldId id="263" r:id="rId9"/>
    <p:sldId id="264" r:id="rId10"/>
    <p:sldId id="265" r:id="rId11"/>
    <p:sldId id="266" r:id="rId12"/>
    <p:sldId id="267" r:id="rId13"/>
    <p:sldId id="268" r:id="rId14"/>
    <p:sldId id="269" r:id="rId15"/>
    <p:sldId id="285" r:id="rId36"/>
    <p:sldId id="270" r:id="rId16"/>
    <p:sldId id="271" r:id="rId17"/>
    <p:sldId id="272" r:id="rId18"/>
    <p:sldId id="291" r:id="rId42"/>
    <p:sldId id="290" r:id="rId41"/>
    <p:sldId id="289" r:id="rId40"/>
    <p:sldId id="288" r:id="rId39"/>
    <p:sldId id="287" r:id="rId38"/>
    <p:sldId id="286" r:id="rId37"/>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  <Relationship Id="rId35" Type="http://schemas.openxmlformats.org/officeDocument/2006/relationships/slide" Target="slides/slide29.xml"/>
  <Relationship Id="rId36" Type="http://schemas.openxmlformats.org/officeDocument/2006/relationships/slide" Target="slides/slide30.xml"/>
  <Relationship Id="rId37" Type="http://schemas.openxmlformats.org/officeDocument/2006/relationships/slide" Target="slides/slide31.xml"/>
  <Relationship Id="rId38" Type="http://schemas.openxmlformats.org/officeDocument/2006/relationships/slide" Target="slides/slide32.xml"/>
  <Relationship Id="rId39" Type="http://schemas.openxmlformats.org/officeDocument/2006/relationships/slide" Target="slides/slide33.xml"/>
  <Relationship Id="rId40" Type="http://schemas.openxmlformats.org/officeDocument/2006/relationships/slide" Target="slides/slide34.xml"/>
  <Relationship Id="rId41" Type="http://schemas.openxmlformats.org/officeDocument/2006/relationships/slide" Target="slides/slide35.xml"/>
  <Relationship Id="rId42" Type="http://schemas.openxmlformats.org/officeDocument/2006/relationships/slide" Target="slides/slide36.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image" Target="../media/lithos_new_31_rId1.png"/><Relationship Id="rId2" Type="http://schemas.openxmlformats.org/officeDocument/2006/relationships/image" Target="../media/lithos_new_31_rId2.png"/><Relationship Id="rId3" Type="http://schemas.openxmlformats.org/officeDocument/2006/relationships/image" Target="../media/lithos_new_31_rId3.png"/><Relationship Id="rId4" Type="http://schemas.openxmlformats.org/officeDocument/2006/relationships/image" Target="../media/lithos_new_31_rId4.png"/><Relationship Id="rId5"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image" Target="../media/lithos_new_33_rId1.png"/><Relationship Id="rId2" Type="http://schemas.openxmlformats.org/officeDocument/2006/relationships/image" Target="../media/lithos_new_33_rId2.png"/><Relationship Id="rId3"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320"/>
        </a:solidFill>
      </p:bgPr>
    </p:bg>
    <p:spTree>
      <p:nvGrpSpPr>
        <p:cNvPr id="1" name=""/>
        <p:cNvGrpSpPr/>
        <p:nvPr/>
      </p:nvGrpSpPr>
      <p:grpSpPr>
        <a:xfrm>
          <a:off x="0" y="0"/>
          <a:ext cx="0" cy="0"/>
          <a:chOff x="0" y="0"/>
          <a:chExt cx="0" cy="0"/>
        </a:xfrm>
      </p:grpSpPr>
      <p:sp>
        <p:nvSpPr>
          <p:cNvPr id="2" name="Shape 0"/>
          <p:cNvSpPr/>
          <p:nvPr/>
        </p:nvSpPr>
        <p:spPr>
          <a:xfrm>
            <a:off x="0" y="5120640"/>
            <a:ext cx="12191695" cy="1737360"/>
          </a:xfrm>
          <a:prstGeom prst="rect">
            <a:avLst/>
          </a:prstGeom>
          <a:solidFill>
            <a:srgbClr val="3A2F2A"/>
          </a:solidFill>
          <a:ln/>
        </p:spPr>
      </p:sp>
      <p:sp>
        <p:nvSpPr>
          <p:cNvPr id="3" name="Shape 1"/>
          <p:cNvSpPr/>
          <p:nvPr/>
        </p:nvSpPr>
        <p:spPr>
          <a:xfrm>
            <a:off x="0" y="5760720"/>
            <a:ext cx="12191695" cy="1097280"/>
          </a:xfrm>
          <a:prstGeom prst="rect">
            <a:avLst/>
          </a:prstGeom>
          <a:solidFill>
            <a:srgbClr val="241D1A"/>
          </a:solidFill>
          <a:ln/>
        </p:spPr>
      </p:sp>
      <p:sp>
        <p:nvSpPr>
          <p:cNvPr id="4" name="Shape 2"/>
          <p:cNvSpPr/>
          <p:nvPr/>
        </p:nvSpPr>
        <p:spPr>
          <a:xfrm>
            <a:off x="822960" y="777240"/>
            <a:ext cx="868680" cy="868680"/>
          </a:xfrm>
          <a:prstGeom prst="ellipse">
            <a:avLst/>
          </a:prstGeom>
          <a:solidFill>
            <a:srgbClr val="B85042"/>
          </a:solidFill>
          <a:ln/>
        </p:spPr>
      </p:sp>
      <p:pic>
        <p:nvPicPr>
          <p:cNvPr id="5" name="Image 0" descr="assets/mountain_white.png">    </p:cNvPr>
          <p:cNvPicPr>
            <a:picLocks noChangeAspect="1"/>
          </p:cNvPicPr>
          <p:nvPr/>
        </p:nvPicPr>
        <p:blipFill>
          <a:blip r:embed="rId1"/>
          <a:stretch>
            <a:fillRect/>
          </a:stretch>
        </p:blipFill>
        <p:spPr>
          <a:xfrm>
            <a:off x="1048817" y="1003097"/>
            <a:ext cx="416966" cy="416966"/>
          </a:xfrm>
          <a:prstGeom prst="rect">
            <a:avLst/>
          </a:prstGeom>
        </p:spPr>
      </p:pic>
      <p:sp>
        <p:nvSpPr>
          <p:cNvPr id="6" name="Text 3"/>
          <p:cNvSpPr txBox="1"/>
          <p:nvPr/>
        </p:nvSpPr>
        <p:spPr>
          <a:xfrm>
            <a:off x="777240" y="1828800"/>
            <a:ext cx="91440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LITHOS</a:t>
            </a:r>
            <a:endParaRPr lang="en-US" sz="5400" dirty="0"/>
          </a:p>
        </p:txBody>
      </p:sp>
      <p:sp>
        <p:nvSpPr>
          <p:cNvPr id="7" name="Text 4"/>
          <p:cNvSpPr txBox="1"/>
          <p:nvPr/>
        </p:nvSpPr>
        <p:spPr>
          <a:xfrm>
            <a:off x="822960" y="2788920"/>
            <a:ext cx="9601200" cy="502920"/>
          </a:xfrm>
          <a:prstGeom prst="rect">
            <a:avLst/>
          </a:prstGeom>
          <a:noFill/>
          <a:ln/>
        </p:spPr>
        <p:txBody>
          <a:bodyPr wrap="square" lIns="0" tIns="0" rIns="0" bIns="0" rtlCol="0" anchor="ctr"/>
          <a:lstStyle/>
          <a:p>
            <a:pPr indent="0" marL="0">
              <a:buNone/>
            </a:pPr>
            <a:r>
              <a:rPr lang="en-US" sz="1800" i="1" dirty="0">
                <a:solidFill>
                  <a:srgbClr val="A7BEAE"/>
                </a:solidFill>
                <a:latin typeface="Calibri" pitchFamily="34" charset="0"/>
                <a:ea typeface="Calibri" pitchFamily="34" charset="-122"/>
                <a:cs typeface="Calibri" pitchFamily="34" charset="-120"/>
              </a:rPr>
              <a:t>Landslide Intelligence using Temporal &amp; Hyperlocal Observation System</a:t>
            </a:r>
            <a:endParaRPr lang="en-US" sz="1800" dirty="0"/>
          </a:p>
        </p:txBody>
      </p:sp>
      <p:sp>
        <p:nvSpPr>
          <p:cNvPr id="8" name="Shape 5"/>
          <p:cNvSpPr/>
          <p:nvPr/>
        </p:nvSpPr>
        <p:spPr>
          <a:xfrm>
            <a:off x="822960" y="3429000"/>
            <a:ext cx="2377440" cy="0"/>
          </a:xfrm>
          <a:prstGeom prst="line">
            <a:avLst/>
          </a:prstGeom>
          <a:noFill/>
          <a:ln w="31750">
            <a:solidFill>
              <a:srgbClr val="B85042"/>
            </a:solidFill>
            <a:prstDash val="solid"/>
          </a:ln>
        </p:spPr>
      </p:sp>
      <p:sp>
        <p:nvSpPr>
          <p:cNvPr id="9" name="Text 6"/>
          <p:cNvSpPr txBox="1"/>
          <p:nvPr/>
        </p:nvSpPr>
        <p:spPr>
          <a:xfrm>
            <a:off x="822960" y="3657600"/>
            <a:ext cx="8686800" cy="457200"/>
          </a:xfrm>
          <a:prstGeom prst="rect">
            <a:avLst/>
          </a:prstGeom>
          <a:noFill/>
          <a:ln/>
        </p:spPr>
        <p:txBody>
          <a:bodyPr wrap="square" lIns="0" tIns="0" rIns="0" bIns="0" rtlCol="0" anchor="ctr"/>
          <a:lstStyle/>
          <a:p>
            <a:pPr indent="0" marL="0">
              <a:buNone/>
            </a:pPr>
            <a:r>
              <a:rPr lang="en-US" sz="1400" dirty="0">
                <a:solidFill>
                  <a:srgbClr val="D8CFC9"/>
                </a:solidFill>
                <a:latin typeface="Calibri" pitchFamily="34" charset="0"/>
                <a:ea typeface="Calibri" pitchFamily="34" charset="-122"/>
                <a:cs typeface="Calibri" pitchFamily="34" charset="-120"/>
              </a:rPr>
              <a:t>A Physics-Informed Neural Network for Regional Landslide Hazard Intelligence</a:t>
            </a:r>
            <a:endParaRPr lang="en-US" sz="1400" dirty="0"/>
          </a:p>
        </p:txBody>
      </p:sp>
      <p:sp>
        <p:nvSpPr>
          <p:cNvPr id="10" name="Text 7"/>
          <p:cNvSpPr txBox="1"/>
          <p:nvPr/>
        </p:nvSpPr>
        <p:spPr>
          <a:xfrm>
            <a:off x="822960" y="6263640"/>
            <a:ext cx="10515600" cy="365760"/>
          </a:xfrm>
          <a:prstGeom prst="rect">
            <a:avLst/>
          </a:prstGeom>
          <a:noFill/>
          <a:ln/>
        </p:spPr>
        <p:txBody>
          <a:bodyPr wrap="square" lIns="0" tIns="0" rIns="0" bIns="0" rtlCol="0" anchor="ctr"/>
          <a:lstStyle/>
          <a:p>
            <a:pPr indent="0" marL="0">
              <a:buNone/>
            </a:pPr>
            <a:r>
              <a:rPr lang="en-US" sz="1200" dirty="0">
                <a:solidFill>
                  <a:srgbClr val="C9BEB8"/>
                </a:solidFill>
                <a:latin typeface="Calibri" pitchFamily="34" charset="0"/>
                <a:ea typeface="Calibri" pitchFamily="34" charset="-122"/>
                <a:cs typeface="Calibri" pitchFamily="34" charset="-120"/>
              </a:rPr>
              <a:t>Smart India Hackathon 2026  |  </a:t>
            </a:r>
            <a:pPr indent="0" marL="0">
              <a:buNone/>
            </a:pPr>
            <a:r>
              <a:rPr lang="en-US" sz="1200" b="1" dirty="0">
                <a:solidFill>
                  <a:srgbClr val="A7BEAE"/>
                </a:solidFill>
                <a:latin typeface="Calibri" pitchFamily="34" charset="0"/>
                <a:ea typeface="Calibri" pitchFamily="34" charset="-122"/>
                <a:cs typeface="Calibri" pitchFamily="34" charset="-120"/>
              </a:rPr>
              <a:t>PS ID 26001 — MDoNER, Ministry of Development of North Eastern Region</a:t>
            </a:r>
            <a:endParaRPr lang="en-US" sz="1200" dirty="0"/>
          </a:p>
        </p:txBody>
      </p:sp>
      <p:sp>
        <p:nvSpPr>
          <p:cNvPr id="11" name="Text 8"/>
          <p:cNvSpPr txBox="1"/>
          <p:nvPr/>
        </p:nvSpPr>
        <p:spPr>
          <a:xfrm>
            <a:off x="822960" y="5897880"/>
            <a:ext cx="7315200" cy="320040"/>
          </a:xfrm>
          <a:prstGeom prst="rect">
            <a:avLst/>
          </a:prstGeom>
          <a:noFill/>
          <a:ln/>
        </p:spPr>
        <p:txBody>
          <a:bodyPr wrap="square" lIns="0" tIns="0" rIns="0" bIns="0" rtlCol="0" anchor="ctr"/>
          <a:lstStyle/>
          <a:p>
            <a:pPr indent="0" marL="0">
              <a:buNone/>
            </a:pPr>
            <a:r>
              <a:rPr lang="en-US" sz="1200" dirty="0">
                <a:solidFill>
                  <a:srgbClr val="C9BEB8"/>
                </a:solidFill>
                <a:latin typeface="Calibri" pitchFamily="34" charset="0"/>
                <a:ea typeface="Calibri" pitchFamily="34" charset="-122"/>
                <a:cs typeface="Calibri" pitchFamily="34" charset="-120"/>
              </a:rPr>
              <a:t>Sougata  |  Civil Engineering, Guru Ghasidas Vishwavidyalaya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2B2320"/>
                </a:solidFill>
                <a:latin typeface="Cambria" pitchFamily="34" charset="0"/>
                <a:ea typeface="Cambria" pitchFamily="34" charset="-122"/>
                <a:cs typeface="Cambria" pitchFamily="34" charset="-120"/>
              </a:rPr>
              <a:t>What We Will Cover</a:t>
            </a:r>
            <a:endParaRPr lang="en-US" sz="3200" dirty="0"/>
          </a:p>
        </p:txBody>
      </p:sp>
      <p:sp>
        <p:nvSpPr>
          <p:cNvPr id="3" name="Text 1"/>
          <p:cNvSpPr txBox="1"/>
          <p:nvPr/>
        </p:nvSpPr>
        <p:spPr>
          <a:xfrm>
            <a:off x="548640" y="1051560"/>
            <a:ext cx="9144000" cy="365760"/>
          </a:xfrm>
          <a:prstGeom prst="rect">
            <a:avLst/>
          </a:prstGeom>
          <a:noFill/>
          <a:ln/>
        </p:spPr>
        <p:txBody>
          <a:bodyPr wrap="square" lIns="0" tIns="0" rIns="0" bIns="0" rtlCol="0" anchor="ctr"/>
          <a:lstStyle/>
          <a:p>
            <a:pPr indent="0" marL="0">
              <a:buNone/>
            </a:pPr>
            <a:r>
              <a:rPr lang="en-US" sz="1400" i="1" dirty="0">
                <a:solidFill>
                  <a:srgbClr val="5C5450"/>
                </a:solidFill>
                <a:latin typeface="Calibri" pitchFamily="34" charset="0"/>
                <a:ea typeface="Calibri" pitchFamily="34" charset="-122"/>
                <a:cs typeface="Calibri" pitchFamily="34" charset="-120"/>
              </a:rPr>
              <a:t>A complete walkthrough — from the problem to the deployed system</a:t>
            </a:r>
            <a:endParaRPr lang="en-US" sz="1400" dirty="0"/>
          </a:p>
        </p:txBody>
      </p:sp>
      <p:sp>
        <p:nvSpPr>
          <p:cNvPr id="4" name="Shape 2"/>
          <p:cNvSpPr/>
          <p:nvPr/>
        </p:nvSpPr>
        <p:spPr>
          <a:xfrm>
            <a:off x="548640" y="1691640"/>
            <a:ext cx="3566160" cy="2331720"/>
          </a:xfrm>
          <a:prstGeom prst="roundRect">
            <a:avLst>
              <a:gd name="adj" fmla="val 3137"/>
            </a:avLst>
          </a:prstGeom>
          <a:solidFill>
            <a:srgbClr val="F4F1EC"/>
          </a:solidFill>
          <a:ln/>
        </p:spPr>
      </p:sp>
      <p:sp>
        <p:nvSpPr>
          <p:cNvPr id="5" name="Shape 3"/>
          <p:cNvSpPr/>
          <p:nvPr/>
        </p:nvSpPr>
        <p:spPr>
          <a:xfrm>
            <a:off x="804672" y="1947672"/>
            <a:ext cx="548640" cy="548640"/>
          </a:xfrm>
          <a:prstGeom prst="ellipse">
            <a:avLst/>
          </a:prstGeom>
          <a:solidFill>
            <a:srgbClr val="B85042"/>
          </a:solidFill>
          <a:ln/>
        </p:spPr>
      </p:sp>
      <p:pic>
        <p:nvPicPr>
          <p:cNvPr id="6" name="Image 0" descr="assets/triangleExclamation_white.png">    </p:cNvPr>
          <p:cNvPicPr>
            <a:picLocks noChangeAspect="1"/>
          </p:cNvPicPr>
          <p:nvPr/>
        </p:nvPicPr>
        <p:blipFill>
          <a:blip r:embed="rId1"/>
          <a:stretch>
            <a:fillRect/>
          </a:stretch>
        </p:blipFill>
        <p:spPr>
          <a:xfrm>
            <a:off x="947318" y="2090318"/>
            <a:ext cx="263347" cy="263347"/>
          </a:xfrm>
          <a:prstGeom prst="rect">
            <a:avLst/>
          </a:prstGeom>
        </p:spPr>
      </p:pic>
      <p:sp>
        <p:nvSpPr>
          <p:cNvPr id="7" name="Text 4"/>
          <p:cNvSpPr txBox="1"/>
          <p:nvPr/>
        </p:nvSpPr>
        <p:spPr>
          <a:xfrm>
            <a:off x="804672" y="2606040"/>
            <a:ext cx="3054096"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1. The Problem</a:t>
            </a:r>
            <a:endParaRPr lang="en-US" sz="1500" dirty="0"/>
          </a:p>
        </p:txBody>
      </p:sp>
      <p:sp>
        <p:nvSpPr>
          <p:cNvPr id="8" name="Text 5"/>
          <p:cNvSpPr txBox="1"/>
          <p:nvPr/>
        </p:nvSpPr>
        <p:spPr>
          <a:xfrm>
            <a:off x="804672" y="2990088"/>
            <a:ext cx="3054096" cy="9144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5C5450"/>
                </a:solidFill>
                <a:latin typeface="Calibri" pitchFamily="34" charset="0"/>
                <a:ea typeface="Calibri" pitchFamily="34" charset="-122"/>
                <a:cs typeface="Calibri" pitchFamily="34" charset="-120"/>
              </a:rPr>
              <a:t>Why NE India needs this</a:t>
            </a:r>
            <a:endParaRPr lang="en-US" sz="1200" dirty="0"/>
          </a:p>
          <a:p>
            <a:pPr marL="342900" indent="-342900">
              <a:spcAft>
                <a:spcPts val="400"/>
              </a:spcAft>
              <a:buSzPct val="100000"/>
              <a:buChar char="–"/>
            </a:pPr>
            <a:r>
              <a:rPr lang="en-US" sz="1200" dirty="0">
                <a:solidFill>
                  <a:srgbClr val="5C5450"/>
                </a:solidFill>
                <a:latin typeface="Calibri" pitchFamily="34" charset="0"/>
                <a:ea typeface="Calibri" pitchFamily="34" charset="-122"/>
                <a:cs typeface="Calibri" pitchFamily="34" charset="-120"/>
              </a:rPr>
              <a:t>Limits of existing models</a:t>
            </a:r>
            <a:endParaRPr lang="en-US" sz="1200" dirty="0"/>
          </a:p>
        </p:txBody>
      </p:sp>
      <p:sp>
        <p:nvSpPr>
          <p:cNvPr id="9" name="Shape 6"/>
          <p:cNvSpPr/>
          <p:nvPr/>
        </p:nvSpPr>
        <p:spPr>
          <a:xfrm>
            <a:off x="4343400" y="1691640"/>
            <a:ext cx="3566160" cy="2331720"/>
          </a:xfrm>
          <a:prstGeom prst="roundRect">
            <a:avLst>
              <a:gd name="adj" fmla="val 3137"/>
            </a:avLst>
          </a:prstGeom>
          <a:solidFill>
            <a:srgbClr val="F4F1EC"/>
          </a:solidFill>
          <a:ln/>
        </p:spPr>
      </p:sp>
      <p:sp>
        <p:nvSpPr>
          <p:cNvPr id="10" name="Shape 7"/>
          <p:cNvSpPr/>
          <p:nvPr/>
        </p:nvSpPr>
        <p:spPr>
          <a:xfrm>
            <a:off x="4599432" y="1947672"/>
            <a:ext cx="548640" cy="548640"/>
          </a:xfrm>
          <a:prstGeom prst="ellipse">
            <a:avLst/>
          </a:prstGeom>
          <a:solidFill>
            <a:srgbClr val="B85042"/>
          </a:solidFill>
          <a:ln/>
        </p:spPr>
      </p:sp>
      <p:pic>
        <p:nvPicPr>
          <p:cNvPr id="11" name="Image 1" descr="assets/database_white.png">    </p:cNvPr>
          <p:cNvPicPr>
            <a:picLocks noChangeAspect="1"/>
          </p:cNvPicPr>
          <p:nvPr/>
        </p:nvPicPr>
        <p:blipFill>
          <a:blip r:embed="rId2"/>
          <a:stretch>
            <a:fillRect/>
          </a:stretch>
        </p:blipFill>
        <p:spPr>
          <a:xfrm>
            <a:off x="4742078" y="2090318"/>
            <a:ext cx="263347" cy="263347"/>
          </a:xfrm>
          <a:prstGeom prst="rect">
            <a:avLst/>
          </a:prstGeom>
        </p:spPr>
      </p:pic>
      <p:sp>
        <p:nvSpPr>
          <p:cNvPr id="12" name="Text 8"/>
          <p:cNvSpPr txBox="1"/>
          <p:nvPr/>
        </p:nvSpPr>
        <p:spPr>
          <a:xfrm>
            <a:off x="4599432" y="2606040"/>
            <a:ext cx="3054096"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2. Data &amp; Foundations</a:t>
            </a:r>
            <a:endParaRPr lang="en-US" sz="1500" dirty="0"/>
          </a:p>
        </p:txBody>
      </p:sp>
      <p:sp>
        <p:nvSpPr>
          <p:cNvPr id="13" name="Text 9"/>
          <p:cNvSpPr txBox="1"/>
          <p:nvPr/>
        </p:nvSpPr>
        <p:spPr>
          <a:xfrm>
            <a:off x="4599432" y="2990088"/>
            <a:ext cx="3054096" cy="9144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5C5450"/>
                </a:solidFill>
                <a:latin typeface="Calibri" pitchFamily="34" charset="0"/>
                <a:ea typeface="Calibri" pitchFamily="34" charset="-122"/>
                <a:cs typeface="Calibri" pitchFamily="34" charset="-120"/>
              </a:rPr>
              <a:t>580K+ slope units</a:t>
            </a:r>
            <a:endParaRPr lang="en-US" sz="1200" dirty="0"/>
          </a:p>
          <a:p>
            <a:pPr marL="342900" indent="-342900">
              <a:spcAft>
                <a:spcPts val="400"/>
              </a:spcAft>
              <a:buSzPct val="100000"/>
              <a:buChar char="–"/>
            </a:pPr>
            <a:r>
              <a:rPr lang="en-US" sz="1200" dirty="0">
                <a:solidFill>
                  <a:srgbClr val="5C5450"/>
                </a:solidFill>
                <a:latin typeface="Calibri" pitchFamily="34" charset="0"/>
                <a:ea typeface="Calibri" pitchFamily="34" charset="-122"/>
                <a:cs typeface="Calibri" pitchFamily="34" charset="-120"/>
              </a:rPr>
              <a:t>Real satellite covariates</a:t>
            </a:r>
            <a:endParaRPr lang="en-US" sz="1200" dirty="0"/>
          </a:p>
        </p:txBody>
      </p:sp>
      <p:sp>
        <p:nvSpPr>
          <p:cNvPr id="14" name="Shape 10"/>
          <p:cNvSpPr/>
          <p:nvPr/>
        </p:nvSpPr>
        <p:spPr>
          <a:xfrm>
            <a:off x="8138160" y="1691640"/>
            <a:ext cx="3566160" cy="2331720"/>
          </a:xfrm>
          <a:prstGeom prst="roundRect">
            <a:avLst>
              <a:gd name="adj" fmla="val 3137"/>
            </a:avLst>
          </a:prstGeom>
          <a:solidFill>
            <a:srgbClr val="F4F1EC"/>
          </a:solidFill>
          <a:ln/>
        </p:spPr>
      </p:sp>
      <p:sp>
        <p:nvSpPr>
          <p:cNvPr id="15" name="Shape 11"/>
          <p:cNvSpPr/>
          <p:nvPr/>
        </p:nvSpPr>
        <p:spPr>
          <a:xfrm>
            <a:off x="8394192" y="1947672"/>
            <a:ext cx="548640" cy="548640"/>
          </a:xfrm>
          <a:prstGeom prst="ellipse">
            <a:avLst/>
          </a:prstGeom>
          <a:solidFill>
            <a:srgbClr val="B85042"/>
          </a:solidFill>
          <a:ln/>
        </p:spPr>
      </p:sp>
      <p:pic>
        <p:nvPicPr>
          <p:cNvPr id="16" name="Image 2" descr="assets/brain_white.png">    </p:cNvPr>
          <p:cNvPicPr>
            <a:picLocks noChangeAspect="1"/>
          </p:cNvPicPr>
          <p:nvPr/>
        </p:nvPicPr>
        <p:blipFill>
          <a:blip r:embed="rId3"/>
          <a:stretch>
            <a:fillRect/>
          </a:stretch>
        </p:blipFill>
        <p:spPr>
          <a:xfrm>
            <a:off x="8536838" y="2090318"/>
            <a:ext cx="263347" cy="263347"/>
          </a:xfrm>
          <a:prstGeom prst="rect">
            <a:avLst/>
          </a:prstGeom>
        </p:spPr>
      </p:pic>
      <p:sp>
        <p:nvSpPr>
          <p:cNvPr id="17" name="Text 12"/>
          <p:cNvSpPr txBox="1"/>
          <p:nvPr/>
        </p:nvSpPr>
        <p:spPr>
          <a:xfrm>
            <a:off x="8394192" y="2606040"/>
            <a:ext cx="3054096"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3. The Physics-AI Model</a:t>
            </a:r>
            <a:endParaRPr lang="en-US" sz="1500" dirty="0"/>
          </a:p>
        </p:txBody>
      </p:sp>
      <p:sp>
        <p:nvSpPr>
          <p:cNvPr id="18" name="Text 13"/>
          <p:cNvSpPr txBox="1"/>
          <p:nvPr/>
        </p:nvSpPr>
        <p:spPr>
          <a:xfrm>
            <a:off x="8394192" y="2990088"/>
            <a:ext cx="3054096" cy="9144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5C5450"/>
                </a:solidFill>
                <a:latin typeface="Calibri" pitchFamily="34" charset="0"/>
                <a:ea typeface="Calibri" pitchFamily="34" charset="-122"/>
                <a:cs typeface="Calibri" pitchFamily="34" charset="-120"/>
              </a:rPr>
              <a:t>PINN architecture</a:t>
            </a:r>
            <a:endParaRPr lang="en-US" sz="1200" dirty="0"/>
          </a:p>
          <a:p>
            <a:pPr marL="342900" indent="-342900">
              <a:spcAft>
                <a:spcPts val="400"/>
              </a:spcAft>
              <a:buSzPct val="100000"/>
              <a:buChar char="–"/>
            </a:pPr>
            <a:r>
              <a:rPr lang="en-US" sz="1200" dirty="0">
                <a:solidFill>
                  <a:srgbClr val="5C5450"/>
                </a:solidFill>
                <a:latin typeface="Calibri" pitchFamily="34" charset="0"/>
                <a:ea typeface="Calibri" pitchFamily="34" charset="-122"/>
                <a:cs typeface="Calibri" pitchFamily="34" charset="-120"/>
              </a:rPr>
              <a:t>Geomechanics + neural net</a:t>
            </a:r>
            <a:endParaRPr lang="en-US" sz="1200" dirty="0"/>
          </a:p>
        </p:txBody>
      </p:sp>
      <p:sp>
        <p:nvSpPr>
          <p:cNvPr id="19" name="Shape 14"/>
          <p:cNvSpPr/>
          <p:nvPr/>
        </p:nvSpPr>
        <p:spPr>
          <a:xfrm>
            <a:off x="548640" y="4251960"/>
            <a:ext cx="3566160" cy="2331720"/>
          </a:xfrm>
          <a:prstGeom prst="roundRect">
            <a:avLst>
              <a:gd name="adj" fmla="val 3137"/>
            </a:avLst>
          </a:prstGeom>
          <a:solidFill>
            <a:srgbClr val="F4F1EC"/>
          </a:solidFill>
          <a:ln/>
        </p:spPr>
      </p:sp>
      <p:sp>
        <p:nvSpPr>
          <p:cNvPr id="20" name="Shape 15"/>
          <p:cNvSpPr/>
          <p:nvPr/>
        </p:nvSpPr>
        <p:spPr>
          <a:xfrm>
            <a:off x="804672" y="4507992"/>
            <a:ext cx="548640" cy="548640"/>
          </a:xfrm>
          <a:prstGeom prst="ellipse">
            <a:avLst/>
          </a:prstGeom>
          <a:solidFill>
            <a:srgbClr val="B85042"/>
          </a:solidFill>
          <a:ln/>
        </p:spPr>
      </p:sp>
      <p:pic>
        <p:nvPicPr>
          <p:cNvPr id="21" name="Image 3" descr="assets/chartLine_white.png">    </p:cNvPr>
          <p:cNvPicPr>
            <a:picLocks noChangeAspect="1"/>
          </p:cNvPicPr>
          <p:nvPr/>
        </p:nvPicPr>
        <p:blipFill>
          <a:blip r:embed="rId4"/>
          <a:stretch>
            <a:fillRect/>
          </a:stretch>
        </p:blipFill>
        <p:spPr>
          <a:xfrm>
            <a:off x="947318" y="4650638"/>
            <a:ext cx="263347" cy="263347"/>
          </a:xfrm>
          <a:prstGeom prst="rect">
            <a:avLst/>
          </a:prstGeom>
        </p:spPr>
      </p:pic>
      <p:sp>
        <p:nvSpPr>
          <p:cNvPr id="22" name="Text 16"/>
          <p:cNvSpPr txBox="1"/>
          <p:nvPr/>
        </p:nvSpPr>
        <p:spPr>
          <a:xfrm>
            <a:off x="804672" y="5166360"/>
            <a:ext cx="3054096"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4. Results</a:t>
            </a:r>
            <a:endParaRPr lang="en-US" sz="1500" dirty="0"/>
          </a:p>
        </p:txBody>
      </p:sp>
      <p:sp>
        <p:nvSpPr>
          <p:cNvPr id="23" name="Text 17"/>
          <p:cNvSpPr txBox="1"/>
          <p:nvPr/>
        </p:nvSpPr>
        <p:spPr>
          <a:xfrm>
            <a:off x="804672" y="5550408"/>
            <a:ext cx="3054096" cy="9144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5C5450"/>
                </a:solidFill>
                <a:latin typeface="Calibri" pitchFamily="34" charset="0"/>
                <a:ea typeface="Calibri" pitchFamily="34" charset="-122"/>
                <a:cs typeface="Calibri" pitchFamily="34" charset="-120"/>
              </a:rPr>
              <a:t>Benchmarks vs other models</a:t>
            </a:r>
            <a:endParaRPr lang="en-US" sz="1200" dirty="0"/>
          </a:p>
          <a:p>
            <a:pPr marL="342900" indent="-342900">
              <a:spcAft>
                <a:spcPts val="400"/>
              </a:spcAft>
              <a:buSzPct val="100000"/>
              <a:buChar char="–"/>
            </a:pPr>
            <a:r>
              <a:rPr lang="en-US" sz="1200" dirty="0">
                <a:solidFill>
                  <a:srgbClr val="5C5450"/>
                </a:solidFill>
                <a:latin typeface="Calibri" pitchFamily="34" charset="0"/>
                <a:ea typeface="Calibri" pitchFamily="34" charset="-122"/>
                <a:cs typeface="Calibri" pitchFamily="34" charset="-120"/>
              </a:rPr>
              <a:t>Validation &amp; recall</a:t>
            </a:r>
            <a:endParaRPr lang="en-US" sz="1200" dirty="0"/>
          </a:p>
        </p:txBody>
      </p:sp>
      <p:sp>
        <p:nvSpPr>
          <p:cNvPr id="24" name="Shape 18"/>
          <p:cNvSpPr/>
          <p:nvPr/>
        </p:nvSpPr>
        <p:spPr>
          <a:xfrm>
            <a:off x="4343400" y="4251960"/>
            <a:ext cx="3566160" cy="2331720"/>
          </a:xfrm>
          <a:prstGeom prst="roundRect">
            <a:avLst>
              <a:gd name="adj" fmla="val 3137"/>
            </a:avLst>
          </a:prstGeom>
          <a:solidFill>
            <a:srgbClr val="F4F1EC"/>
          </a:solidFill>
          <a:ln/>
        </p:spPr>
      </p:sp>
      <p:sp>
        <p:nvSpPr>
          <p:cNvPr id="25" name="Shape 19"/>
          <p:cNvSpPr/>
          <p:nvPr/>
        </p:nvSpPr>
        <p:spPr>
          <a:xfrm>
            <a:off x="4599432" y="4507992"/>
            <a:ext cx="548640" cy="548640"/>
          </a:xfrm>
          <a:prstGeom prst="ellipse">
            <a:avLst/>
          </a:prstGeom>
          <a:solidFill>
            <a:srgbClr val="B85042"/>
          </a:solidFill>
          <a:ln/>
        </p:spPr>
      </p:sp>
      <p:pic>
        <p:nvPicPr>
          <p:cNvPr id="26" name="Image 4" descr="assets/shieldHalved_white.png">    </p:cNvPr>
          <p:cNvPicPr>
            <a:picLocks noChangeAspect="1"/>
          </p:cNvPicPr>
          <p:nvPr/>
        </p:nvPicPr>
        <p:blipFill>
          <a:blip r:embed="rId5"/>
          <a:stretch>
            <a:fillRect/>
          </a:stretch>
        </p:blipFill>
        <p:spPr>
          <a:xfrm>
            <a:off x="4742078" y="4650638"/>
            <a:ext cx="263347" cy="263347"/>
          </a:xfrm>
          <a:prstGeom prst="rect">
            <a:avLst/>
          </a:prstGeom>
        </p:spPr>
      </p:pic>
      <p:sp>
        <p:nvSpPr>
          <p:cNvPr id="27" name="Text 20"/>
          <p:cNvSpPr txBox="1"/>
          <p:nvPr/>
        </p:nvSpPr>
        <p:spPr>
          <a:xfrm>
            <a:off x="4599432" y="5166360"/>
            <a:ext cx="3054096"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5. Engineering Actions</a:t>
            </a:r>
            <a:endParaRPr lang="en-US" sz="1500" dirty="0"/>
          </a:p>
        </p:txBody>
      </p:sp>
      <p:sp>
        <p:nvSpPr>
          <p:cNvPr id="28" name="Text 21"/>
          <p:cNvSpPr txBox="1"/>
          <p:nvPr/>
        </p:nvSpPr>
        <p:spPr>
          <a:xfrm>
            <a:off x="4599432" y="5550408"/>
            <a:ext cx="3054096" cy="9144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5C5450"/>
                </a:solidFill>
                <a:latin typeface="Calibri" pitchFamily="34" charset="0"/>
                <a:ea typeface="Calibri" pitchFamily="34" charset="-122"/>
                <a:cs typeface="Calibri" pitchFamily="34" charset="-120"/>
              </a:rPr>
              <a:t>IS 14680 recommendations</a:t>
            </a:r>
            <a:endParaRPr lang="en-US" sz="1200" dirty="0"/>
          </a:p>
          <a:p>
            <a:pPr marL="342900" indent="-342900">
              <a:spcAft>
                <a:spcPts val="400"/>
              </a:spcAft>
              <a:buSzPct val="100000"/>
              <a:buChar char="–"/>
            </a:pPr>
            <a:r>
              <a:rPr lang="en-US" sz="1200" dirty="0">
                <a:solidFill>
                  <a:srgbClr val="5C5450"/>
                </a:solidFill>
                <a:latin typeface="Calibri" pitchFamily="34" charset="0"/>
                <a:ea typeface="Calibri" pitchFamily="34" charset="-122"/>
                <a:cs typeface="Calibri" pitchFamily="34" charset="-120"/>
              </a:rPr>
              <a:t>Priority survey sites</a:t>
            </a:r>
            <a:endParaRPr lang="en-US" sz="1200" dirty="0"/>
          </a:p>
        </p:txBody>
      </p:sp>
      <p:sp>
        <p:nvSpPr>
          <p:cNvPr id="29" name="Shape 22"/>
          <p:cNvSpPr/>
          <p:nvPr/>
        </p:nvSpPr>
        <p:spPr>
          <a:xfrm>
            <a:off x="8138160" y="4251960"/>
            <a:ext cx="3566160" cy="2331720"/>
          </a:xfrm>
          <a:prstGeom prst="roundRect">
            <a:avLst>
              <a:gd name="adj" fmla="val 3137"/>
            </a:avLst>
          </a:prstGeom>
          <a:solidFill>
            <a:srgbClr val="F4F1EC"/>
          </a:solidFill>
          <a:ln/>
        </p:spPr>
      </p:sp>
      <p:sp>
        <p:nvSpPr>
          <p:cNvPr id="30" name="Shape 23"/>
          <p:cNvSpPr/>
          <p:nvPr/>
        </p:nvSpPr>
        <p:spPr>
          <a:xfrm>
            <a:off x="8394192" y="4507992"/>
            <a:ext cx="548640" cy="548640"/>
          </a:xfrm>
          <a:prstGeom prst="ellipse">
            <a:avLst/>
          </a:prstGeom>
          <a:solidFill>
            <a:srgbClr val="B85042"/>
          </a:solidFill>
          <a:ln/>
        </p:spPr>
      </p:sp>
      <p:pic>
        <p:nvPicPr>
          <p:cNvPr id="31" name="Image 5" descr="assets/globe_white.png">    </p:cNvPr>
          <p:cNvPicPr>
            <a:picLocks noChangeAspect="1"/>
          </p:cNvPicPr>
          <p:nvPr/>
        </p:nvPicPr>
        <p:blipFill>
          <a:blip r:embed="rId6"/>
          <a:stretch>
            <a:fillRect/>
          </a:stretch>
        </p:blipFill>
        <p:spPr>
          <a:xfrm>
            <a:off x="8536838" y="4650638"/>
            <a:ext cx="263347" cy="263347"/>
          </a:xfrm>
          <a:prstGeom prst="rect">
            <a:avLst/>
          </a:prstGeom>
        </p:spPr>
      </p:pic>
      <p:sp>
        <p:nvSpPr>
          <p:cNvPr id="32" name="Text 24"/>
          <p:cNvSpPr txBox="1"/>
          <p:nvPr/>
        </p:nvSpPr>
        <p:spPr>
          <a:xfrm>
            <a:off x="8394192" y="5166360"/>
            <a:ext cx="3054096"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6. The Platform</a:t>
            </a:r>
            <a:endParaRPr lang="en-US" sz="1500" dirty="0"/>
          </a:p>
        </p:txBody>
      </p:sp>
      <p:sp>
        <p:nvSpPr>
          <p:cNvPr id="33" name="Text 25"/>
          <p:cNvSpPr txBox="1"/>
          <p:nvPr/>
        </p:nvSpPr>
        <p:spPr>
          <a:xfrm>
            <a:off x="8394192" y="5550408"/>
            <a:ext cx="3054096" cy="9144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5C5450"/>
                </a:solidFill>
                <a:latin typeface="Calibri" pitchFamily="34" charset="0"/>
                <a:ea typeface="Calibri" pitchFamily="34" charset="-122"/>
                <a:cs typeface="Calibri" pitchFamily="34" charset="-120"/>
              </a:rPr>
              <a:t>3D digital twin</a:t>
            </a:r>
            <a:endParaRPr lang="en-US" sz="1200" dirty="0"/>
          </a:p>
          <a:p>
            <a:pPr marL="342900" indent="-342900">
              <a:spcAft>
                <a:spcPts val="400"/>
              </a:spcAft>
              <a:buSzPct val="100000"/>
              <a:buChar char="–"/>
            </a:pPr>
            <a:r>
              <a:rPr lang="en-US" sz="1200" dirty="0">
                <a:solidFill>
                  <a:srgbClr val="5C5450"/>
                </a:solidFill>
                <a:latin typeface="Calibri" pitchFamily="34" charset="0"/>
                <a:ea typeface="Calibri" pitchFamily="34" charset="-122"/>
                <a:cs typeface="Calibri" pitchFamily="34" charset="-120"/>
              </a:rPr>
              <a:t>Safe-route navigation</a:t>
            </a:r>
            <a:endParaRPr lang="en-US" sz="1200" dirty="0"/>
          </a:p>
        </p:txBody>
      </p:sp>
      <p:sp>
        <p:nvSpPr>
          <p:cNvPr id="34" name="Text 26"/>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35" name="Text 27"/>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3000" b="1" dirty="0">
                <a:solidFill>
                  <a:srgbClr val="2B2320"/>
                </a:solidFill>
                <a:latin typeface="Cambria" pitchFamily="34" charset="0"/>
                <a:ea typeface="Cambria" pitchFamily="34" charset="-122"/>
                <a:cs typeface="Cambria" pitchFamily="34" charset="-120"/>
              </a:rPr>
              <a:t>The Problem: A Fragile, Under-Monitored Terrain</a:t>
            </a:r>
            <a:endParaRPr lang="en-US" sz="3000" dirty="0"/>
          </a:p>
        </p:txBody>
      </p:sp>
      <p:sp>
        <p:nvSpPr>
          <p:cNvPr id="3" name="Shape 1"/>
          <p:cNvSpPr/>
          <p:nvPr/>
        </p:nvSpPr>
        <p:spPr>
          <a:xfrm>
            <a:off x="548640" y="1371600"/>
            <a:ext cx="5394960" cy="4663440"/>
          </a:xfrm>
          <a:prstGeom prst="roundRect">
            <a:avLst>
              <a:gd name="adj" fmla="val 1569"/>
            </a:avLst>
          </a:prstGeom>
          <a:solidFill>
            <a:srgbClr val="F4F1EC"/>
          </a:solidFill>
          <a:ln/>
        </p:spPr>
      </p:sp>
      <p:sp>
        <p:nvSpPr>
          <p:cNvPr id="4" name="Shape 2"/>
          <p:cNvSpPr/>
          <p:nvPr/>
        </p:nvSpPr>
        <p:spPr>
          <a:xfrm>
            <a:off x="868680" y="1691640"/>
            <a:ext cx="594360" cy="594360"/>
          </a:xfrm>
          <a:prstGeom prst="ellipse">
            <a:avLst/>
          </a:prstGeom>
          <a:solidFill>
            <a:srgbClr val="B85042"/>
          </a:solidFill>
          <a:ln/>
        </p:spPr>
      </p:sp>
      <p:pic>
        <p:nvPicPr>
          <p:cNvPr id="5" name="Image 0" descr="assets/mountain_white.png">    </p:cNvPr>
          <p:cNvPicPr>
            <a:picLocks noChangeAspect="1"/>
          </p:cNvPicPr>
          <p:nvPr/>
        </p:nvPicPr>
        <p:blipFill>
          <a:blip r:embed="rId1"/>
          <a:stretch>
            <a:fillRect/>
          </a:stretch>
        </p:blipFill>
        <p:spPr>
          <a:xfrm>
            <a:off x="1023214" y="1846174"/>
            <a:ext cx="285293" cy="285293"/>
          </a:xfrm>
          <a:prstGeom prst="rect">
            <a:avLst/>
          </a:prstGeom>
        </p:spPr>
      </p:pic>
      <p:sp>
        <p:nvSpPr>
          <p:cNvPr id="6" name="Text 3"/>
          <p:cNvSpPr txBox="1"/>
          <p:nvPr/>
        </p:nvSpPr>
        <p:spPr>
          <a:xfrm>
            <a:off x="1600200" y="1737360"/>
            <a:ext cx="4114800" cy="548640"/>
          </a:xfrm>
          <a:prstGeom prst="rect">
            <a:avLst/>
          </a:prstGeom>
          <a:noFill/>
          <a:ln/>
        </p:spPr>
        <p:txBody>
          <a:bodyPr wrap="square" lIns="0" tIns="0" rIns="0" bIns="0" rtlCol="0" anchor="ctr"/>
          <a:lstStyle/>
          <a:p>
            <a:pPr indent="0" marL="0">
              <a:buNone/>
            </a:pPr>
            <a:r>
              <a:rPr lang="en-US" sz="1600" b="1" dirty="0">
                <a:solidFill>
                  <a:srgbClr val="2B2320"/>
                </a:solidFill>
                <a:latin typeface="Cambria" pitchFamily="34" charset="0"/>
                <a:ea typeface="Cambria" pitchFamily="34" charset="-122"/>
                <a:cs typeface="Cambria" pitchFamily="34" charset="-120"/>
              </a:rPr>
              <a:t>Northeast India is landslide-prone</a:t>
            </a:r>
            <a:endParaRPr lang="en-US" sz="1600" dirty="0"/>
          </a:p>
        </p:txBody>
      </p:sp>
      <p:sp>
        <p:nvSpPr>
          <p:cNvPr id="7" name="Text 4"/>
          <p:cNvSpPr txBox="1"/>
          <p:nvPr/>
        </p:nvSpPr>
        <p:spPr>
          <a:xfrm>
            <a:off x="868680" y="2423160"/>
            <a:ext cx="4754880" cy="3383280"/>
          </a:xfrm>
          <a:prstGeom prst="rect">
            <a:avLst/>
          </a:prstGeom>
          <a:noFill/>
          <a:ln/>
        </p:spPr>
        <p:txBody>
          <a:bodyPr wrap="square" lIns="0" tIns="0" rIns="0" bIns="0" rtlCol="0" anchor="ctr"/>
          <a:lstStyle/>
          <a:p>
            <a:pPr marL="342900" indent="-342900">
              <a:lnSpc>
                <a:spcPct val="115000"/>
              </a:lnSpc>
              <a:spcAft>
                <a:spcPts val="1000"/>
              </a:spcAft>
              <a:buSzPct val="100000"/>
              <a:buChar char="•"/>
            </a:pPr>
            <a:r>
              <a:rPr lang="en-US" sz="1400" dirty="0">
                <a:solidFill>
                  <a:srgbClr val="5C5450"/>
                </a:solidFill>
                <a:latin typeface="Calibri" pitchFamily="34" charset="0"/>
                <a:ea typeface="Calibri" pitchFamily="34" charset="-122"/>
                <a:cs typeface="Calibri" pitchFamily="34" charset="-120"/>
              </a:rPr>
              <a:t>8 states — Sikkim, Arunachal Pradesh, Assam, Meghalaya, Manipur, Mizoram, Nagaland, Tripura — sit across the Eastern Himalayas and Indo-Burma ranges.</a:t>
            </a:r>
            <a:endParaRPr lang="en-US" sz="1400" dirty="0"/>
          </a:p>
          <a:p>
            <a:pPr marL="342900" indent="-342900">
              <a:lnSpc>
                <a:spcPct val="115000"/>
              </a:lnSpc>
              <a:spcAft>
                <a:spcPts val="1000"/>
              </a:spcAft>
              <a:buSzPct val="100000"/>
              <a:buChar char="•"/>
            </a:pPr>
            <a:r>
              <a:rPr lang="en-US" sz="1400" dirty="0">
                <a:solidFill>
                  <a:srgbClr val="5C5450"/>
                </a:solidFill>
                <a:latin typeface="Calibri" pitchFamily="34" charset="0"/>
                <a:ea typeface="Calibri" pitchFamily="34" charset="-122"/>
                <a:cs typeface="Calibri" pitchFamily="34" charset="-120"/>
              </a:rPr>
              <a:t>255,000 km² of steep, seismically active, monsoon-soaked slopes.</a:t>
            </a:r>
            <a:endParaRPr lang="en-US" sz="1400" dirty="0"/>
          </a:p>
          <a:p>
            <a:pPr marL="342900" indent="-342900">
              <a:lnSpc>
                <a:spcPct val="115000"/>
              </a:lnSpc>
              <a:spcAft>
                <a:spcPts val="1000"/>
              </a:spcAft>
              <a:buSzPct val="100000"/>
              <a:buChar char="•"/>
            </a:pPr>
            <a:r>
              <a:rPr lang="en-US" sz="1400" dirty="0">
                <a:solidFill>
                  <a:srgbClr val="5C5450"/>
                </a:solidFill>
                <a:latin typeface="Calibri" pitchFamily="34" charset="0"/>
                <a:ea typeface="Calibri" pitchFamily="34" charset="-122"/>
                <a:cs typeface="Calibri" pitchFamily="34" charset="-120"/>
              </a:rPr>
              <a:t>Ground-truthing every slope with drones or boreholes is physically and financially impossible at this scale.</a:t>
            </a:r>
            <a:endParaRPr lang="en-US" sz="1400" dirty="0"/>
          </a:p>
        </p:txBody>
      </p:sp>
      <p:sp>
        <p:nvSpPr>
          <p:cNvPr id="8" name="Shape 5"/>
          <p:cNvSpPr/>
          <p:nvPr/>
        </p:nvSpPr>
        <p:spPr>
          <a:xfrm>
            <a:off x="6172200" y="1371600"/>
            <a:ext cx="5468112" cy="4663440"/>
          </a:xfrm>
          <a:prstGeom prst="roundRect">
            <a:avLst>
              <a:gd name="adj" fmla="val 1569"/>
            </a:avLst>
          </a:prstGeom>
          <a:solidFill>
            <a:srgbClr val="F4F1EC"/>
          </a:solidFill>
          <a:ln/>
        </p:spPr>
      </p:sp>
      <p:sp>
        <p:nvSpPr>
          <p:cNvPr id="9" name="Shape 6"/>
          <p:cNvSpPr/>
          <p:nvPr/>
        </p:nvSpPr>
        <p:spPr>
          <a:xfrm>
            <a:off x="6492240" y="1691640"/>
            <a:ext cx="594360" cy="594360"/>
          </a:xfrm>
          <a:prstGeom prst="ellipse">
            <a:avLst/>
          </a:prstGeom>
          <a:solidFill>
            <a:srgbClr val="8C3A30"/>
          </a:solidFill>
          <a:ln/>
        </p:spPr>
      </p:sp>
      <p:pic>
        <p:nvPicPr>
          <p:cNvPr id="10" name="Image 1" descr="assets/triangleExclamation_white.png">    </p:cNvPr>
          <p:cNvPicPr>
            <a:picLocks noChangeAspect="1"/>
          </p:cNvPicPr>
          <p:nvPr/>
        </p:nvPicPr>
        <p:blipFill>
          <a:blip r:embed="rId2"/>
          <a:stretch>
            <a:fillRect/>
          </a:stretch>
        </p:blipFill>
        <p:spPr>
          <a:xfrm>
            <a:off x="6646774" y="1846174"/>
            <a:ext cx="285293" cy="285293"/>
          </a:xfrm>
          <a:prstGeom prst="rect">
            <a:avLst/>
          </a:prstGeom>
        </p:spPr>
      </p:pic>
      <p:sp>
        <p:nvSpPr>
          <p:cNvPr id="11" name="Text 7"/>
          <p:cNvSpPr txBox="1"/>
          <p:nvPr/>
        </p:nvSpPr>
        <p:spPr>
          <a:xfrm>
            <a:off x="7223760" y="1737360"/>
            <a:ext cx="4114800" cy="548640"/>
          </a:xfrm>
          <a:prstGeom prst="rect">
            <a:avLst/>
          </a:prstGeom>
          <a:noFill/>
          <a:ln/>
        </p:spPr>
        <p:txBody>
          <a:bodyPr wrap="square" lIns="0" tIns="0" rIns="0" bIns="0" rtlCol="0" anchor="ctr"/>
          <a:lstStyle/>
          <a:p>
            <a:pPr indent="0" marL="0">
              <a:buNone/>
            </a:pPr>
            <a:r>
              <a:rPr lang="en-US" sz="1600" b="1" dirty="0">
                <a:solidFill>
                  <a:srgbClr val="2B2320"/>
                </a:solidFill>
                <a:latin typeface="Cambria" pitchFamily="34" charset="0"/>
                <a:ea typeface="Cambria" pitchFamily="34" charset="-122"/>
                <a:cs typeface="Cambria" pitchFamily="34" charset="-120"/>
              </a:rPr>
              <a:t>Existing ML models have a hidden flaw</a:t>
            </a:r>
            <a:endParaRPr lang="en-US" sz="1600" dirty="0"/>
          </a:p>
        </p:txBody>
      </p:sp>
      <p:sp>
        <p:nvSpPr>
          <p:cNvPr id="12" name="Text 8"/>
          <p:cNvSpPr txBox="1"/>
          <p:nvPr/>
        </p:nvSpPr>
        <p:spPr>
          <a:xfrm>
            <a:off x="7223760" y="2423160"/>
            <a:ext cx="4251960" cy="3383280"/>
          </a:xfrm>
          <a:prstGeom prst="rect">
            <a:avLst/>
          </a:prstGeom>
          <a:noFill/>
          <a:ln/>
        </p:spPr>
        <p:txBody>
          <a:bodyPr wrap="square" lIns="0" tIns="0" rIns="0" bIns="0" rtlCol="0" anchor="ctr"/>
          <a:lstStyle/>
          <a:p>
            <a:pPr marL="342900" indent="-342900">
              <a:lnSpc>
                <a:spcPct val="115000"/>
              </a:lnSpc>
              <a:spcAft>
                <a:spcPts val="1000"/>
              </a:spcAft>
              <a:buSzPct val="100000"/>
              <a:buChar char="•"/>
            </a:pPr>
            <a:r>
              <a:rPr lang="en-US" sz="1400" dirty="0">
                <a:solidFill>
                  <a:srgbClr val="5C5450"/>
                </a:solidFill>
                <a:latin typeface="Calibri" pitchFamily="34" charset="0"/>
                <a:ea typeface="Calibri" pitchFamily="34" charset="-122"/>
                <a:cs typeface="Calibri" pitchFamily="34" charset="-120"/>
              </a:rPr>
              <a:t>Labels are often generated from the same analytical formula used as input features — this is called circular label leakage.</a:t>
            </a:r>
            <a:endParaRPr lang="en-US" sz="1400" dirty="0"/>
          </a:p>
          <a:p>
            <a:pPr marL="342900" indent="-342900">
              <a:lnSpc>
                <a:spcPct val="115000"/>
              </a:lnSpc>
              <a:spcAft>
                <a:spcPts val="1000"/>
              </a:spcAft>
              <a:buSzPct val="100000"/>
              <a:buChar char="•"/>
            </a:pPr>
            <a:r>
              <a:rPr lang="en-US" sz="1400" dirty="0">
                <a:solidFill>
                  <a:srgbClr val="5C5450"/>
                </a:solidFill>
                <a:latin typeface="Calibri" pitchFamily="34" charset="0"/>
                <a:ea typeface="Calibri" pitchFamily="34" charset="-122"/>
                <a:cs typeface="Calibri" pitchFamily="34" charset="-120"/>
              </a:rPr>
              <a:t>Result: models report an artificial AUC of 1.0 — perfect on paper, meaningless in the field.</a:t>
            </a:r>
            <a:endParaRPr lang="en-US" sz="1400" dirty="0"/>
          </a:p>
          <a:p>
            <a:pPr marL="342900" indent="-342900">
              <a:lnSpc>
                <a:spcPct val="115000"/>
              </a:lnSpc>
              <a:spcAft>
                <a:spcPts val="1000"/>
              </a:spcAft>
              <a:buSzPct val="100000"/>
              <a:buChar char="•"/>
            </a:pPr>
            <a:r>
              <a:rPr lang="en-US" sz="1400" dirty="0">
                <a:solidFill>
                  <a:srgbClr val="5C5450"/>
                </a:solidFill>
                <a:latin typeface="Calibri" pitchFamily="34" charset="0"/>
                <a:ea typeface="Calibri" pitchFamily="34" charset="-122"/>
                <a:cs typeface="Calibri" pitchFamily="34" charset="-120"/>
              </a:rPr>
              <a:t>Many prototypes also train on synthetic, simulated inputs instead of real satellite or ground data.</a:t>
            </a:r>
            <a:endParaRPr lang="en-US" sz="1400" dirty="0"/>
          </a:p>
        </p:txBody>
      </p:sp>
      <p:sp>
        <p:nvSpPr>
          <p:cNvPr id="13" name="Text 9"/>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14" name="Text 10"/>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B2320"/>
        </a:solidFill>
      </p:bgPr>
    </p:bg>
    <p:spTree>
      <p:nvGrpSpPr>
        <p:cNvPr id="1" name=""/>
        <p:cNvGrpSpPr/>
        <p:nvPr/>
      </p:nvGrpSpPr>
      <p:grpSpPr>
        <a:xfrm>
          <a:off x="0" y="0"/>
          <a:ext cx="0" cy="0"/>
          <a:chOff x="0" y="0"/>
          <a:chExt cx="0" cy="0"/>
        </a:xfrm>
      </p:grpSpPr>
      <p:sp>
        <p:nvSpPr>
          <p:cNvPr id="2" name="Text 0"/>
          <p:cNvSpPr txBox="1"/>
          <p:nvPr/>
        </p:nvSpPr>
        <p:spPr>
          <a:xfrm>
            <a:off x="548640" y="457200"/>
            <a:ext cx="100584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Why This Matters for SIH 2026</a:t>
            </a:r>
            <a:endParaRPr lang="en-US" sz="3000" dirty="0"/>
          </a:p>
        </p:txBody>
      </p:sp>
      <p:sp>
        <p:nvSpPr>
          <p:cNvPr id="3" name="Shape 1"/>
          <p:cNvSpPr/>
          <p:nvPr/>
        </p:nvSpPr>
        <p:spPr>
          <a:xfrm>
            <a:off x="548640" y="1609344"/>
            <a:ext cx="54864" cy="502920"/>
          </a:xfrm>
          <a:prstGeom prst="rect">
            <a:avLst/>
          </a:prstGeom>
          <a:solidFill>
            <a:srgbClr val="B85042"/>
          </a:solidFill>
          <a:ln/>
        </p:spPr>
      </p:sp>
      <p:sp>
        <p:nvSpPr>
          <p:cNvPr id="4" name="Text 2"/>
          <p:cNvSpPr txBox="1"/>
          <p:nvPr/>
        </p:nvSpPr>
        <p:spPr>
          <a:xfrm>
            <a:off x="777240" y="1554480"/>
            <a:ext cx="2743200" cy="548640"/>
          </a:xfrm>
          <a:prstGeom prst="rect">
            <a:avLst/>
          </a:prstGeom>
          <a:noFill/>
          <a:ln/>
        </p:spPr>
        <p:txBody>
          <a:bodyPr wrap="square" lIns="0" tIns="0" rIns="0" bIns="0" rtlCol="0" anchor="ctr"/>
          <a:lstStyle/>
          <a:p>
            <a:pPr indent="0" marL="0">
              <a:buNone/>
            </a:pPr>
            <a:r>
              <a:rPr lang="en-US" sz="1100" b="1" dirty="0">
                <a:solidFill>
                  <a:srgbClr val="A7BEAE"/>
                </a:solidFill>
                <a:latin typeface="Calibri" pitchFamily="34" charset="0"/>
                <a:ea typeface="Calibri" pitchFamily="34" charset="-122"/>
                <a:cs typeface="Calibri" pitchFamily="34" charset="-120"/>
              </a:rPr>
              <a:t>PROBLEM STATEMENT</a:t>
            </a:r>
            <a:endParaRPr lang="en-US" sz="1100" dirty="0"/>
          </a:p>
        </p:txBody>
      </p:sp>
      <p:sp>
        <p:nvSpPr>
          <p:cNvPr id="5" name="Text 3"/>
          <p:cNvSpPr txBox="1"/>
          <p:nvPr/>
        </p:nvSpPr>
        <p:spPr>
          <a:xfrm>
            <a:off x="3657600" y="1554480"/>
            <a:ext cx="7863840" cy="5486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PS ID 26001</a:t>
            </a:r>
            <a:endParaRPr lang="en-US" sz="1500" dirty="0"/>
          </a:p>
        </p:txBody>
      </p:sp>
      <p:sp>
        <p:nvSpPr>
          <p:cNvPr id="6" name="Shape 4"/>
          <p:cNvSpPr/>
          <p:nvPr/>
        </p:nvSpPr>
        <p:spPr>
          <a:xfrm>
            <a:off x="548640" y="2386584"/>
            <a:ext cx="54864" cy="502920"/>
          </a:xfrm>
          <a:prstGeom prst="rect">
            <a:avLst/>
          </a:prstGeom>
          <a:solidFill>
            <a:srgbClr val="B85042"/>
          </a:solidFill>
          <a:ln/>
        </p:spPr>
      </p:sp>
      <p:sp>
        <p:nvSpPr>
          <p:cNvPr id="7" name="Text 5"/>
          <p:cNvSpPr txBox="1"/>
          <p:nvPr/>
        </p:nvSpPr>
        <p:spPr>
          <a:xfrm>
            <a:off x="777240" y="2331720"/>
            <a:ext cx="2743200" cy="548640"/>
          </a:xfrm>
          <a:prstGeom prst="rect">
            <a:avLst/>
          </a:prstGeom>
          <a:noFill/>
          <a:ln/>
        </p:spPr>
        <p:txBody>
          <a:bodyPr wrap="square" lIns="0" tIns="0" rIns="0" bIns="0" rtlCol="0" anchor="ctr"/>
          <a:lstStyle/>
          <a:p>
            <a:pPr indent="0" marL="0">
              <a:buNone/>
            </a:pPr>
            <a:r>
              <a:rPr lang="en-US" sz="1100" b="1" dirty="0">
                <a:solidFill>
                  <a:srgbClr val="A7BEAE"/>
                </a:solidFill>
                <a:latin typeface="Calibri" pitchFamily="34" charset="0"/>
                <a:ea typeface="Calibri" pitchFamily="34" charset="-122"/>
                <a:cs typeface="Calibri" pitchFamily="34" charset="-120"/>
              </a:rPr>
              <a:t>THEME</a:t>
            </a:r>
            <a:endParaRPr lang="en-US" sz="1100" dirty="0"/>
          </a:p>
        </p:txBody>
      </p:sp>
      <p:sp>
        <p:nvSpPr>
          <p:cNvPr id="8" name="Text 6"/>
          <p:cNvSpPr txBox="1"/>
          <p:nvPr/>
        </p:nvSpPr>
        <p:spPr>
          <a:xfrm>
            <a:off x="3657600" y="2331720"/>
            <a:ext cx="7863840" cy="5486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Disaster Management</a:t>
            </a:r>
            <a:endParaRPr lang="en-US" sz="1500" dirty="0"/>
          </a:p>
        </p:txBody>
      </p:sp>
      <p:sp>
        <p:nvSpPr>
          <p:cNvPr id="9" name="Shape 7"/>
          <p:cNvSpPr/>
          <p:nvPr/>
        </p:nvSpPr>
        <p:spPr>
          <a:xfrm>
            <a:off x="548640" y="3163824"/>
            <a:ext cx="54864" cy="502920"/>
          </a:xfrm>
          <a:prstGeom prst="rect">
            <a:avLst/>
          </a:prstGeom>
          <a:solidFill>
            <a:srgbClr val="B85042"/>
          </a:solidFill>
          <a:ln/>
        </p:spPr>
      </p:sp>
      <p:sp>
        <p:nvSpPr>
          <p:cNvPr id="10" name="Text 8"/>
          <p:cNvSpPr txBox="1"/>
          <p:nvPr/>
        </p:nvSpPr>
        <p:spPr>
          <a:xfrm>
            <a:off x="777240" y="3108960"/>
            <a:ext cx="2743200" cy="548640"/>
          </a:xfrm>
          <a:prstGeom prst="rect">
            <a:avLst/>
          </a:prstGeom>
          <a:noFill/>
          <a:ln/>
        </p:spPr>
        <p:txBody>
          <a:bodyPr wrap="square" lIns="0" tIns="0" rIns="0" bIns="0" rtlCol="0" anchor="ctr"/>
          <a:lstStyle/>
          <a:p>
            <a:pPr indent="0" marL="0">
              <a:buNone/>
            </a:pPr>
            <a:r>
              <a:rPr lang="en-US" sz="1100" b="1" dirty="0">
                <a:solidFill>
                  <a:srgbClr val="A7BEAE"/>
                </a:solidFill>
                <a:latin typeface="Calibri" pitchFamily="34" charset="0"/>
                <a:ea typeface="Calibri" pitchFamily="34" charset="-122"/>
                <a:cs typeface="Calibri" pitchFamily="34" charset="-120"/>
              </a:rPr>
              <a:t>ORGANIZATION</a:t>
            </a:r>
            <a:endParaRPr lang="en-US" sz="1100" dirty="0"/>
          </a:p>
        </p:txBody>
      </p:sp>
      <p:sp>
        <p:nvSpPr>
          <p:cNvPr id="11" name="Text 9"/>
          <p:cNvSpPr txBox="1"/>
          <p:nvPr/>
        </p:nvSpPr>
        <p:spPr>
          <a:xfrm>
            <a:off x="3657600" y="3108960"/>
            <a:ext cx="7863840" cy="5486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Ministry of Development of North Eastern Region (MDoNER)</a:t>
            </a:r>
            <a:endParaRPr lang="en-US" sz="1500" dirty="0"/>
          </a:p>
        </p:txBody>
      </p:sp>
      <p:sp>
        <p:nvSpPr>
          <p:cNvPr id="12" name="Shape 10"/>
          <p:cNvSpPr/>
          <p:nvPr/>
        </p:nvSpPr>
        <p:spPr>
          <a:xfrm>
            <a:off x="548640" y="3941064"/>
            <a:ext cx="54864" cy="502920"/>
          </a:xfrm>
          <a:prstGeom prst="rect">
            <a:avLst/>
          </a:prstGeom>
          <a:solidFill>
            <a:srgbClr val="B85042"/>
          </a:solidFill>
          <a:ln/>
        </p:spPr>
      </p:sp>
      <p:sp>
        <p:nvSpPr>
          <p:cNvPr id="13" name="Text 11"/>
          <p:cNvSpPr txBox="1"/>
          <p:nvPr/>
        </p:nvSpPr>
        <p:spPr>
          <a:xfrm>
            <a:off x="777240" y="3886200"/>
            <a:ext cx="2743200" cy="548640"/>
          </a:xfrm>
          <a:prstGeom prst="rect">
            <a:avLst/>
          </a:prstGeom>
          <a:noFill/>
          <a:ln/>
        </p:spPr>
        <p:txBody>
          <a:bodyPr wrap="square" lIns="0" tIns="0" rIns="0" bIns="0" rtlCol="0" anchor="ctr"/>
          <a:lstStyle/>
          <a:p>
            <a:pPr indent="0" marL="0">
              <a:buNone/>
            </a:pPr>
            <a:r>
              <a:rPr lang="en-US" sz="1100" b="1" dirty="0">
                <a:solidFill>
                  <a:srgbClr val="A7BEAE"/>
                </a:solidFill>
                <a:latin typeface="Calibri" pitchFamily="34" charset="0"/>
                <a:ea typeface="Calibri" pitchFamily="34" charset="-122"/>
                <a:cs typeface="Calibri" pitchFamily="34" charset="-120"/>
              </a:rPr>
              <a:t>CATEGORY</a:t>
            </a:r>
            <a:endParaRPr lang="en-US" sz="1100" dirty="0"/>
          </a:p>
        </p:txBody>
      </p:sp>
      <p:sp>
        <p:nvSpPr>
          <p:cNvPr id="14" name="Text 12"/>
          <p:cNvSpPr txBox="1"/>
          <p:nvPr/>
        </p:nvSpPr>
        <p:spPr>
          <a:xfrm>
            <a:off x="3657600" y="3886200"/>
            <a:ext cx="7863840" cy="5486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Software</a:t>
            </a:r>
            <a:endParaRPr lang="en-US" sz="1500" dirty="0"/>
          </a:p>
        </p:txBody>
      </p:sp>
      <p:sp>
        <p:nvSpPr>
          <p:cNvPr id="15" name="Shape 13"/>
          <p:cNvSpPr/>
          <p:nvPr/>
        </p:nvSpPr>
        <p:spPr>
          <a:xfrm>
            <a:off x="548640" y="4718304"/>
            <a:ext cx="54864" cy="502920"/>
          </a:xfrm>
          <a:prstGeom prst="rect">
            <a:avLst/>
          </a:prstGeom>
          <a:solidFill>
            <a:srgbClr val="B85042"/>
          </a:solidFill>
          <a:ln/>
        </p:spPr>
      </p:sp>
      <p:sp>
        <p:nvSpPr>
          <p:cNvPr id="16" name="Text 14"/>
          <p:cNvSpPr txBox="1"/>
          <p:nvPr/>
        </p:nvSpPr>
        <p:spPr>
          <a:xfrm>
            <a:off x="777240" y="4663440"/>
            <a:ext cx="2743200" cy="548640"/>
          </a:xfrm>
          <a:prstGeom prst="rect">
            <a:avLst/>
          </a:prstGeom>
          <a:noFill/>
          <a:ln/>
        </p:spPr>
        <p:txBody>
          <a:bodyPr wrap="square" lIns="0" tIns="0" rIns="0" bIns="0" rtlCol="0" anchor="ctr"/>
          <a:lstStyle/>
          <a:p>
            <a:pPr indent="0" marL="0">
              <a:buNone/>
            </a:pPr>
            <a:r>
              <a:rPr lang="en-US" sz="1100" b="1" dirty="0">
                <a:solidFill>
                  <a:srgbClr val="A7BEAE"/>
                </a:solidFill>
                <a:latin typeface="Calibri" pitchFamily="34" charset="0"/>
                <a:ea typeface="Calibri" pitchFamily="34" charset="-122"/>
                <a:cs typeface="Calibri" pitchFamily="34" charset="-120"/>
              </a:rPr>
              <a:t>MANDATE</a:t>
            </a:r>
            <a:endParaRPr lang="en-US" sz="1100" dirty="0"/>
          </a:p>
        </p:txBody>
      </p:sp>
      <p:sp>
        <p:nvSpPr>
          <p:cNvPr id="17" name="Text 15"/>
          <p:cNvSpPr txBox="1"/>
          <p:nvPr/>
        </p:nvSpPr>
        <p:spPr>
          <a:xfrm>
            <a:off x="3657600" y="4663440"/>
            <a:ext cx="7863840" cy="5486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"AI-Based Early Warning and Landslide Risk Monitoring System in NER"</a:t>
            </a:r>
            <a:endParaRPr lang="en-US" sz="1500" dirty="0"/>
          </a:p>
        </p:txBody>
      </p:sp>
      <p:sp>
        <p:nvSpPr>
          <p:cNvPr id="18" name="Text 16"/>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C9BEB8"/>
                </a:solidFill>
                <a:latin typeface="Calibri" pitchFamily="34" charset="0"/>
                <a:ea typeface="Calibri" pitchFamily="34" charset="-122"/>
                <a:cs typeface="Calibri" pitchFamily="34" charset="-120"/>
              </a:rPr>
              <a:t>LITHOS — Smart India Hackathon 2026</a:t>
            </a:r>
            <a:endParaRPr lang="en-US" sz="1000" dirty="0"/>
          </a:p>
        </p:txBody>
      </p:sp>
      <p:sp>
        <p:nvSpPr>
          <p:cNvPr id="19" name="Text 17"/>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C9BEB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2B2320"/>
                </a:solidFill>
                <a:latin typeface="Cambria" pitchFamily="34" charset="0"/>
                <a:ea typeface="Cambria" pitchFamily="34" charset="-122"/>
                <a:cs typeface="Cambria" pitchFamily="34" charset="-120"/>
              </a:rPr>
              <a:t>Our Solution: LITHOS</a:t>
            </a:r>
            <a:endParaRPr lang="en-US" sz="3200" dirty="0"/>
          </a:p>
        </p:txBody>
      </p:sp>
      <p:sp>
        <p:nvSpPr>
          <p:cNvPr id="3" name="Text 1"/>
          <p:cNvSpPr txBox="1"/>
          <p:nvPr/>
        </p:nvSpPr>
        <p:spPr>
          <a:xfrm>
            <a:off x="548640" y="1051560"/>
            <a:ext cx="9144000" cy="365760"/>
          </a:xfrm>
          <a:prstGeom prst="rect">
            <a:avLst/>
          </a:prstGeom>
          <a:noFill/>
          <a:ln/>
        </p:spPr>
        <p:txBody>
          <a:bodyPr wrap="square" lIns="0" tIns="0" rIns="0" bIns="0" rtlCol="0" anchor="ctr"/>
          <a:lstStyle/>
          <a:p>
            <a:pPr indent="0" marL="0">
              <a:buNone/>
            </a:pPr>
            <a:r>
              <a:rPr lang="en-US" sz="1500" i="1" dirty="0">
                <a:solidFill>
                  <a:srgbClr val="5C5450"/>
                </a:solidFill>
                <a:latin typeface="Calibri" pitchFamily="34" charset="0"/>
                <a:ea typeface="Calibri" pitchFamily="34" charset="-122"/>
                <a:cs typeface="Calibri" pitchFamily="34" charset="-120"/>
              </a:rPr>
              <a:t>An end-to-end, physics-grounded terrain intelligence platform</a:t>
            </a:r>
            <a:endParaRPr lang="en-US" sz="1500" dirty="0"/>
          </a:p>
        </p:txBody>
      </p:sp>
      <p:sp>
        <p:nvSpPr>
          <p:cNvPr id="4" name="Shape 2"/>
          <p:cNvSpPr/>
          <p:nvPr/>
        </p:nvSpPr>
        <p:spPr>
          <a:xfrm>
            <a:off x="548640" y="1828800"/>
            <a:ext cx="2697480" cy="4114800"/>
          </a:xfrm>
          <a:prstGeom prst="roundRect">
            <a:avLst>
              <a:gd name="adj" fmla="val 2712"/>
            </a:avLst>
          </a:prstGeom>
          <a:solidFill>
            <a:srgbClr val="F4F1EC"/>
          </a:solidFill>
          <a:ln/>
        </p:spPr>
      </p:sp>
      <p:sp>
        <p:nvSpPr>
          <p:cNvPr id="5" name="Shape 3"/>
          <p:cNvSpPr/>
          <p:nvPr/>
        </p:nvSpPr>
        <p:spPr>
          <a:xfrm>
            <a:off x="1531620" y="2194560"/>
            <a:ext cx="731520" cy="731520"/>
          </a:xfrm>
          <a:prstGeom prst="ellipse">
            <a:avLst/>
          </a:prstGeom>
          <a:solidFill>
            <a:srgbClr val="B85042"/>
          </a:solidFill>
          <a:ln/>
        </p:spPr>
      </p:sp>
      <p:pic>
        <p:nvPicPr>
          <p:cNvPr id="6" name="Image 0" descr="assets/flask_white.png">    </p:cNvPr>
          <p:cNvPicPr>
            <a:picLocks noChangeAspect="1"/>
          </p:cNvPicPr>
          <p:nvPr/>
        </p:nvPicPr>
        <p:blipFill>
          <a:blip r:embed="rId1"/>
          <a:stretch>
            <a:fillRect/>
          </a:stretch>
        </p:blipFill>
        <p:spPr>
          <a:xfrm>
            <a:off x="1721815" y="2384755"/>
            <a:ext cx="351130" cy="351130"/>
          </a:xfrm>
          <a:prstGeom prst="rect">
            <a:avLst/>
          </a:prstGeom>
        </p:spPr>
      </p:pic>
      <p:sp>
        <p:nvSpPr>
          <p:cNvPr id="7" name="Text 4"/>
          <p:cNvSpPr txBox="1"/>
          <p:nvPr/>
        </p:nvSpPr>
        <p:spPr>
          <a:xfrm>
            <a:off x="731520" y="3200400"/>
            <a:ext cx="2331720" cy="731520"/>
          </a:xfrm>
          <a:prstGeom prst="rect">
            <a:avLst/>
          </a:prstGeom>
          <a:noFill/>
          <a:ln/>
        </p:spPr>
        <p:txBody>
          <a:bodyPr wrap="square" lIns="0" tIns="0" rIns="0" bIns="0" rtlCol="0" anchor="ctr"/>
          <a:lstStyle/>
          <a:p>
            <a:pPr algn="ctr" indent="0" marL="0">
              <a:buNone/>
            </a:pPr>
            <a:r>
              <a:rPr lang="en-US" sz="1500" b="1" dirty="0">
                <a:solidFill>
                  <a:srgbClr val="2B2320"/>
                </a:solidFill>
                <a:latin typeface="Cambria" pitchFamily="34" charset="0"/>
                <a:ea typeface="Cambria" pitchFamily="34" charset="-122"/>
                <a:cs typeface="Cambria" pitchFamily="34" charset="-120"/>
              </a:rPr>
              <a:t>Physics + AI, together</a:t>
            </a:r>
            <a:endParaRPr lang="en-US" sz="1500" dirty="0"/>
          </a:p>
        </p:txBody>
      </p:sp>
      <p:sp>
        <p:nvSpPr>
          <p:cNvPr id="8" name="Text 5"/>
          <p:cNvSpPr txBox="1"/>
          <p:nvPr/>
        </p:nvSpPr>
        <p:spPr>
          <a:xfrm>
            <a:off x="777240" y="3977640"/>
            <a:ext cx="2240280" cy="1828800"/>
          </a:xfrm>
          <a:prstGeom prst="rect">
            <a:avLst/>
          </a:prstGeom>
          <a:noFill/>
          <a:ln/>
        </p:spPr>
        <p:txBody>
          <a:bodyPr wrap="square" lIns="0" tIns="0" rIns="0" bIns="0" rtlCol="0" anchor="ctr"/>
          <a:lstStyle/>
          <a:p>
            <a:pPr algn="ctr" indent="0" marL="0">
              <a:lnSpc>
                <a:spcPct val="115000"/>
              </a:lnSpc>
              <a:buNone/>
            </a:pPr>
            <a:r>
              <a:rPr lang="en-US" sz="1250" dirty="0">
                <a:solidFill>
                  <a:srgbClr val="5C5450"/>
                </a:solidFill>
                <a:latin typeface="Calibri" pitchFamily="34" charset="0"/>
                <a:ea typeface="Calibri" pitchFamily="34" charset="-122"/>
                <a:cs typeface="Calibri" pitchFamily="34" charset="-120"/>
              </a:rPr>
              <a:t>A neural network guided by real geomechanical laws — not just pattern-matching.</a:t>
            </a:r>
            <a:endParaRPr lang="en-US" sz="1250" dirty="0"/>
          </a:p>
        </p:txBody>
      </p:sp>
      <p:sp>
        <p:nvSpPr>
          <p:cNvPr id="9" name="Shape 6"/>
          <p:cNvSpPr/>
          <p:nvPr/>
        </p:nvSpPr>
        <p:spPr>
          <a:xfrm>
            <a:off x="3429000" y="1828800"/>
            <a:ext cx="2697480" cy="4114800"/>
          </a:xfrm>
          <a:prstGeom prst="roundRect">
            <a:avLst>
              <a:gd name="adj" fmla="val 2712"/>
            </a:avLst>
          </a:prstGeom>
          <a:solidFill>
            <a:srgbClr val="EFE9E1"/>
          </a:solidFill>
          <a:ln/>
        </p:spPr>
      </p:sp>
      <p:sp>
        <p:nvSpPr>
          <p:cNvPr id="10" name="Shape 7"/>
          <p:cNvSpPr/>
          <p:nvPr/>
        </p:nvSpPr>
        <p:spPr>
          <a:xfrm>
            <a:off x="4411980" y="2194560"/>
            <a:ext cx="731520" cy="731520"/>
          </a:xfrm>
          <a:prstGeom prst="ellipse">
            <a:avLst/>
          </a:prstGeom>
          <a:solidFill>
            <a:srgbClr val="B85042"/>
          </a:solidFill>
          <a:ln/>
        </p:spPr>
      </p:sp>
      <p:pic>
        <p:nvPicPr>
          <p:cNvPr id="11" name="Image 1" descr="assets/checkCircle_white.png">    </p:cNvPr>
          <p:cNvPicPr>
            <a:picLocks noChangeAspect="1"/>
          </p:cNvPicPr>
          <p:nvPr/>
        </p:nvPicPr>
        <p:blipFill>
          <a:blip r:embed="rId2"/>
          <a:stretch>
            <a:fillRect/>
          </a:stretch>
        </p:blipFill>
        <p:spPr>
          <a:xfrm>
            <a:off x="4602175" y="2384755"/>
            <a:ext cx="351130" cy="351130"/>
          </a:xfrm>
          <a:prstGeom prst="rect">
            <a:avLst/>
          </a:prstGeom>
        </p:spPr>
      </p:pic>
      <p:sp>
        <p:nvSpPr>
          <p:cNvPr id="12" name="Text 8"/>
          <p:cNvSpPr txBox="1"/>
          <p:nvPr/>
        </p:nvSpPr>
        <p:spPr>
          <a:xfrm>
            <a:off x="3611880" y="3200400"/>
            <a:ext cx="2331720" cy="731520"/>
          </a:xfrm>
          <a:prstGeom prst="rect">
            <a:avLst/>
          </a:prstGeom>
          <a:noFill/>
          <a:ln/>
        </p:spPr>
        <p:txBody>
          <a:bodyPr wrap="square" lIns="0" tIns="0" rIns="0" bIns="0" rtlCol="0" anchor="ctr"/>
          <a:lstStyle/>
          <a:p>
            <a:pPr algn="ctr" indent="0" marL="0">
              <a:buNone/>
            </a:pPr>
            <a:r>
              <a:rPr lang="en-US" sz="1500" b="1" dirty="0">
                <a:solidFill>
                  <a:srgbClr val="2B2320"/>
                </a:solidFill>
                <a:latin typeface="Cambria" pitchFamily="34" charset="0"/>
                <a:ea typeface="Cambria" pitchFamily="34" charset="-122"/>
                <a:cs typeface="Cambria" pitchFamily="34" charset="-120"/>
              </a:rPr>
              <a:t>Real ground truth</a:t>
            </a:r>
            <a:endParaRPr lang="en-US" sz="1500" dirty="0"/>
          </a:p>
        </p:txBody>
      </p:sp>
      <p:sp>
        <p:nvSpPr>
          <p:cNvPr id="13" name="Text 9"/>
          <p:cNvSpPr txBox="1"/>
          <p:nvPr/>
        </p:nvSpPr>
        <p:spPr>
          <a:xfrm>
            <a:off x="3657600" y="3977640"/>
            <a:ext cx="2240280" cy="1828800"/>
          </a:xfrm>
          <a:prstGeom prst="rect">
            <a:avLst/>
          </a:prstGeom>
          <a:noFill/>
          <a:ln/>
        </p:spPr>
        <p:txBody>
          <a:bodyPr wrap="square" lIns="0" tIns="0" rIns="0" bIns="0" rtlCol="0" anchor="ctr"/>
          <a:lstStyle/>
          <a:p>
            <a:pPr algn="ctr" indent="0" marL="0">
              <a:lnSpc>
                <a:spcPct val="115000"/>
              </a:lnSpc>
              <a:buNone/>
            </a:pPr>
            <a:r>
              <a:rPr lang="en-US" sz="1250" dirty="0">
                <a:solidFill>
                  <a:srgbClr val="5C5450"/>
                </a:solidFill>
                <a:latin typeface="Calibri" pitchFamily="34" charset="0"/>
                <a:ea typeface="Calibri" pitchFamily="34" charset="-122"/>
                <a:cs typeface="Calibri" pitchFamily="34" charset="-120"/>
              </a:rPr>
              <a:t>675+ verified historical landslide events (NASA GLC + GSI), no synthetic labels.</a:t>
            </a:r>
            <a:endParaRPr lang="en-US" sz="1250" dirty="0"/>
          </a:p>
        </p:txBody>
      </p:sp>
      <p:sp>
        <p:nvSpPr>
          <p:cNvPr id="14" name="Shape 10"/>
          <p:cNvSpPr/>
          <p:nvPr/>
        </p:nvSpPr>
        <p:spPr>
          <a:xfrm>
            <a:off x="6309360" y="1828800"/>
            <a:ext cx="2697480" cy="4114800"/>
          </a:xfrm>
          <a:prstGeom prst="roundRect">
            <a:avLst>
              <a:gd name="adj" fmla="val 2712"/>
            </a:avLst>
          </a:prstGeom>
          <a:solidFill>
            <a:srgbClr val="F4F1EC"/>
          </a:solidFill>
          <a:ln/>
        </p:spPr>
      </p:sp>
      <p:sp>
        <p:nvSpPr>
          <p:cNvPr id="15" name="Shape 11"/>
          <p:cNvSpPr/>
          <p:nvPr/>
        </p:nvSpPr>
        <p:spPr>
          <a:xfrm>
            <a:off x="7292340" y="2194560"/>
            <a:ext cx="731520" cy="731520"/>
          </a:xfrm>
          <a:prstGeom prst="ellipse">
            <a:avLst/>
          </a:prstGeom>
          <a:solidFill>
            <a:srgbClr val="B85042"/>
          </a:solidFill>
          <a:ln/>
        </p:spPr>
      </p:sp>
      <p:pic>
        <p:nvPicPr>
          <p:cNvPr id="16" name="Image 2" descr="assets/satellite_white.png">    </p:cNvPr>
          <p:cNvPicPr>
            <a:picLocks noChangeAspect="1"/>
          </p:cNvPicPr>
          <p:nvPr/>
        </p:nvPicPr>
        <p:blipFill>
          <a:blip r:embed="rId3"/>
          <a:stretch>
            <a:fillRect/>
          </a:stretch>
        </p:blipFill>
        <p:spPr>
          <a:xfrm>
            <a:off x="7482535" y="2384755"/>
            <a:ext cx="351130" cy="351130"/>
          </a:xfrm>
          <a:prstGeom prst="rect">
            <a:avLst/>
          </a:prstGeom>
        </p:spPr>
      </p:pic>
      <p:sp>
        <p:nvSpPr>
          <p:cNvPr id="17" name="Text 12"/>
          <p:cNvSpPr txBox="1"/>
          <p:nvPr/>
        </p:nvSpPr>
        <p:spPr>
          <a:xfrm>
            <a:off x="6492240" y="3200400"/>
            <a:ext cx="2331720" cy="731520"/>
          </a:xfrm>
          <a:prstGeom prst="rect">
            <a:avLst/>
          </a:prstGeom>
          <a:noFill/>
          <a:ln/>
        </p:spPr>
        <p:txBody>
          <a:bodyPr wrap="square" lIns="0" tIns="0" rIns="0" bIns="0" rtlCol="0" anchor="ctr"/>
          <a:lstStyle/>
          <a:p>
            <a:pPr algn="ctr" indent="0" marL="0">
              <a:buNone/>
            </a:pPr>
            <a:r>
              <a:rPr lang="en-US" sz="1500" b="1" dirty="0">
                <a:solidFill>
                  <a:srgbClr val="2B2320"/>
                </a:solidFill>
                <a:latin typeface="Cambria" pitchFamily="34" charset="0"/>
                <a:ea typeface="Cambria" pitchFamily="34" charset="-122"/>
                <a:cs typeface="Cambria" pitchFamily="34" charset="-120"/>
              </a:rPr>
              <a:t>100% real satellite data</a:t>
            </a:r>
            <a:endParaRPr lang="en-US" sz="1500" dirty="0"/>
          </a:p>
        </p:txBody>
      </p:sp>
      <p:sp>
        <p:nvSpPr>
          <p:cNvPr id="18" name="Text 13"/>
          <p:cNvSpPr txBox="1"/>
          <p:nvPr/>
        </p:nvSpPr>
        <p:spPr>
          <a:xfrm>
            <a:off x="6537960" y="3977640"/>
            <a:ext cx="2240280" cy="1828800"/>
          </a:xfrm>
          <a:prstGeom prst="rect">
            <a:avLst/>
          </a:prstGeom>
          <a:noFill/>
          <a:ln/>
        </p:spPr>
        <p:txBody>
          <a:bodyPr wrap="square" lIns="0" tIns="0" rIns="0" bIns="0" rtlCol="0" anchor="ctr"/>
          <a:lstStyle/>
          <a:p>
            <a:pPr algn="ctr" indent="0" marL="0">
              <a:lnSpc>
                <a:spcPct val="115000"/>
              </a:lnSpc>
              <a:buNone/>
            </a:pPr>
            <a:r>
              <a:rPr lang="en-US" sz="1250" dirty="0">
                <a:solidFill>
                  <a:srgbClr val="5C5450"/>
                </a:solidFill>
                <a:latin typeface="Calibri" pitchFamily="34" charset="0"/>
                <a:ea typeface="Calibri" pitchFamily="34" charset="-122"/>
                <a:cs typeface="Calibri" pitchFamily="34" charset="-120"/>
              </a:rPr>
              <a:t>Sentinel-2, CHIRPS/GPM, ERA5-Land, USGS PGA, ISRIC SoilGrids — no simulated inputs.</a:t>
            </a:r>
            <a:endParaRPr lang="en-US" sz="1250" dirty="0"/>
          </a:p>
        </p:txBody>
      </p:sp>
      <p:sp>
        <p:nvSpPr>
          <p:cNvPr id="19" name="Shape 14"/>
          <p:cNvSpPr/>
          <p:nvPr/>
        </p:nvSpPr>
        <p:spPr>
          <a:xfrm>
            <a:off x="9189720" y="1828800"/>
            <a:ext cx="2697480" cy="4114800"/>
          </a:xfrm>
          <a:prstGeom prst="roundRect">
            <a:avLst>
              <a:gd name="adj" fmla="val 2712"/>
            </a:avLst>
          </a:prstGeom>
          <a:solidFill>
            <a:srgbClr val="EFE9E1"/>
          </a:solidFill>
          <a:ln/>
        </p:spPr>
      </p:sp>
      <p:sp>
        <p:nvSpPr>
          <p:cNvPr id="20" name="Shape 15"/>
          <p:cNvSpPr/>
          <p:nvPr/>
        </p:nvSpPr>
        <p:spPr>
          <a:xfrm>
            <a:off x="10172700" y="2194560"/>
            <a:ext cx="731520" cy="731520"/>
          </a:xfrm>
          <a:prstGeom prst="ellipse">
            <a:avLst/>
          </a:prstGeom>
          <a:solidFill>
            <a:srgbClr val="B85042"/>
          </a:solidFill>
          <a:ln/>
        </p:spPr>
      </p:sp>
      <p:pic>
        <p:nvPicPr>
          <p:cNvPr id="21" name="Image 3" descr="assets/shieldHalved_white.png">    </p:cNvPr>
          <p:cNvPicPr>
            <a:picLocks noChangeAspect="1"/>
          </p:cNvPicPr>
          <p:nvPr/>
        </p:nvPicPr>
        <p:blipFill>
          <a:blip r:embed="rId4"/>
          <a:stretch>
            <a:fillRect/>
          </a:stretch>
        </p:blipFill>
        <p:spPr>
          <a:xfrm>
            <a:off x="10362895" y="2384755"/>
            <a:ext cx="351130" cy="351130"/>
          </a:xfrm>
          <a:prstGeom prst="rect">
            <a:avLst/>
          </a:prstGeom>
        </p:spPr>
      </p:pic>
      <p:sp>
        <p:nvSpPr>
          <p:cNvPr id="22" name="Text 16"/>
          <p:cNvSpPr txBox="1"/>
          <p:nvPr/>
        </p:nvSpPr>
        <p:spPr>
          <a:xfrm>
            <a:off x="9372600" y="3200400"/>
            <a:ext cx="2331720" cy="731520"/>
          </a:xfrm>
          <a:prstGeom prst="rect">
            <a:avLst/>
          </a:prstGeom>
          <a:noFill/>
          <a:ln/>
        </p:spPr>
        <p:txBody>
          <a:bodyPr wrap="square" lIns="0" tIns="0" rIns="0" bIns="0" rtlCol="0" anchor="ctr"/>
          <a:lstStyle/>
          <a:p>
            <a:pPr algn="ctr" indent="0" marL="0">
              <a:buNone/>
            </a:pPr>
            <a:r>
              <a:rPr lang="en-US" sz="1500" b="1" dirty="0">
                <a:solidFill>
                  <a:srgbClr val="2B2320"/>
                </a:solidFill>
                <a:latin typeface="Cambria" pitchFamily="34" charset="0"/>
                <a:ea typeface="Cambria" pitchFamily="34" charset="-122"/>
                <a:cs typeface="Cambria" pitchFamily="34" charset="-120"/>
              </a:rPr>
              <a:t>Actionable output</a:t>
            </a:r>
            <a:endParaRPr lang="en-US" sz="1500" dirty="0"/>
          </a:p>
        </p:txBody>
      </p:sp>
      <p:sp>
        <p:nvSpPr>
          <p:cNvPr id="23" name="Text 17"/>
          <p:cNvSpPr txBox="1"/>
          <p:nvPr/>
        </p:nvSpPr>
        <p:spPr>
          <a:xfrm>
            <a:off x="9418320" y="3977640"/>
            <a:ext cx="2240280" cy="1828800"/>
          </a:xfrm>
          <a:prstGeom prst="rect">
            <a:avLst/>
          </a:prstGeom>
          <a:noFill/>
          <a:ln/>
        </p:spPr>
        <p:txBody>
          <a:bodyPr wrap="square" lIns="0" tIns="0" rIns="0" bIns="0" rtlCol="0" anchor="ctr"/>
          <a:lstStyle/>
          <a:p>
            <a:pPr algn="ctr" indent="0" marL="0">
              <a:lnSpc>
                <a:spcPct val="115000"/>
              </a:lnSpc>
              <a:buNone/>
            </a:pPr>
            <a:r>
              <a:rPr lang="en-US" sz="1250" dirty="0">
                <a:solidFill>
                  <a:srgbClr val="5C5450"/>
                </a:solidFill>
                <a:latin typeface="Calibri" pitchFamily="34" charset="0"/>
                <a:ea typeface="Calibri" pitchFamily="34" charset="-122"/>
                <a:cs typeface="Calibri" pitchFamily="34" charset="-120"/>
              </a:rPr>
              <a:t>Automatic IS 14680:1999 remedial engineering recommendations, not just a risk score.</a:t>
            </a:r>
            <a:endParaRPr lang="en-US" sz="1250" dirty="0"/>
          </a:p>
        </p:txBody>
      </p:sp>
      <p:sp>
        <p:nvSpPr>
          <p:cNvPr id="24" name="Text 18"/>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25" name="Text 19"/>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59436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System Architecture: From Satellite to Safe Route</a:t>
            </a:r>
            <a:endParaRPr lang="en-US" sz="2700" dirty="0"/>
          </a:p>
        </p:txBody>
      </p:sp>
      <p:sp>
        <p:nvSpPr>
          <p:cNvPr id="3" name="Shape 1"/>
          <p:cNvSpPr/>
          <p:nvPr/>
        </p:nvSpPr>
        <p:spPr>
          <a:xfrm>
            <a:off x="548640" y="1417320"/>
            <a:ext cx="2606040" cy="4206240"/>
          </a:xfrm>
          <a:prstGeom prst="roundRect">
            <a:avLst>
              <a:gd name="adj" fmla="val 2807"/>
            </a:avLst>
          </a:prstGeom>
          <a:solidFill>
            <a:srgbClr val="F4F1EC"/>
          </a:solidFill>
          <a:ln/>
        </p:spPr>
      </p:sp>
      <p:sp>
        <p:nvSpPr>
          <p:cNvPr id="4" name="Shape 2"/>
          <p:cNvSpPr/>
          <p:nvPr/>
        </p:nvSpPr>
        <p:spPr>
          <a:xfrm>
            <a:off x="548640" y="1417320"/>
            <a:ext cx="2606040" cy="502920"/>
          </a:xfrm>
          <a:prstGeom prst="roundRect">
            <a:avLst>
              <a:gd name="adj" fmla="val 14545"/>
            </a:avLst>
          </a:prstGeom>
          <a:solidFill>
            <a:srgbClr val="4A5D5E"/>
          </a:solidFill>
          <a:ln/>
        </p:spPr>
      </p:sp>
      <p:sp>
        <p:nvSpPr>
          <p:cNvPr id="5" name="Shape 3"/>
          <p:cNvSpPr/>
          <p:nvPr/>
        </p:nvSpPr>
        <p:spPr>
          <a:xfrm>
            <a:off x="548640" y="1673352"/>
            <a:ext cx="2606040" cy="246888"/>
          </a:xfrm>
          <a:prstGeom prst="rect">
            <a:avLst/>
          </a:prstGeom>
          <a:solidFill>
            <a:srgbClr val="4A5D5E"/>
          </a:solidFill>
          <a:ln/>
        </p:spPr>
      </p:sp>
      <p:sp>
        <p:nvSpPr>
          <p:cNvPr id="6" name="Text 4"/>
          <p:cNvSpPr txBox="1"/>
          <p:nvPr/>
        </p:nvSpPr>
        <p:spPr>
          <a:xfrm>
            <a:off x="685800" y="1417320"/>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Data Ingestion</a:t>
            </a:r>
            <a:endParaRPr lang="en-US" sz="1400" dirty="0"/>
          </a:p>
        </p:txBody>
      </p:sp>
      <p:sp>
        <p:nvSpPr>
          <p:cNvPr id="7" name="Shape 5"/>
          <p:cNvSpPr/>
          <p:nvPr/>
        </p:nvSpPr>
        <p:spPr>
          <a:xfrm>
            <a:off x="1531620" y="2103120"/>
            <a:ext cx="640080" cy="640080"/>
          </a:xfrm>
          <a:prstGeom prst="ellipse">
            <a:avLst/>
          </a:prstGeom>
          <a:solidFill>
            <a:srgbClr val="FFFFFF"/>
          </a:solidFill>
          <a:ln/>
        </p:spPr>
      </p:sp>
      <p:pic>
        <p:nvPicPr>
          <p:cNvPr id="8" name="Image 0" descr="assets/satellite_4A5D5E.png">    </p:cNvPr>
          <p:cNvPicPr>
            <a:picLocks noChangeAspect="1"/>
          </p:cNvPicPr>
          <p:nvPr/>
        </p:nvPicPr>
        <p:blipFill>
          <a:blip r:embed="rId1"/>
          <a:stretch>
            <a:fillRect/>
          </a:stretch>
        </p:blipFill>
        <p:spPr>
          <a:xfrm>
            <a:off x="1698041" y="2269541"/>
            <a:ext cx="307238" cy="307238"/>
          </a:xfrm>
          <a:prstGeom prst="rect">
            <a:avLst/>
          </a:prstGeom>
        </p:spPr>
      </p:pic>
      <p:sp>
        <p:nvSpPr>
          <p:cNvPr id="9" name="Text 6"/>
          <p:cNvSpPr txBox="1"/>
          <p:nvPr/>
        </p:nvSpPr>
        <p:spPr>
          <a:xfrm>
            <a:off x="731520" y="2926080"/>
            <a:ext cx="2240280" cy="2560320"/>
          </a:xfrm>
          <a:prstGeom prst="rect">
            <a:avLst/>
          </a:prstGeom>
          <a:noFill/>
          <a:ln/>
        </p:spPr>
        <p:txBody>
          <a:bodyPr wrap="square" lIns="0" tIns="0" rIns="0" bIns="0" rtlCol="0" anchor="ctr"/>
          <a:lstStyle/>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SRTM DEM</a:t>
            </a:r>
            <a:endParaRPr lang="en-US" sz="1200" dirty="0"/>
          </a:p>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SoilGrids</a:t>
            </a:r>
            <a:endParaRPr lang="en-US" sz="1200" dirty="0"/>
          </a:p>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Sentinel-2</a:t>
            </a:r>
            <a:endParaRPr lang="en-US" sz="1200" dirty="0"/>
          </a:p>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CHIRPS/GPM</a:t>
            </a:r>
            <a:endParaRPr lang="en-US" sz="1200" dirty="0"/>
          </a:p>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ERA5-Land</a:t>
            </a:r>
            <a:endParaRPr lang="en-US" sz="1200" dirty="0"/>
          </a:p>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USGS PGA</a:t>
            </a:r>
            <a:endParaRPr lang="en-US" sz="1200" dirty="0"/>
          </a:p>
        </p:txBody>
      </p:sp>
      <p:sp>
        <p:nvSpPr>
          <p:cNvPr id="10" name="Shape 7"/>
          <p:cNvSpPr/>
          <p:nvPr/>
        </p:nvSpPr>
        <p:spPr>
          <a:xfrm>
            <a:off x="3136392" y="3319272"/>
            <a:ext cx="402336" cy="402336"/>
          </a:xfrm>
          <a:prstGeom prst="ellipse">
            <a:avLst/>
          </a:prstGeom>
          <a:solidFill>
            <a:srgbClr val="FFFFFF"/>
          </a:solidFill>
          <a:ln w="12700">
            <a:solidFill>
              <a:srgbClr val="D9D2C8"/>
            </a:solidFill>
            <a:prstDash val="solid"/>
          </a:ln>
        </p:spPr>
      </p:sp>
      <p:sp>
        <p:nvSpPr>
          <p:cNvPr id="11" name="Shape 8"/>
          <p:cNvSpPr/>
          <p:nvPr/>
        </p:nvSpPr>
        <p:spPr>
          <a:xfrm rot="5400000">
            <a:off x="3246120" y="3419856"/>
            <a:ext cx="201168" cy="201168"/>
          </a:xfrm>
          <a:prstGeom prst="triangle">
            <a:avLst/>
          </a:prstGeom>
          <a:solidFill>
            <a:srgbClr val="2B2320"/>
          </a:solidFill>
          <a:ln/>
        </p:spPr>
      </p:sp>
      <p:sp>
        <p:nvSpPr>
          <p:cNvPr id="12" name="Shape 9"/>
          <p:cNvSpPr/>
          <p:nvPr/>
        </p:nvSpPr>
        <p:spPr>
          <a:xfrm>
            <a:off x="3355848" y="1417320"/>
            <a:ext cx="2606040" cy="4206240"/>
          </a:xfrm>
          <a:prstGeom prst="roundRect">
            <a:avLst>
              <a:gd name="adj" fmla="val 2807"/>
            </a:avLst>
          </a:prstGeom>
          <a:solidFill>
            <a:srgbClr val="F4F1EC"/>
          </a:solidFill>
          <a:ln/>
        </p:spPr>
      </p:sp>
      <p:sp>
        <p:nvSpPr>
          <p:cNvPr id="13" name="Shape 10"/>
          <p:cNvSpPr/>
          <p:nvPr/>
        </p:nvSpPr>
        <p:spPr>
          <a:xfrm>
            <a:off x="3355848" y="1417320"/>
            <a:ext cx="2606040" cy="502920"/>
          </a:xfrm>
          <a:prstGeom prst="roundRect">
            <a:avLst>
              <a:gd name="adj" fmla="val 14545"/>
            </a:avLst>
          </a:prstGeom>
          <a:solidFill>
            <a:srgbClr val="D9A441"/>
          </a:solidFill>
          <a:ln/>
        </p:spPr>
      </p:sp>
      <p:sp>
        <p:nvSpPr>
          <p:cNvPr id="14" name="Shape 11"/>
          <p:cNvSpPr/>
          <p:nvPr/>
        </p:nvSpPr>
        <p:spPr>
          <a:xfrm>
            <a:off x="3355848" y="1673352"/>
            <a:ext cx="2606040" cy="246888"/>
          </a:xfrm>
          <a:prstGeom prst="rect">
            <a:avLst/>
          </a:prstGeom>
          <a:solidFill>
            <a:srgbClr val="D9A441"/>
          </a:solidFill>
          <a:ln/>
        </p:spPr>
      </p:sp>
      <p:sp>
        <p:nvSpPr>
          <p:cNvPr id="15" name="Text 12"/>
          <p:cNvSpPr txBox="1"/>
          <p:nvPr/>
        </p:nvSpPr>
        <p:spPr>
          <a:xfrm>
            <a:off x="3493008" y="1417320"/>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Slope Units</a:t>
            </a:r>
            <a:endParaRPr lang="en-US" sz="1400" dirty="0"/>
          </a:p>
        </p:txBody>
      </p:sp>
      <p:sp>
        <p:nvSpPr>
          <p:cNvPr id="16" name="Shape 13"/>
          <p:cNvSpPr/>
          <p:nvPr/>
        </p:nvSpPr>
        <p:spPr>
          <a:xfrm>
            <a:off x="4338828" y="2103120"/>
            <a:ext cx="640080" cy="640080"/>
          </a:xfrm>
          <a:prstGeom prst="ellipse">
            <a:avLst/>
          </a:prstGeom>
          <a:solidFill>
            <a:srgbClr val="FFFFFF"/>
          </a:solidFill>
          <a:ln/>
        </p:spPr>
      </p:sp>
      <p:pic>
        <p:nvPicPr>
          <p:cNvPr id="17" name="Image 1" descr="assets/layerGroup_D9A441.png">    </p:cNvPr>
          <p:cNvPicPr>
            <a:picLocks noChangeAspect="1"/>
          </p:cNvPicPr>
          <p:nvPr/>
        </p:nvPicPr>
        <p:blipFill>
          <a:blip r:embed="rId2"/>
          <a:stretch>
            <a:fillRect/>
          </a:stretch>
        </p:blipFill>
        <p:spPr>
          <a:xfrm>
            <a:off x="4505249" y="2269541"/>
            <a:ext cx="307238" cy="307238"/>
          </a:xfrm>
          <a:prstGeom prst="rect">
            <a:avLst/>
          </a:prstGeom>
        </p:spPr>
      </p:pic>
      <p:sp>
        <p:nvSpPr>
          <p:cNvPr id="18" name="Text 14"/>
          <p:cNvSpPr txBox="1"/>
          <p:nvPr/>
        </p:nvSpPr>
        <p:spPr>
          <a:xfrm>
            <a:off x="3538728" y="2926080"/>
            <a:ext cx="2240280" cy="2560320"/>
          </a:xfrm>
          <a:prstGeom prst="rect">
            <a:avLst/>
          </a:prstGeom>
          <a:noFill/>
          <a:ln/>
        </p:spPr>
        <p:txBody>
          <a:bodyPr wrap="square" lIns="0" tIns="0" rIns="0" bIns="0" rtlCol="0" anchor="ctr"/>
          <a:lstStyle/>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580,508 units</a:t>
            </a:r>
            <a:endParaRPr lang="en-US" sz="1200" dirty="0"/>
          </a:p>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8 NE states</a:t>
            </a:r>
            <a:endParaRPr lang="en-US" sz="1200" dirty="0"/>
          </a:p>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Watershed-aware</a:t>
            </a:r>
            <a:endParaRPr lang="en-US" sz="1200" dirty="0"/>
          </a:p>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partitioning</a:t>
            </a:r>
            <a:endParaRPr lang="en-US" sz="1200" dirty="0"/>
          </a:p>
        </p:txBody>
      </p:sp>
      <p:sp>
        <p:nvSpPr>
          <p:cNvPr id="19" name="Shape 15"/>
          <p:cNvSpPr/>
          <p:nvPr/>
        </p:nvSpPr>
        <p:spPr>
          <a:xfrm>
            <a:off x="5943600" y="3319272"/>
            <a:ext cx="402336" cy="402336"/>
          </a:xfrm>
          <a:prstGeom prst="ellipse">
            <a:avLst/>
          </a:prstGeom>
          <a:solidFill>
            <a:srgbClr val="FFFFFF"/>
          </a:solidFill>
          <a:ln w="12700">
            <a:solidFill>
              <a:srgbClr val="D9D2C8"/>
            </a:solidFill>
            <a:prstDash val="solid"/>
          </a:ln>
        </p:spPr>
      </p:sp>
      <p:sp>
        <p:nvSpPr>
          <p:cNvPr id="20" name="Shape 16"/>
          <p:cNvSpPr/>
          <p:nvPr/>
        </p:nvSpPr>
        <p:spPr>
          <a:xfrm rot="5400000">
            <a:off x="6053328" y="3419856"/>
            <a:ext cx="201168" cy="201168"/>
          </a:xfrm>
          <a:prstGeom prst="triangle">
            <a:avLst/>
          </a:prstGeom>
          <a:solidFill>
            <a:srgbClr val="2B2320"/>
          </a:solidFill>
          <a:ln/>
        </p:spPr>
      </p:sp>
      <p:sp>
        <p:nvSpPr>
          <p:cNvPr id="21" name="Shape 17"/>
          <p:cNvSpPr/>
          <p:nvPr/>
        </p:nvSpPr>
        <p:spPr>
          <a:xfrm>
            <a:off x="6163056" y="1417320"/>
            <a:ext cx="2606040" cy="4206240"/>
          </a:xfrm>
          <a:prstGeom prst="roundRect">
            <a:avLst>
              <a:gd name="adj" fmla="val 2807"/>
            </a:avLst>
          </a:prstGeom>
          <a:solidFill>
            <a:srgbClr val="F4F1EC"/>
          </a:solidFill>
          <a:ln/>
        </p:spPr>
      </p:sp>
      <p:sp>
        <p:nvSpPr>
          <p:cNvPr id="22" name="Shape 18"/>
          <p:cNvSpPr/>
          <p:nvPr/>
        </p:nvSpPr>
        <p:spPr>
          <a:xfrm>
            <a:off x="6163056" y="1417320"/>
            <a:ext cx="2606040" cy="502920"/>
          </a:xfrm>
          <a:prstGeom prst="roundRect">
            <a:avLst>
              <a:gd name="adj" fmla="val 14545"/>
            </a:avLst>
          </a:prstGeom>
          <a:solidFill>
            <a:srgbClr val="B85042"/>
          </a:solidFill>
          <a:ln/>
        </p:spPr>
      </p:sp>
      <p:sp>
        <p:nvSpPr>
          <p:cNvPr id="23" name="Shape 19"/>
          <p:cNvSpPr/>
          <p:nvPr/>
        </p:nvSpPr>
        <p:spPr>
          <a:xfrm>
            <a:off x="6163056" y="1673352"/>
            <a:ext cx="2606040" cy="246888"/>
          </a:xfrm>
          <a:prstGeom prst="rect">
            <a:avLst/>
          </a:prstGeom>
          <a:solidFill>
            <a:srgbClr val="B85042"/>
          </a:solidFill>
          <a:ln/>
        </p:spPr>
      </p:sp>
      <p:sp>
        <p:nvSpPr>
          <p:cNvPr id="24" name="Text 20"/>
          <p:cNvSpPr txBox="1"/>
          <p:nvPr/>
        </p:nvSpPr>
        <p:spPr>
          <a:xfrm>
            <a:off x="6300216" y="1417320"/>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PINN Model</a:t>
            </a:r>
            <a:endParaRPr lang="en-US" sz="1400" dirty="0"/>
          </a:p>
        </p:txBody>
      </p:sp>
      <p:sp>
        <p:nvSpPr>
          <p:cNvPr id="25" name="Shape 21"/>
          <p:cNvSpPr/>
          <p:nvPr/>
        </p:nvSpPr>
        <p:spPr>
          <a:xfrm>
            <a:off x="7146036" y="2103120"/>
            <a:ext cx="640080" cy="640080"/>
          </a:xfrm>
          <a:prstGeom prst="ellipse">
            <a:avLst/>
          </a:prstGeom>
          <a:solidFill>
            <a:srgbClr val="FFFFFF"/>
          </a:solidFill>
          <a:ln/>
        </p:spPr>
      </p:sp>
      <p:pic>
        <p:nvPicPr>
          <p:cNvPr id="26" name="Image 2" descr="assets/brain_B85042.png">    </p:cNvPr>
          <p:cNvPicPr>
            <a:picLocks noChangeAspect="1"/>
          </p:cNvPicPr>
          <p:nvPr/>
        </p:nvPicPr>
        <p:blipFill>
          <a:blip r:embed="rId3"/>
          <a:stretch>
            <a:fillRect/>
          </a:stretch>
        </p:blipFill>
        <p:spPr>
          <a:xfrm>
            <a:off x="7312457" y="2269541"/>
            <a:ext cx="307238" cy="307238"/>
          </a:xfrm>
          <a:prstGeom prst="rect">
            <a:avLst/>
          </a:prstGeom>
        </p:spPr>
      </p:pic>
      <p:sp>
        <p:nvSpPr>
          <p:cNvPr id="27" name="Text 22"/>
          <p:cNvSpPr txBox="1"/>
          <p:nvPr/>
        </p:nvSpPr>
        <p:spPr>
          <a:xfrm>
            <a:off x="6345936" y="2926080"/>
            <a:ext cx="2240280" cy="2560320"/>
          </a:xfrm>
          <a:prstGeom prst="rect">
            <a:avLst/>
          </a:prstGeom>
          <a:noFill/>
          <a:ln/>
        </p:spPr>
        <p:txBody>
          <a:bodyPr wrap="square" lIns="0" tIns="0" rIns="0" bIns="0" rtlCol="0" anchor="ctr"/>
          <a:lstStyle/>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ResNet backbone</a:t>
            </a:r>
            <a:endParaRPr lang="en-US" sz="1200" dirty="0"/>
          </a:p>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Empirical + physics</a:t>
            </a:r>
            <a:endParaRPr lang="en-US" sz="1200" dirty="0"/>
          </a:p>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loss functions</a:t>
            </a:r>
            <a:endParaRPr lang="en-US" sz="1200" dirty="0"/>
          </a:p>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MC Dropout</a:t>
            </a:r>
            <a:endParaRPr lang="en-US" sz="1200" dirty="0"/>
          </a:p>
        </p:txBody>
      </p:sp>
      <p:sp>
        <p:nvSpPr>
          <p:cNvPr id="28" name="Shape 23"/>
          <p:cNvSpPr/>
          <p:nvPr/>
        </p:nvSpPr>
        <p:spPr>
          <a:xfrm>
            <a:off x="8750808" y="3319272"/>
            <a:ext cx="402336" cy="402336"/>
          </a:xfrm>
          <a:prstGeom prst="ellipse">
            <a:avLst/>
          </a:prstGeom>
          <a:solidFill>
            <a:srgbClr val="FFFFFF"/>
          </a:solidFill>
          <a:ln w="12700">
            <a:solidFill>
              <a:srgbClr val="D9D2C8"/>
            </a:solidFill>
            <a:prstDash val="solid"/>
          </a:ln>
        </p:spPr>
      </p:sp>
      <p:sp>
        <p:nvSpPr>
          <p:cNvPr id="29" name="Shape 24"/>
          <p:cNvSpPr/>
          <p:nvPr/>
        </p:nvSpPr>
        <p:spPr>
          <a:xfrm rot="5400000">
            <a:off x="8860536" y="3419856"/>
            <a:ext cx="201168" cy="201168"/>
          </a:xfrm>
          <a:prstGeom prst="triangle">
            <a:avLst/>
          </a:prstGeom>
          <a:solidFill>
            <a:srgbClr val="2B2320"/>
          </a:solidFill>
          <a:ln/>
        </p:spPr>
      </p:sp>
      <p:sp>
        <p:nvSpPr>
          <p:cNvPr id="30" name="Shape 25"/>
          <p:cNvSpPr/>
          <p:nvPr/>
        </p:nvSpPr>
        <p:spPr>
          <a:xfrm>
            <a:off x="8970264" y="1417320"/>
            <a:ext cx="2606040" cy="4206240"/>
          </a:xfrm>
          <a:prstGeom prst="roundRect">
            <a:avLst>
              <a:gd name="adj" fmla="val 2807"/>
            </a:avLst>
          </a:prstGeom>
          <a:solidFill>
            <a:srgbClr val="F4F1EC"/>
          </a:solidFill>
          <a:ln/>
        </p:spPr>
      </p:sp>
      <p:sp>
        <p:nvSpPr>
          <p:cNvPr id="31" name="Shape 26"/>
          <p:cNvSpPr/>
          <p:nvPr/>
        </p:nvSpPr>
        <p:spPr>
          <a:xfrm>
            <a:off x="8970264" y="1417320"/>
            <a:ext cx="2606040" cy="502920"/>
          </a:xfrm>
          <a:prstGeom prst="roundRect">
            <a:avLst>
              <a:gd name="adj" fmla="val 14545"/>
            </a:avLst>
          </a:prstGeom>
          <a:solidFill>
            <a:srgbClr val="5E7C5B"/>
          </a:solidFill>
          <a:ln/>
        </p:spPr>
      </p:sp>
      <p:sp>
        <p:nvSpPr>
          <p:cNvPr id="32" name="Shape 27"/>
          <p:cNvSpPr/>
          <p:nvPr/>
        </p:nvSpPr>
        <p:spPr>
          <a:xfrm>
            <a:off x="8970264" y="1673352"/>
            <a:ext cx="2606040" cy="246888"/>
          </a:xfrm>
          <a:prstGeom prst="rect">
            <a:avLst/>
          </a:prstGeom>
          <a:solidFill>
            <a:srgbClr val="5E7C5B"/>
          </a:solidFill>
          <a:ln/>
        </p:spPr>
      </p:sp>
      <p:sp>
        <p:nvSpPr>
          <p:cNvPr id="33" name="Text 28"/>
          <p:cNvSpPr txBox="1"/>
          <p:nvPr/>
        </p:nvSpPr>
        <p:spPr>
          <a:xfrm>
            <a:off x="9107424" y="1417320"/>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Applications</a:t>
            </a:r>
            <a:endParaRPr lang="en-US" sz="1400" dirty="0"/>
          </a:p>
        </p:txBody>
      </p:sp>
      <p:sp>
        <p:nvSpPr>
          <p:cNvPr id="34" name="Shape 29"/>
          <p:cNvSpPr/>
          <p:nvPr/>
        </p:nvSpPr>
        <p:spPr>
          <a:xfrm>
            <a:off x="9953244" y="2103120"/>
            <a:ext cx="640080" cy="640080"/>
          </a:xfrm>
          <a:prstGeom prst="ellipse">
            <a:avLst/>
          </a:prstGeom>
          <a:solidFill>
            <a:srgbClr val="FFFFFF"/>
          </a:solidFill>
          <a:ln/>
        </p:spPr>
      </p:sp>
      <p:pic>
        <p:nvPicPr>
          <p:cNvPr id="35" name="Image 3" descr="assets/globe_5E7C5B.png">    </p:cNvPr>
          <p:cNvPicPr>
            <a:picLocks noChangeAspect="1"/>
          </p:cNvPicPr>
          <p:nvPr/>
        </p:nvPicPr>
        <p:blipFill>
          <a:blip r:embed="rId4"/>
          <a:stretch>
            <a:fillRect/>
          </a:stretch>
        </p:blipFill>
        <p:spPr>
          <a:xfrm>
            <a:off x="10119665" y="2269541"/>
            <a:ext cx="307238" cy="307238"/>
          </a:xfrm>
          <a:prstGeom prst="rect">
            <a:avLst/>
          </a:prstGeom>
        </p:spPr>
      </p:pic>
      <p:sp>
        <p:nvSpPr>
          <p:cNvPr id="36" name="Text 30"/>
          <p:cNvSpPr txBox="1"/>
          <p:nvPr/>
        </p:nvSpPr>
        <p:spPr>
          <a:xfrm>
            <a:off x="9153144" y="2926080"/>
            <a:ext cx="2240280" cy="2560320"/>
          </a:xfrm>
          <a:prstGeom prst="rect">
            <a:avLst/>
          </a:prstGeom>
          <a:noFill/>
          <a:ln/>
        </p:spPr>
        <p:txBody>
          <a:bodyPr wrap="square" lIns="0" tIns="0" rIns="0" bIns="0" rtlCol="0" anchor="ctr"/>
          <a:lstStyle/>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3D Digital Twin</a:t>
            </a:r>
            <a:endParaRPr lang="en-US" sz="1200" dirty="0"/>
          </a:p>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Safe-Route Nav</a:t>
            </a:r>
            <a:endParaRPr lang="en-US" sz="1200" dirty="0"/>
          </a:p>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Priority Surveys</a:t>
            </a:r>
            <a:endParaRPr lang="en-US" sz="1200" dirty="0"/>
          </a:p>
          <a:p>
            <a:pPr algn="ctr" indent="0" marL="0">
              <a:lnSpc>
                <a:spcPct val="110000"/>
              </a:lnSpc>
              <a:spcAft>
                <a:spcPts val="600"/>
              </a:spcAft>
              <a:buNone/>
            </a:pPr>
            <a:r>
              <a:rPr lang="en-US" sz="1200" dirty="0">
                <a:solidFill>
                  <a:srgbClr val="2B2320"/>
                </a:solidFill>
                <a:latin typeface="Calibri" pitchFamily="34" charset="0"/>
                <a:ea typeface="Calibri" pitchFamily="34" charset="-122"/>
                <a:cs typeface="Calibri" pitchFamily="34" charset="-120"/>
              </a:rPr>
              <a:t>IS 14680 advice</a:t>
            </a:r>
            <a:endParaRPr lang="en-US" sz="1200" dirty="0"/>
          </a:p>
        </p:txBody>
      </p:sp>
      <p:sp>
        <p:nvSpPr>
          <p:cNvPr id="37" name="Text 31"/>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38" name="Text 32"/>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59436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Eight Real Covariates, Zero Synthetic Inputs</a:t>
            </a:r>
            <a:endParaRPr lang="en-US" sz="2700" dirty="0"/>
          </a:p>
        </p:txBody>
      </p:sp>
      <p:sp>
        <p:nvSpPr>
          <p:cNvPr id="3" name="Text 1"/>
          <p:cNvSpPr txBox="1"/>
          <p:nvPr/>
        </p:nvSpPr>
        <p:spPr>
          <a:xfrm>
            <a:off x="548640" y="960120"/>
            <a:ext cx="10058400" cy="36576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Every feature comes from an actual satellite, reanalysis, or survey product</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4754880"/>
        </p:xfrm>
        <a:graphic>
          <a:graphicData uri="http://schemas.openxmlformats.org/drawingml/2006/table">
            <a:tbl>
              <a:tblPr/>
              <a:tblGrid>
                <a:gridCol w="3291840"/>
                <a:gridCol w="3566160"/>
                <a:gridCol w="420624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Covariate</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B8504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Source &amp; Resolution</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B8504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Role in the Model</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B85042"/>
                    </a:solidFill>
                  </a:tcPr>
                </a:tc>
              </a:tr>
              <a:tr h="594360">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Slope angle (β)</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NASA SRTM DEM, 30 m</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Drives gravitational shear stress</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594360">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Cohesion (c') &amp; friction angle (φ')</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ISRIC SoilGrids, 250 m</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Shear strength resisting sliding</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594360">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Soil / regolith depth</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Geomorphic equilibrium model</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Active failure slab thickness</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594360">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Pore saturation</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ECMWF ERA5-Land reanalysis</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Pore-water pressure &amp; buoyancy</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594360">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Seismic acceleration (PGA)</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USGS Global Seismic Hazard Map</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Earthquake-driven inertia</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594360">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Vegetation health (NDVI)</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Sentinel-2 optical imagery</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Root cohesion reinforcement</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594360">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Monsoon rainfall (72h)</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CHIRPS / NASA GPM</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50" dirty="0">
                          <a:solidFill>
                            <a:srgbClr val="2B2320"/>
                          </a:solidFill>
                          <a:latin typeface="Calibri" pitchFamily="34" charset="0"/>
                          <a:ea typeface="Calibri" pitchFamily="34" charset="-122"/>
                          <a:cs typeface="Calibri" pitchFamily="34" charset="-120"/>
                        </a:rPr>
                        <a:t>3-day triggering saturation</a:t>
                      </a:r>
                      <a:endParaRPr lang="en-US" sz="12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6" name="Text 3"/>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The Unit of Analysis: Slope Units, Not Grid Cells</a:t>
            </a:r>
            <a:endParaRPr lang="en-US" sz="2700" dirty="0"/>
          </a:p>
        </p:txBody>
      </p:sp>
      <p:sp>
        <p:nvSpPr>
          <p:cNvPr id="3" name="Shape 1"/>
          <p:cNvSpPr/>
          <p:nvPr/>
        </p:nvSpPr>
        <p:spPr>
          <a:xfrm>
            <a:off x="640080" y="1554480"/>
            <a:ext cx="914400" cy="914400"/>
          </a:xfrm>
          <a:prstGeom prst="ellipse">
            <a:avLst/>
          </a:prstGeom>
          <a:solidFill>
            <a:srgbClr val="4A5D5E"/>
          </a:solidFill>
          <a:ln/>
        </p:spPr>
      </p:sp>
      <p:pic>
        <p:nvPicPr>
          <p:cNvPr id="4" name="Image 0" descr="assets/layerGroup_white.png">    </p:cNvPr>
          <p:cNvPicPr>
            <a:picLocks noChangeAspect="1"/>
          </p:cNvPicPr>
          <p:nvPr/>
        </p:nvPicPr>
        <p:blipFill>
          <a:blip r:embed="rId1"/>
          <a:stretch>
            <a:fillRect/>
          </a:stretch>
        </p:blipFill>
        <p:spPr>
          <a:xfrm>
            <a:off x="877824" y="1792224"/>
            <a:ext cx="438912" cy="438912"/>
          </a:xfrm>
          <a:prstGeom prst="rect">
            <a:avLst/>
          </a:prstGeom>
        </p:spPr>
      </p:pic>
      <p:sp>
        <p:nvSpPr>
          <p:cNvPr id="5" name="Text 2"/>
          <p:cNvSpPr txBox="1"/>
          <p:nvPr/>
        </p:nvSpPr>
        <p:spPr>
          <a:xfrm>
            <a:off x="1828800" y="1554480"/>
            <a:ext cx="4114800" cy="777240"/>
          </a:xfrm>
          <a:prstGeom prst="rect">
            <a:avLst/>
          </a:prstGeom>
          <a:noFill/>
          <a:ln/>
        </p:spPr>
        <p:txBody>
          <a:bodyPr wrap="square" lIns="0" tIns="0" rIns="0" bIns="0" rtlCol="0" anchor="ctr"/>
          <a:lstStyle/>
          <a:p>
            <a:pPr indent="0" marL="0">
              <a:buNone/>
            </a:pPr>
            <a:r>
              <a:rPr lang="en-US" sz="4800" b="1" dirty="0">
                <a:solidFill>
                  <a:srgbClr val="B85042"/>
                </a:solidFill>
                <a:latin typeface="Cambria" pitchFamily="34" charset="0"/>
                <a:ea typeface="Cambria" pitchFamily="34" charset="-122"/>
                <a:cs typeface="Cambria" pitchFamily="34" charset="-120"/>
              </a:rPr>
              <a:t>580,508</a:t>
            </a:r>
            <a:endParaRPr lang="en-US" sz="4800" dirty="0"/>
          </a:p>
        </p:txBody>
      </p:sp>
      <p:sp>
        <p:nvSpPr>
          <p:cNvPr id="6" name="Text 3"/>
          <p:cNvSpPr txBox="1"/>
          <p:nvPr/>
        </p:nvSpPr>
        <p:spPr>
          <a:xfrm>
            <a:off x="1874520" y="2331720"/>
            <a:ext cx="4572000" cy="457200"/>
          </a:xfrm>
          <a:prstGeom prst="rect">
            <a:avLst/>
          </a:prstGeom>
          <a:noFill/>
          <a:ln/>
        </p:spPr>
        <p:txBody>
          <a:bodyPr wrap="square" lIns="0" tIns="0" rIns="0" bIns="0" rtlCol="0" anchor="ctr"/>
          <a:lstStyle/>
          <a:p>
            <a:pPr indent="0" marL="0">
              <a:buNone/>
            </a:pPr>
            <a:r>
              <a:rPr lang="en-US" sz="1400" dirty="0">
                <a:solidFill>
                  <a:srgbClr val="5C5450"/>
                </a:solidFill>
                <a:latin typeface="Calibri" pitchFamily="34" charset="0"/>
                <a:ea typeface="Calibri" pitchFamily="34" charset="-122"/>
                <a:cs typeface="Calibri" pitchFamily="34" charset="-120"/>
              </a:rPr>
              <a:t>terrain slope units across 255,000 km²</a:t>
            </a:r>
            <a:endParaRPr lang="en-US" sz="1400" dirty="0"/>
          </a:p>
        </p:txBody>
      </p:sp>
      <p:sp>
        <p:nvSpPr>
          <p:cNvPr id="7" name="Shape 4"/>
          <p:cNvSpPr/>
          <p:nvPr/>
        </p:nvSpPr>
        <p:spPr>
          <a:xfrm>
            <a:off x="548640" y="3063240"/>
            <a:ext cx="5394960" cy="2971800"/>
          </a:xfrm>
          <a:prstGeom prst="roundRect">
            <a:avLst>
              <a:gd name="adj" fmla="val 2462"/>
            </a:avLst>
          </a:prstGeom>
          <a:solidFill>
            <a:srgbClr val="F4F1EC"/>
          </a:solidFill>
          <a:ln/>
        </p:spPr>
      </p:sp>
      <p:sp>
        <p:nvSpPr>
          <p:cNvPr id="8" name="Text 5"/>
          <p:cNvSpPr txBox="1"/>
          <p:nvPr/>
        </p:nvSpPr>
        <p:spPr>
          <a:xfrm>
            <a:off x="822960" y="3246120"/>
            <a:ext cx="4937760"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Why not a rectangular grid?</a:t>
            </a:r>
            <a:endParaRPr lang="en-US" sz="1500" dirty="0"/>
          </a:p>
        </p:txBody>
      </p:sp>
      <p:sp>
        <p:nvSpPr>
          <p:cNvPr id="9" name="Text 6"/>
          <p:cNvSpPr txBox="1"/>
          <p:nvPr/>
        </p:nvSpPr>
        <p:spPr>
          <a:xfrm>
            <a:off x="822960" y="3703320"/>
            <a:ext cx="4937760" cy="2194560"/>
          </a:xfrm>
          <a:prstGeom prst="rect">
            <a:avLst/>
          </a:prstGeom>
          <a:noFill/>
          <a:ln/>
        </p:spPr>
        <p:txBody>
          <a:bodyPr wrap="square" lIns="0" tIns="0" rIns="0" bIns="0" rtlCol="0" anchor="ctr"/>
          <a:lstStyle/>
          <a:p>
            <a:pPr marL="342900" indent="-342900">
              <a:lnSpc>
                <a:spcPct val="115000"/>
              </a:lnSpc>
              <a:spcAft>
                <a:spcPts val="1000"/>
              </a:spcAft>
              <a:buSzPct val="100000"/>
              <a:buChar char="•"/>
            </a:pPr>
            <a:r>
              <a:rPr lang="en-US" sz="1300" dirty="0">
                <a:solidFill>
                  <a:srgbClr val="5C5450"/>
                </a:solidFill>
                <a:latin typeface="Calibri" pitchFamily="34" charset="0"/>
                <a:ea typeface="Calibri" pitchFamily="34" charset="-122"/>
                <a:cs typeface="Calibri" pitchFamily="34" charset="-120"/>
              </a:rPr>
              <a:t>Rectangular grids cut straight across watershed boundaries and ridge lines — mixing hydrologically unrelated slopes into one cell.</a:t>
            </a:r>
            <a:endParaRPr lang="en-US" sz="1300" dirty="0"/>
          </a:p>
          <a:p>
            <a:pPr marL="342900" indent="-342900">
              <a:lnSpc>
                <a:spcPct val="115000"/>
              </a:lnSpc>
              <a:spcAft>
                <a:spcPts val="1000"/>
              </a:spcAft>
              <a:buSzPct val="100000"/>
              <a:buChar char="•"/>
            </a:pPr>
            <a:r>
              <a:rPr lang="en-US" sz="1300" dirty="0">
                <a:solidFill>
                  <a:srgbClr val="5C5450"/>
                </a:solidFill>
                <a:latin typeface="Calibri" pitchFamily="34" charset="0"/>
                <a:ea typeface="Calibri" pitchFamily="34" charset="-122"/>
                <a:cs typeface="Calibri" pitchFamily="34" charset="-120"/>
              </a:rPr>
              <a:t>Slope units instead follow the natural terrain: each one respects real drainage divides and ridge-valley geometry.</a:t>
            </a:r>
            <a:endParaRPr lang="en-US" sz="1300" dirty="0"/>
          </a:p>
        </p:txBody>
      </p:sp>
      <p:sp>
        <p:nvSpPr>
          <p:cNvPr id="10" name="Shape 7"/>
          <p:cNvSpPr/>
          <p:nvPr/>
        </p:nvSpPr>
        <p:spPr>
          <a:xfrm>
            <a:off x="6172200" y="3063240"/>
            <a:ext cx="5468112" cy="2971800"/>
          </a:xfrm>
          <a:prstGeom prst="roundRect">
            <a:avLst>
              <a:gd name="adj" fmla="val 2462"/>
            </a:avLst>
          </a:prstGeom>
          <a:solidFill>
            <a:srgbClr val="EFE9E1"/>
          </a:solidFill>
          <a:ln/>
        </p:spPr>
      </p:sp>
      <p:sp>
        <p:nvSpPr>
          <p:cNvPr id="11" name="Text 8"/>
          <p:cNvSpPr txBox="1"/>
          <p:nvPr/>
        </p:nvSpPr>
        <p:spPr>
          <a:xfrm>
            <a:off x="6446520" y="3246120"/>
            <a:ext cx="4937760"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8 states covered</a:t>
            </a:r>
            <a:endParaRPr lang="en-US" sz="1500" dirty="0"/>
          </a:p>
        </p:txBody>
      </p:sp>
      <p:sp>
        <p:nvSpPr>
          <p:cNvPr id="12" name="Text 9"/>
          <p:cNvSpPr txBox="1"/>
          <p:nvPr/>
        </p:nvSpPr>
        <p:spPr>
          <a:xfrm>
            <a:off x="6446520" y="3749040"/>
            <a:ext cx="4937760" cy="1097280"/>
          </a:xfrm>
          <a:prstGeom prst="rect">
            <a:avLst/>
          </a:prstGeom>
          <a:noFill/>
          <a:ln/>
        </p:spPr>
        <p:txBody>
          <a:bodyPr wrap="square" lIns="0" tIns="0" rIns="0" bIns="0" rtlCol="0" anchor="ctr"/>
          <a:lstStyle/>
          <a:p>
            <a:pPr indent="0" marL="0">
              <a:lnSpc>
                <a:spcPct val="140000"/>
              </a:lnSpc>
              <a:buNone/>
            </a:pPr>
            <a:r>
              <a:rPr lang="en-US" sz="1400" dirty="0">
                <a:solidFill>
                  <a:srgbClr val="2B2320"/>
                </a:solidFill>
                <a:latin typeface="Calibri" pitchFamily="34" charset="0"/>
                <a:ea typeface="Calibri" pitchFamily="34" charset="-122"/>
                <a:cs typeface="Calibri" pitchFamily="34" charset="-120"/>
              </a:rPr>
              <a:t>Sikkim  ·  Arunachal Pradesh  ·  Assam  ·  Meghalaya</a:t>
            </a:r>
            <a:endParaRPr lang="en-US" sz="1400" dirty="0"/>
          </a:p>
          <a:p>
            <a:pPr indent="0" marL="0">
              <a:lnSpc>
                <a:spcPct val="140000"/>
              </a:lnSpc>
              <a:buNone/>
            </a:pPr>
            <a:r>
              <a:rPr lang="en-US" sz="1400" dirty="0">
                <a:solidFill>
                  <a:srgbClr val="2B2320"/>
                </a:solidFill>
                <a:latin typeface="Calibri" pitchFamily="34" charset="0"/>
                <a:ea typeface="Calibri" pitchFamily="34" charset="-122"/>
                <a:cs typeface="Calibri" pitchFamily="34" charset="-120"/>
              </a:rPr>
              <a:t>Manipur  ·  Mizoram  ·  Nagaland  ·  Tripura</a:t>
            </a:r>
            <a:endParaRPr lang="en-US" sz="1400" dirty="0"/>
          </a:p>
        </p:txBody>
      </p:sp>
      <p:sp>
        <p:nvSpPr>
          <p:cNvPr id="13" name="Text 10"/>
          <p:cNvSpPr txBox="1"/>
          <p:nvPr/>
        </p:nvSpPr>
        <p:spPr>
          <a:xfrm>
            <a:off x="6446520" y="5029200"/>
            <a:ext cx="4937760" cy="822960"/>
          </a:xfrm>
          <a:prstGeom prst="rect">
            <a:avLst/>
          </a:prstGeom>
          <a:noFill/>
          <a:ln/>
        </p:spPr>
        <p:txBody>
          <a:bodyPr wrap="square" lIns="0" tIns="0" rIns="0" bIns="0" rtlCol="0" anchor="ctr"/>
          <a:lstStyle/>
          <a:p>
            <a:pPr indent="0" marL="0">
              <a:buNone/>
            </a:pPr>
            <a:r>
              <a:rPr lang="en-US" sz="1250" i="1" dirty="0">
                <a:solidFill>
                  <a:srgbClr val="5C5450"/>
                </a:solidFill>
                <a:latin typeface="Calibri" pitchFamily="34" charset="0"/>
                <a:ea typeface="Calibri" pitchFamily="34" charset="-122"/>
                <a:cs typeface="Calibri" pitchFamily="34" charset="-120"/>
              </a:rPr>
              <a:t>These are exactly the states named in the SIH problem statement for MDoNER.</a:t>
            </a:r>
            <a:endParaRPr lang="en-US" sz="1250" dirty="0"/>
          </a:p>
        </p:txBody>
      </p:sp>
      <p:sp>
        <p:nvSpPr>
          <p:cNvPr id="14" name="Text 11"/>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15" name="Text 12"/>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Fixing the Core Flaw: No More Circular Labels</a:t>
            </a:r>
            <a:endParaRPr lang="en-US" sz="2700" dirty="0"/>
          </a:p>
        </p:txBody>
      </p:sp>
      <p:sp>
        <p:nvSpPr>
          <p:cNvPr id="3" name="Shape 1"/>
          <p:cNvSpPr/>
          <p:nvPr/>
        </p:nvSpPr>
        <p:spPr>
          <a:xfrm>
            <a:off x="548640" y="1417320"/>
            <a:ext cx="5394960" cy="4572000"/>
          </a:xfrm>
          <a:prstGeom prst="roundRect">
            <a:avLst>
              <a:gd name="adj" fmla="val 1600"/>
            </a:avLst>
          </a:prstGeom>
          <a:solidFill>
            <a:srgbClr val="F6E6E4"/>
          </a:solidFill>
          <a:ln/>
        </p:spPr>
      </p:sp>
      <p:sp>
        <p:nvSpPr>
          <p:cNvPr id="4" name="Text 2"/>
          <p:cNvSpPr txBox="1"/>
          <p:nvPr/>
        </p:nvSpPr>
        <p:spPr>
          <a:xfrm>
            <a:off x="822960" y="1645920"/>
            <a:ext cx="4846320" cy="365760"/>
          </a:xfrm>
          <a:prstGeom prst="rect">
            <a:avLst/>
          </a:prstGeom>
          <a:noFill/>
          <a:ln/>
        </p:spPr>
        <p:txBody>
          <a:bodyPr wrap="square" lIns="0" tIns="0" rIns="0" bIns="0" rtlCol="0" anchor="ctr"/>
          <a:lstStyle/>
          <a:p>
            <a:pPr indent="0" marL="0">
              <a:buNone/>
            </a:pPr>
            <a:r>
              <a:rPr lang="en-US" sz="1400" b="1" dirty="0">
                <a:solidFill>
                  <a:srgbClr val="8C3A30"/>
                </a:solidFill>
                <a:latin typeface="Cambria" pitchFamily="34" charset="0"/>
                <a:ea typeface="Cambria" pitchFamily="34" charset="-122"/>
                <a:cs typeface="Cambria" pitchFamily="34" charset="-120"/>
              </a:rPr>
              <a:t>BEFORE  ·  The Old Flawed Approach</a:t>
            </a:r>
            <a:endParaRPr lang="en-US" sz="1400" dirty="0"/>
          </a:p>
        </p:txBody>
      </p:sp>
      <p:sp>
        <p:nvSpPr>
          <p:cNvPr id="5" name="Text 3"/>
          <p:cNvSpPr txBox="1"/>
          <p:nvPr/>
        </p:nvSpPr>
        <p:spPr>
          <a:xfrm>
            <a:off x="822960" y="2148840"/>
            <a:ext cx="4846320" cy="365760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300" dirty="0">
                <a:solidFill>
                  <a:srgbClr val="2B2320"/>
                </a:solidFill>
                <a:latin typeface="Calibri" pitchFamily="34" charset="0"/>
                <a:ea typeface="Calibri" pitchFamily="34" charset="-122"/>
                <a:cs typeface="Calibri" pitchFamily="34" charset="-120"/>
              </a:rPr>
              <a:t>Compute Factor of Safety (FS) from 5 features using a formula.</a:t>
            </a:r>
            <a:endParaRPr lang="en-US" sz="1300" dirty="0"/>
          </a:p>
          <a:p>
            <a:pPr marL="342900" indent="-342900">
              <a:lnSpc>
                <a:spcPct val="115000"/>
              </a:lnSpc>
              <a:spcAft>
                <a:spcPts val="1200"/>
              </a:spcAft>
              <a:buSzPct val="100000"/>
              <a:buChar char="•"/>
            </a:pPr>
            <a:r>
              <a:rPr lang="en-US" sz="1300" dirty="0">
                <a:solidFill>
                  <a:srgbClr val="2B2320"/>
                </a:solidFill>
                <a:latin typeface="Calibri" pitchFamily="34" charset="0"/>
                <a:ea typeface="Calibri" pitchFamily="34" charset="-122"/>
                <a:cs typeface="Calibri" pitchFamily="34" charset="-120"/>
              </a:rPr>
              <a:t>Threshold FS &lt; 1.0 → create a synthetic "landslide" label.</a:t>
            </a:r>
            <a:endParaRPr lang="en-US" sz="1300" dirty="0"/>
          </a:p>
          <a:p>
            <a:pPr marL="342900" indent="-342900">
              <a:lnSpc>
                <a:spcPct val="115000"/>
              </a:lnSpc>
              <a:spcAft>
                <a:spcPts val="1200"/>
              </a:spcAft>
              <a:buSzPct val="100000"/>
              <a:buChar char="•"/>
            </a:pPr>
            <a:r>
              <a:rPr lang="en-US" sz="1300" dirty="0">
                <a:solidFill>
                  <a:srgbClr val="2B2320"/>
                </a:solidFill>
                <a:latin typeface="Calibri" pitchFamily="34" charset="0"/>
                <a:ea typeface="Calibri" pitchFamily="34" charset="-122"/>
                <a:cs typeface="Calibri" pitchFamily="34" charset="-120"/>
              </a:rPr>
              <a:t>Train a network on the exact same 5 features.</a:t>
            </a:r>
            <a:endParaRPr lang="en-US" sz="1300" dirty="0"/>
          </a:p>
          <a:p>
            <a:pPr marL="342900" indent="-342900">
              <a:lnSpc>
                <a:spcPct val="115000"/>
              </a:lnSpc>
              <a:spcAft>
                <a:spcPts val="1200"/>
              </a:spcAft>
              <a:buSzPct val="100000"/>
              <a:buChar char="•"/>
            </a:pPr>
            <a:r>
              <a:rPr lang="en-US" sz="1300" b="1" dirty="0">
                <a:solidFill>
                  <a:srgbClr val="2B2320"/>
                </a:solidFill>
                <a:latin typeface="Calibri" pitchFamily="34" charset="0"/>
                <a:ea typeface="Calibri" pitchFamily="34" charset="-122"/>
                <a:cs typeface="Calibri" pitchFamily="34" charset="-120"/>
              </a:rPr>
              <a:t>Result: artificial 100% accuracy — the model just re-learned the formula.</a:t>
            </a:r>
            <a:endParaRPr lang="en-US" sz="1300" dirty="0"/>
          </a:p>
        </p:txBody>
      </p:sp>
      <p:sp>
        <p:nvSpPr>
          <p:cNvPr id="6" name="Shape 4"/>
          <p:cNvSpPr/>
          <p:nvPr/>
        </p:nvSpPr>
        <p:spPr>
          <a:xfrm>
            <a:off x="6172200" y="1417320"/>
            <a:ext cx="5468112" cy="4572000"/>
          </a:xfrm>
          <a:prstGeom prst="roundRect">
            <a:avLst>
              <a:gd name="adj" fmla="val 1600"/>
            </a:avLst>
          </a:prstGeom>
          <a:solidFill>
            <a:srgbClr val="E7EFE6"/>
          </a:solidFill>
          <a:ln/>
        </p:spPr>
      </p:sp>
      <p:sp>
        <p:nvSpPr>
          <p:cNvPr id="7" name="Text 5"/>
          <p:cNvSpPr txBox="1"/>
          <p:nvPr/>
        </p:nvSpPr>
        <p:spPr>
          <a:xfrm>
            <a:off x="6446520" y="1645920"/>
            <a:ext cx="4937760" cy="365760"/>
          </a:xfrm>
          <a:prstGeom prst="rect">
            <a:avLst/>
          </a:prstGeom>
          <a:noFill/>
          <a:ln/>
        </p:spPr>
        <p:txBody>
          <a:bodyPr wrap="square" lIns="0" tIns="0" rIns="0" bIns="0" rtlCol="0" anchor="ctr"/>
          <a:lstStyle/>
          <a:p>
            <a:pPr indent="0" marL="0">
              <a:buNone/>
            </a:pPr>
            <a:r>
              <a:rPr lang="en-US" sz="1400" b="1" dirty="0">
                <a:solidFill>
                  <a:srgbClr val="5E7C5B"/>
                </a:solidFill>
                <a:latin typeface="Cambria" pitchFamily="34" charset="0"/>
                <a:ea typeface="Cambria" pitchFamily="34" charset="-122"/>
                <a:cs typeface="Cambria" pitchFamily="34" charset="-120"/>
              </a:rPr>
              <a:t>AFTER  ·  LITHOS Phase 11 Approach</a:t>
            </a:r>
            <a:endParaRPr lang="en-US" sz="1400" dirty="0"/>
          </a:p>
        </p:txBody>
      </p:sp>
      <p:sp>
        <p:nvSpPr>
          <p:cNvPr id="8" name="Text 6"/>
          <p:cNvSpPr txBox="1"/>
          <p:nvPr/>
        </p:nvSpPr>
        <p:spPr>
          <a:xfrm>
            <a:off x="6446520" y="2148840"/>
            <a:ext cx="4937760" cy="365760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300" dirty="0">
                <a:solidFill>
                  <a:srgbClr val="2B2320"/>
                </a:solidFill>
                <a:latin typeface="Calibri" pitchFamily="34" charset="0"/>
                <a:ea typeface="Calibri" pitchFamily="34" charset="-122"/>
                <a:cs typeface="Calibri" pitchFamily="34" charset="-120"/>
              </a:rPr>
              <a:t>Labels come from 675+ verified historical landslide events (NASA GLC + GSI) — real recorded failures.</a:t>
            </a:r>
            <a:endParaRPr lang="en-US" sz="1300" dirty="0"/>
          </a:p>
          <a:p>
            <a:pPr marL="342900" indent="-342900">
              <a:lnSpc>
                <a:spcPct val="115000"/>
              </a:lnSpc>
              <a:spcAft>
                <a:spcPts val="1200"/>
              </a:spcAft>
              <a:buSzPct val="100000"/>
              <a:buChar char="•"/>
            </a:pPr>
            <a:r>
              <a:rPr lang="en-US" sz="1300" dirty="0">
                <a:solidFill>
                  <a:srgbClr val="2B2320"/>
                </a:solidFill>
                <a:latin typeface="Calibri" pitchFamily="34" charset="0"/>
                <a:ea typeface="Calibri" pitchFamily="34" charset="-122"/>
                <a:cs typeface="Calibri" pitchFamily="34" charset="-120"/>
              </a:rPr>
              <a:t>Spatially indexed with high-speed KD-Tree search against slope units.</a:t>
            </a:r>
            <a:endParaRPr lang="en-US" sz="1300" dirty="0"/>
          </a:p>
          <a:p>
            <a:pPr marL="342900" indent="-342900">
              <a:lnSpc>
                <a:spcPct val="115000"/>
              </a:lnSpc>
              <a:spcAft>
                <a:spcPts val="1200"/>
              </a:spcAft>
              <a:buSzPct val="100000"/>
              <a:buChar char="•"/>
            </a:pPr>
            <a:r>
              <a:rPr lang="en-US" sz="1300" dirty="0">
                <a:solidFill>
                  <a:srgbClr val="2B2320"/>
                </a:solidFill>
                <a:latin typeface="Calibri" pitchFamily="34" charset="0"/>
                <a:ea typeface="Calibri" pitchFamily="34" charset="-122"/>
                <a:cs typeface="Calibri" pitchFamily="34" charset="-120"/>
              </a:rPr>
              <a:t>Unfailed slopes serve as genuine negative examples.</a:t>
            </a:r>
            <a:endParaRPr lang="en-US" sz="1300" dirty="0"/>
          </a:p>
          <a:p>
            <a:pPr marL="342900" indent="-342900">
              <a:lnSpc>
                <a:spcPct val="115000"/>
              </a:lnSpc>
              <a:spcAft>
                <a:spcPts val="1200"/>
              </a:spcAft>
              <a:buSzPct val="100000"/>
              <a:buChar char="•"/>
            </a:pPr>
            <a:r>
              <a:rPr lang="en-US" sz="1300" b="1" dirty="0">
                <a:solidFill>
                  <a:srgbClr val="2B2320"/>
                </a:solidFill>
                <a:latin typeface="Calibri" pitchFamily="34" charset="0"/>
                <a:ea typeface="Calibri" pitchFamily="34" charset="-122"/>
                <a:cs typeface="Calibri" pitchFamily="34" charset="-120"/>
              </a:rPr>
              <a:t>Class balance: 96.1% negative / 3.9% positive — a realistic, imbalanced real-world signal.</a:t>
            </a:r>
            <a:endParaRPr lang="en-US" sz="1300" dirty="0"/>
          </a:p>
        </p:txBody>
      </p:sp>
      <p:sp>
        <p:nvSpPr>
          <p:cNvPr id="9" name="Text 7"/>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10" name="Text 8"/>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The Physics: Infinite Slope Stability</a:t>
            </a:r>
            <a:endParaRPr lang="en-US" sz="2700" dirty="0"/>
          </a:p>
        </p:txBody>
      </p:sp>
      <p:sp>
        <p:nvSpPr>
          <p:cNvPr id="3" name="Text 1"/>
          <p:cNvSpPr txBox="1"/>
          <p:nvPr/>
        </p:nvSpPr>
        <p:spPr>
          <a:xfrm>
            <a:off x="548640" y="1051560"/>
            <a:ext cx="10058400" cy="36576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A century-old geotechnical model, taught in every civil engineering course</a:t>
            </a:r>
            <a:endParaRPr lang="en-US" sz="1300" dirty="0"/>
          </a:p>
        </p:txBody>
      </p:sp>
      <p:sp>
        <p:nvSpPr>
          <p:cNvPr id="4" name="Shape 2"/>
          <p:cNvSpPr/>
          <p:nvPr/>
        </p:nvSpPr>
        <p:spPr>
          <a:xfrm>
            <a:off x="548640" y="1600200"/>
            <a:ext cx="11109960" cy="1371600"/>
          </a:xfrm>
          <a:prstGeom prst="roundRect">
            <a:avLst>
              <a:gd name="adj" fmla="val 5333"/>
            </a:avLst>
          </a:prstGeom>
          <a:solidFill>
            <a:srgbClr val="2B2320"/>
          </a:solidFill>
          <a:ln/>
        </p:spPr>
      </p:sp>
      <p:sp>
        <p:nvSpPr>
          <p:cNvPr id="5" name="Text 3"/>
          <p:cNvSpPr txBox="1"/>
          <p:nvPr/>
        </p:nvSpPr>
        <p:spPr>
          <a:xfrm>
            <a:off x="822960" y="1783080"/>
            <a:ext cx="10561320" cy="1005840"/>
          </a:xfrm>
          <a:prstGeom prst="rect">
            <a:avLst/>
          </a:prstGeom>
          <a:noFill/>
          <a:ln/>
        </p:spPr>
        <p:txBody>
          <a:bodyPr wrap="square" lIns="0" tIns="0" rIns="0" bIns="0" rtlCol="0" anchor="ctr"/>
          <a:lstStyle/>
          <a:p>
            <a:pPr algn="ctr" indent="0" marL="0">
              <a:buNone/>
            </a:pPr>
            <a:r>
              <a:rPr lang="en-US" sz="2200" b="1" i="1" dirty="0">
                <a:solidFill>
                  <a:srgbClr val="FFFFFF"/>
                </a:solidFill>
                <a:latin typeface="Cambria" pitchFamily="34" charset="0"/>
                <a:ea typeface="Cambria" pitchFamily="34" charset="-122"/>
                <a:cs typeface="Cambria" pitchFamily="34" charset="-120"/>
              </a:rPr>
              <a:t>FS = [ c′ + (γ·z·cos²β − u)·tanφ′ ]  /  ( γ·z·sinβ·cosβ )</a:t>
            </a:r>
            <a:endParaRPr lang="en-US" sz="2200" dirty="0"/>
          </a:p>
        </p:txBody>
      </p:sp>
      <p:sp>
        <p:nvSpPr>
          <p:cNvPr id="6" name="Shape 4"/>
          <p:cNvSpPr/>
          <p:nvPr/>
        </p:nvSpPr>
        <p:spPr>
          <a:xfrm>
            <a:off x="548640" y="3246120"/>
            <a:ext cx="457200" cy="457200"/>
          </a:xfrm>
          <a:prstGeom prst="ellipse">
            <a:avLst/>
          </a:prstGeom>
          <a:solidFill>
            <a:srgbClr val="B85042"/>
          </a:solidFill>
          <a:ln/>
        </p:spPr>
      </p:sp>
      <p:sp>
        <p:nvSpPr>
          <p:cNvPr id="7" name="Text 5"/>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FS</a:t>
            </a:r>
            <a:endParaRPr lang="en-US" sz="1400" dirty="0"/>
          </a:p>
        </p:txBody>
      </p:sp>
      <p:sp>
        <p:nvSpPr>
          <p:cNvPr id="8" name="Text 6"/>
          <p:cNvSpPr txBox="1"/>
          <p:nvPr/>
        </p:nvSpPr>
        <p:spPr>
          <a:xfrm>
            <a:off x="1143000" y="3227832"/>
            <a:ext cx="4846320" cy="502920"/>
          </a:xfrm>
          <a:prstGeom prst="rect">
            <a:avLst/>
          </a:prstGeom>
          <a:noFill/>
          <a:ln/>
        </p:spPr>
        <p:txBody>
          <a:bodyPr wrap="square" lIns="0" tIns="0" rIns="0" bIns="0" rtlCol="0" anchor="ctr"/>
          <a:lstStyle/>
          <a:p>
            <a:pPr indent="0" marL="0">
              <a:buNone/>
            </a:pPr>
            <a:r>
              <a:rPr lang="en-US" sz="1300" dirty="0">
                <a:solidFill>
                  <a:srgbClr val="2B2320"/>
                </a:solidFill>
                <a:latin typeface="Calibri" pitchFamily="34" charset="0"/>
                <a:ea typeface="Calibri" pitchFamily="34" charset="-122"/>
                <a:cs typeface="Calibri" pitchFamily="34" charset="-120"/>
              </a:rPr>
              <a:t>Factor of Safety — stable if FS &gt; 1</a:t>
            </a:r>
            <a:endParaRPr lang="en-US" sz="1300" dirty="0"/>
          </a:p>
        </p:txBody>
      </p:sp>
      <p:sp>
        <p:nvSpPr>
          <p:cNvPr id="9" name="Shape 7"/>
          <p:cNvSpPr/>
          <p:nvPr/>
        </p:nvSpPr>
        <p:spPr>
          <a:xfrm>
            <a:off x="548640" y="4206240"/>
            <a:ext cx="457200" cy="457200"/>
          </a:xfrm>
          <a:prstGeom prst="ellipse">
            <a:avLst/>
          </a:prstGeom>
          <a:solidFill>
            <a:srgbClr val="B85042"/>
          </a:solidFill>
          <a:ln/>
        </p:spPr>
      </p:sp>
      <p:sp>
        <p:nvSpPr>
          <p:cNvPr id="10" name="Text 8"/>
          <p:cNvSpPr txBox="1"/>
          <p:nvPr/>
        </p:nvSpPr>
        <p:spPr>
          <a:xfrm>
            <a:off x="548640" y="4206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1" name="Text 9"/>
          <p:cNvSpPr txBox="1"/>
          <p:nvPr/>
        </p:nvSpPr>
        <p:spPr>
          <a:xfrm>
            <a:off x="1143000" y="4187952"/>
            <a:ext cx="4846320" cy="502920"/>
          </a:xfrm>
          <a:prstGeom prst="rect">
            <a:avLst/>
          </a:prstGeom>
          <a:noFill/>
          <a:ln/>
        </p:spPr>
        <p:txBody>
          <a:bodyPr wrap="square" lIns="0" tIns="0" rIns="0" bIns="0" rtlCol="0" anchor="ctr"/>
          <a:lstStyle/>
          <a:p>
            <a:pPr indent="0" marL="0">
              <a:buNone/>
            </a:pPr>
            <a:r>
              <a:rPr lang="en-US" sz="1300" dirty="0">
                <a:solidFill>
                  <a:srgbClr val="2B2320"/>
                </a:solidFill>
                <a:latin typeface="Calibri" pitchFamily="34" charset="0"/>
                <a:ea typeface="Calibri" pitchFamily="34" charset="-122"/>
                <a:cs typeface="Calibri" pitchFamily="34" charset="-120"/>
              </a:rPr>
              <a:t>Effective cohesion — soil's inherent strength</a:t>
            </a:r>
            <a:endParaRPr lang="en-US" sz="1300" dirty="0"/>
          </a:p>
        </p:txBody>
      </p:sp>
      <p:sp>
        <p:nvSpPr>
          <p:cNvPr id="12" name="Shape 10"/>
          <p:cNvSpPr/>
          <p:nvPr/>
        </p:nvSpPr>
        <p:spPr>
          <a:xfrm>
            <a:off x="548640" y="5166360"/>
            <a:ext cx="457200" cy="457200"/>
          </a:xfrm>
          <a:prstGeom prst="ellipse">
            <a:avLst/>
          </a:prstGeom>
          <a:solidFill>
            <a:srgbClr val="B85042"/>
          </a:solidFill>
          <a:ln/>
        </p:spPr>
      </p:sp>
      <p:sp>
        <p:nvSpPr>
          <p:cNvPr id="13" name="Text 11"/>
          <p:cNvSpPr txBox="1"/>
          <p:nvPr/>
        </p:nvSpPr>
        <p:spPr>
          <a:xfrm>
            <a:off x="548640" y="5166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β</a:t>
            </a:r>
            <a:endParaRPr lang="en-US" sz="1400" dirty="0"/>
          </a:p>
        </p:txBody>
      </p:sp>
      <p:sp>
        <p:nvSpPr>
          <p:cNvPr id="14" name="Text 12"/>
          <p:cNvSpPr txBox="1"/>
          <p:nvPr/>
        </p:nvSpPr>
        <p:spPr>
          <a:xfrm>
            <a:off x="1143000" y="5148072"/>
            <a:ext cx="4846320" cy="502920"/>
          </a:xfrm>
          <a:prstGeom prst="rect">
            <a:avLst/>
          </a:prstGeom>
          <a:noFill/>
          <a:ln/>
        </p:spPr>
        <p:txBody>
          <a:bodyPr wrap="square" lIns="0" tIns="0" rIns="0" bIns="0" rtlCol="0" anchor="ctr"/>
          <a:lstStyle/>
          <a:p>
            <a:pPr indent="0" marL="0">
              <a:buNone/>
            </a:pPr>
            <a:r>
              <a:rPr lang="en-US" sz="1300" dirty="0">
                <a:solidFill>
                  <a:srgbClr val="2B2320"/>
                </a:solidFill>
                <a:latin typeface="Calibri" pitchFamily="34" charset="0"/>
                <a:ea typeface="Calibri" pitchFamily="34" charset="-122"/>
                <a:cs typeface="Calibri" pitchFamily="34" charset="-120"/>
              </a:rPr>
              <a:t>Slope angle from DEM</a:t>
            </a:r>
            <a:endParaRPr lang="en-US" sz="1300" dirty="0"/>
          </a:p>
        </p:txBody>
      </p:sp>
      <p:sp>
        <p:nvSpPr>
          <p:cNvPr id="15" name="Shape 13"/>
          <p:cNvSpPr/>
          <p:nvPr/>
        </p:nvSpPr>
        <p:spPr>
          <a:xfrm>
            <a:off x="6126480" y="3246120"/>
            <a:ext cx="457200" cy="457200"/>
          </a:xfrm>
          <a:prstGeom prst="ellipse">
            <a:avLst/>
          </a:prstGeom>
          <a:solidFill>
            <a:srgbClr val="B85042"/>
          </a:solidFill>
          <a:ln/>
        </p:spPr>
      </p:sp>
      <p:sp>
        <p:nvSpPr>
          <p:cNvPr id="16" name="Text 14"/>
          <p:cNvSpPr txBox="1"/>
          <p:nvPr/>
        </p:nvSpPr>
        <p:spPr>
          <a:xfrm>
            <a:off x="6126480" y="3246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φ′</a:t>
            </a:r>
            <a:endParaRPr lang="en-US" sz="1400" dirty="0"/>
          </a:p>
        </p:txBody>
      </p:sp>
      <p:sp>
        <p:nvSpPr>
          <p:cNvPr id="17" name="Text 15"/>
          <p:cNvSpPr txBox="1"/>
          <p:nvPr/>
        </p:nvSpPr>
        <p:spPr>
          <a:xfrm>
            <a:off x="6720840" y="3227832"/>
            <a:ext cx="4846320" cy="502920"/>
          </a:xfrm>
          <a:prstGeom prst="rect">
            <a:avLst/>
          </a:prstGeom>
          <a:noFill/>
          <a:ln/>
        </p:spPr>
        <p:txBody>
          <a:bodyPr wrap="square" lIns="0" tIns="0" rIns="0" bIns="0" rtlCol="0" anchor="ctr"/>
          <a:lstStyle/>
          <a:p>
            <a:pPr indent="0" marL="0">
              <a:buNone/>
            </a:pPr>
            <a:r>
              <a:rPr lang="en-US" sz="1300" dirty="0">
                <a:solidFill>
                  <a:srgbClr val="2B2320"/>
                </a:solidFill>
                <a:latin typeface="Calibri" pitchFamily="34" charset="0"/>
                <a:ea typeface="Calibri" pitchFamily="34" charset="-122"/>
                <a:cs typeface="Calibri" pitchFamily="34" charset="-120"/>
              </a:rPr>
              <a:t>Internal friction angle</a:t>
            </a:r>
            <a:endParaRPr lang="en-US" sz="1300" dirty="0"/>
          </a:p>
        </p:txBody>
      </p:sp>
      <p:sp>
        <p:nvSpPr>
          <p:cNvPr id="18" name="Shape 16"/>
          <p:cNvSpPr/>
          <p:nvPr/>
        </p:nvSpPr>
        <p:spPr>
          <a:xfrm>
            <a:off x="6126480" y="4206240"/>
            <a:ext cx="457200" cy="457200"/>
          </a:xfrm>
          <a:prstGeom prst="ellipse">
            <a:avLst/>
          </a:prstGeom>
          <a:solidFill>
            <a:srgbClr val="B85042"/>
          </a:solidFill>
          <a:ln/>
        </p:spPr>
      </p:sp>
      <p:sp>
        <p:nvSpPr>
          <p:cNvPr id="19" name="Text 17"/>
          <p:cNvSpPr txBox="1"/>
          <p:nvPr/>
        </p:nvSpPr>
        <p:spPr>
          <a:xfrm>
            <a:off x="6126480" y="4206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u</a:t>
            </a:r>
            <a:endParaRPr lang="en-US" sz="1400" dirty="0"/>
          </a:p>
        </p:txBody>
      </p:sp>
      <p:sp>
        <p:nvSpPr>
          <p:cNvPr id="20" name="Text 18"/>
          <p:cNvSpPr txBox="1"/>
          <p:nvPr/>
        </p:nvSpPr>
        <p:spPr>
          <a:xfrm>
            <a:off x="6720840" y="4187952"/>
            <a:ext cx="4846320" cy="502920"/>
          </a:xfrm>
          <a:prstGeom prst="rect">
            <a:avLst/>
          </a:prstGeom>
          <a:noFill/>
          <a:ln/>
        </p:spPr>
        <p:txBody>
          <a:bodyPr wrap="square" lIns="0" tIns="0" rIns="0" bIns="0" rtlCol="0" anchor="ctr"/>
          <a:lstStyle/>
          <a:p>
            <a:pPr indent="0" marL="0">
              <a:buNone/>
            </a:pPr>
            <a:r>
              <a:rPr lang="en-US" sz="1300" dirty="0">
                <a:solidFill>
                  <a:srgbClr val="2B2320"/>
                </a:solidFill>
                <a:latin typeface="Calibri" pitchFamily="34" charset="0"/>
                <a:ea typeface="Calibri" pitchFamily="34" charset="-122"/>
                <a:cs typeface="Calibri" pitchFamily="34" charset="-120"/>
              </a:rPr>
              <a:t>Pore-water pressure from soil saturation</a:t>
            </a:r>
            <a:endParaRPr lang="en-US" sz="1300" dirty="0"/>
          </a:p>
        </p:txBody>
      </p:sp>
      <p:sp>
        <p:nvSpPr>
          <p:cNvPr id="21" name="Shape 19"/>
          <p:cNvSpPr/>
          <p:nvPr/>
        </p:nvSpPr>
        <p:spPr>
          <a:xfrm>
            <a:off x="6126480" y="5166360"/>
            <a:ext cx="457200" cy="457200"/>
          </a:xfrm>
          <a:prstGeom prst="ellipse">
            <a:avLst/>
          </a:prstGeom>
          <a:solidFill>
            <a:srgbClr val="B85042"/>
          </a:solidFill>
          <a:ln/>
        </p:spPr>
      </p:sp>
      <p:sp>
        <p:nvSpPr>
          <p:cNvPr id="22" name="Text 20"/>
          <p:cNvSpPr txBox="1"/>
          <p:nvPr/>
        </p:nvSpPr>
        <p:spPr>
          <a:xfrm>
            <a:off x="6126480" y="5166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z</a:t>
            </a:r>
            <a:endParaRPr lang="en-US" sz="1400" dirty="0"/>
          </a:p>
        </p:txBody>
      </p:sp>
      <p:sp>
        <p:nvSpPr>
          <p:cNvPr id="23" name="Text 21"/>
          <p:cNvSpPr txBox="1"/>
          <p:nvPr/>
        </p:nvSpPr>
        <p:spPr>
          <a:xfrm>
            <a:off x="6720840" y="5148072"/>
            <a:ext cx="4846320" cy="502920"/>
          </a:xfrm>
          <a:prstGeom prst="rect">
            <a:avLst/>
          </a:prstGeom>
          <a:noFill/>
          <a:ln/>
        </p:spPr>
        <p:txBody>
          <a:bodyPr wrap="square" lIns="0" tIns="0" rIns="0" bIns="0" rtlCol="0" anchor="ctr"/>
          <a:lstStyle/>
          <a:p>
            <a:pPr indent="0" marL="0">
              <a:buNone/>
            </a:pPr>
            <a:r>
              <a:rPr lang="en-US" sz="1300" dirty="0">
                <a:solidFill>
                  <a:srgbClr val="2B2320"/>
                </a:solidFill>
                <a:latin typeface="Calibri" pitchFamily="34" charset="0"/>
                <a:ea typeface="Calibri" pitchFamily="34" charset="-122"/>
                <a:cs typeface="Calibri" pitchFamily="34" charset="-120"/>
              </a:rPr>
              <a:t>Failure slab thickness (soil depth)</a:t>
            </a:r>
            <a:endParaRPr lang="en-US" sz="1300" dirty="0"/>
          </a:p>
        </p:txBody>
      </p:sp>
      <p:sp>
        <p:nvSpPr>
          <p:cNvPr id="24" name="Text 22"/>
          <p:cNvSpPr txBox="1"/>
          <p:nvPr/>
        </p:nvSpPr>
        <p:spPr>
          <a:xfrm>
            <a:off x="548640" y="5989320"/>
            <a:ext cx="10972800" cy="365760"/>
          </a:xfrm>
          <a:prstGeom prst="rect">
            <a:avLst/>
          </a:prstGeom>
          <a:noFill/>
          <a:ln/>
        </p:spPr>
        <p:txBody>
          <a:bodyPr wrap="square" lIns="0" tIns="0" rIns="0" bIns="0" rtlCol="0" anchor="ctr"/>
          <a:lstStyle/>
          <a:p>
            <a:pPr indent="0" marL="0">
              <a:buNone/>
            </a:pPr>
            <a:r>
              <a:rPr lang="en-US" sz="1250" i="1" dirty="0">
                <a:solidFill>
                  <a:srgbClr val="5C5450"/>
                </a:solidFill>
                <a:latin typeface="Calibri" pitchFamily="34" charset="0"/>
                <a:ea typeface="Calibri" pitchFamily="34" charset="-122"/>
                <a:cs typeface="Calibri" pitchFamily="34" charset="-120"/>
              </a:rPr>
              <a:t>In plain terms: a slope fails when gravity’s pull along the surface exceeds the soil’s ability to resist sliding.</a:t>
            </a:r>
            <a:endParaRPr lang="en-US" sz="1250" dirty="0"/>
          </a:p>
        </p:txBody>
      </p:sp>
      <p:sp>
        <p:nvSpPr>
          <p:cNvPr id="25" name="Text 23"/>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26" name="Text 24"/>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Adding Earthquakes: Pseudo-Static Newmark Model</a:t>
            </a:r>
            <a:endParaRPr lang="en-US" sz="2700" dirty="0"/>
          </a:p>
        </p:txBody>
      </p:sp>
      <p:sp>
        <p:nvSpPr>
          <p:cNvPr id="3" name="Text 1"/>
          <p:cNvSpPr txBox="1"/>
          <p:nvPr/>
        </p:nvSpPr>
        <p:spPr>
          <a:xfrm>
            <a:off x="548640" y="1051560"/>
            <a:ext cx="10515600" cy="36576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NE India sits in Seismic Zones IV and V — earthquakes make slopes fail faster</a:t>
            </a:r>
            <a:endParaRPr lang="en-US" sz="1300" dirty="0"/>
          </a:p>
        </p:txBody>
      </p:sp>
      <p:sp>
        <p:nvSpPr>
          <p:cNvPr id="4" name="Shape 2"/>
          <p:cNvSpPr/>
          <p:nvPr/>
        </p:nvSpPr>
        <p:spPr>
          <a:xfrm>
            <a:off x="548640" y="1600200"/>
            <a:ext cx="11109960" cy="1508760"/>
          </a:xfrm>
          <a:prstGeom prst="roundRect">
            <a:avLst>
              <a:gd name="adj" fmla="val 4848"/>
            </a:avLst>
          </a:prstGeom>
          <a:solidFill>
            <a:srgbClr val="2B2320"/>
          </a:solidFill>
          <a:ln/>
        </p:spPr>
      </p:sp>
      <p:sp>
        <p:nvSpPr>
          <p:cNvPr id="5" name="Text 3"/>
          <p:cNvSpPr txBox="1"/>
          <p:nvPr/>
        </p:nvSpPr>
        <p:spPr>
          <a:xfrm>
            <a:off x="822960" y="1783080"/>
            <a:ext cx="10561320" cy="1143000"/>
          </a:xfrm>
          <a:prstGeom prst="rect">
            <a:avLst/>
          </a:prstGeom>
          <a:noFill/>
          <a:ln/>
        </p:spPr>
        <p:txBody>
          <a:bodyPr wrap="square" lIns="0" tIns="0" rIns="0" bIns="0" rtlCol="0" anchor="ctr"/>
          <a:lstStyle/>
          <a:p>
            <a:pPr algn="ctr" indent="0" marL="0">
              <a:buNone/>
            </a:pPr>
            <a:r>
              <a:rPr lang="en-US" sz="1550" b="1" i="1" dirty="0">
                <a:solidFill>
                  <a:srgbClr val="FFFFFF"/>
                </a:solidFill>
                <a:latin typeface="Cambria" pitchFamily="34" charset="0"/>
                <a:ea typeface="Cambria" pitchFamily="34" charset="-122"/>
                <a:cs typeface="Cambria" pitchFamily="34" charset="-120"/>
              </a:rPr>
              <a:t>FS_seismic = [ c′ + (γz·cos²β(1−kᵥ) − u − kₕ·γz·sinβcosβ)·tanφ′ ]  /  ( γz·sinβcosβ + kₕ·γz·cos²β )</a:t>
            </a:r>
            <a:endParaRPr lang="en-US" sz="1550" dirty="0"/>
          </a:p>
        </p:txBody>
      </p:sp>
      <p:sp>
        <p:nvSpPr>
          <p:cNvPr id="6" name="Shape 4"/>
          <p:cNvSpPr/>
          <p:nvPr/>
        </p:nvSpPr>
        <p:spPr>
          <a:xfrm>
            <a:off x="640080" y="3429000"/>
            <a:ext cx="685800" cy="685800"/>
          </a:xfrm>
          <a:prstGeom prst="ellipse">
            <a:avLst/>
          </a:prstGeom>
          <a:solidFill>
            <a:srgbClr val="D9A441"/>
          </a:solidFill>
          <a:ln/>
        </p:spPr>
      </p:sp>
      <p:pic>
        <p:nvPicPr>
          <p:cNvPr id="7" name="Image 0" descr="assets/bolt_white.png">    </p:cNvPr>
          <p:cNvPicPr>
            <a:picLocks noChangeAspect="1"/>
          </p:cNvPicPr>
          <p:nvPr/>
        </p:nvPicPr>
        <p:blipFill>
          <a:blip r:embed="rId1"/>
          <a:stretch>
            <a:fillRect/>
          </a:stretch>
        </p:blipFill>
        <p:spPr>
          <a:xfrm>
            <a:off x="818388" y="3607308"/>
            <a:ext cx="329184" cy="329184"/>
          </a:xfrm>
          <a:prstGeom prst="rect">
            <a:avLst/>
          </a:prstGeom>
        </p:spPr>
      </p:pic>
      <p:sp>
        <p:nvSpPr>
          <p:cNvPr id="8" name="Text 5"/>
          <p:cNvSpPr txBox="1"/>
          <p:nvPr/>
        </p:nvSpPr>
        <p:spPr>
          <a:xfrm>
            <a:off x="1508760" y="3474720"/>
            <a:ext cx="4114800" cy="365760"/>
          </a:xfrm>
          <a:prstGeom prst="rect">
            <a:avLst/>
          </a:prstGeom>
          <a:noFill/>
          <a:ln/>
        </p:spPr>
        <p:txBody>
          <a:bodyPr wrap="square" lIns="0" tIns="0" rIns="0" bIns="0" rtlCol="0" anchor="ctr"/>
          <a:lstStyle/>
          <a:p>
            <a:pPr indent="0" marL="0">
              <a:buNone/>
            </a:pPr>
            <a:r>
              <a:rPr lang="en-US" sz="1600" b="1" dirty="0">
                <a:solidFill>
                  <a:srgbClr val="2B2320"/>
                </a:solidFill>
                <a:latin typeface="Cambria" pitchFamily="34" charset="0"/>
                <a:ea typeface="Cambria" pitchFamily="34" charset="-122"/>
                <a:cs typeface="Cambria" pitchFamily="34" charset="-120"/>
              </a:rPr>
              <a:t>kₕ ≈ 0.5 × PGA</a:t>
            </a:r>
            <a:endParaRPr lang="en-US" sz="1600" dirty="0"/>
          </a:p>
        </p:txBody>
      </p:sp>
      <p:sp>
        <p:nvSpPr>
          <p:cNvPr id="9" name="Text 6"/>
          <p:cNvSpPr txBox="1"/>
          <p:nvPr/>
        </p:nvSpPr>
        <p:spPr>
          <a:xfrm>
            <a:off x="1508760" y="3840480"/>
            <a:ext cx="4389120" cy="457200"/>
          </a:xfrm>
          <a:prstGeom prst="rect">
            <a:avLst/>
          </a:prstGeom>
          <a:noFill/>
          <a:ln/>
        </p:spPr>
        <p:txBody>
          <a:bodyPr wrap="square" lIns="0" tIns="0" rIns="0" bIns="0" rtlCol="0" anchor="ctr"/>
          <a:lstStyle/>
          <a:p>
            <a:pPr indent="0" marL="0">
              <a:buNone/>
            </a:pPr>
            <a:r>
              <a:rPr lang="en-US" sz="1250" dirty="0">
                <a:solidFill>
                  <a:srgbClr val="5C5450"/>
                </a:solidFill>
                <a:latin typeface="Calibri" pitchFamily="34" charset="0"/>
                <a:ea typeface="Calibri" pitchFamily="34" charset="-122"/>
                <a:cs typeface="Calibri" pitchFamily="34" charset="-120"/>
              </a:rPr>
              <a:t>horizontal seismic coefficient, derived from Peak Ground Acceleration</a:t>
            </a:r>
            <a:endParaRPr lang="en-US" sz="1250" dirty="0"/>
          </a:p>
        </p:txBody>
      </p:sp>
      <p:sp>
        <p:nvSpPr>
          <p:cNvPr id="10" name="Shape 7"/>
          <p:cNvSpPr/>
          <p:nvPr/>
        </p:nvSpPr>
        <p:spPr>
          <a:xfrm>
            <a:off x="6400800" y="3429000"/>
            <a:ext cx="685800" cy="685800"/>
          </a:xfrm>
          <a:prstGeom prst="ellipse">
            <a:avLst/>
          </a:prstGeom>
          <a:solidFill>
            <a:srgbClr val="4A5D5E"/>
          </a:solidFill>
          <a:ln/>
        </p:spPr>
      </p:sp>
      <p:pic>
        <p:nvPicPr>
          <p:cNvPr id="11" name="Image 1" descr="assets/gauge_white.png">    </p:cNvPr>
          <p:cNvPicPr>
            <a:picLocks noChangeAspect="1"/>
          </p:cNvPicPr>
          <p:nvPr/>
        </p:nvPicPr>
        <p:blipFill>
          <a:blip r:embed="rId2"/>
          <a:stretch>
            <a:fillRect/>
          </a:stretch>
        </p:blipFill>
        <p:spPr>
          <a:xfrm>
            <a:off x="6579108" y="3607308"/>
            <a:ext cx="329184" cy="329184"/>
          </a:xfrm>
          <a:prstGeom prst="rect">
            <a:avLst/>
          </a:prstGeom>
        </p:spPr>
      </p:pic>
      <p:sp>
        <p:nvSpPr>
          <p:cNvPr id="12" name="Text 8"/>
          <p:cNvSpPr txBox="1"/>
          <p:nvPr/>
        </p:nvSpPr>
        <p:spPr>
          <a:xfrm>
            <a:off x="7269480" y="3474720"/>
            <a:ext cx="4114800" cy="365760"/>
          </a:xfrm>
          <a:prstGeom prst="rect">
            <a:avLst/>
          </a:prstGeom>
          <a:noFill/>
          <a:ln/>
        </p:spPr>
        <p:txBody>
          <a:bodyPr wrap="square" lIns="0" tIns="0" rIns="0" bIns="0" rtlCol="0" anchor="ctr"/>
          <a:lstStyle/>
          <a:p>
            <a:pPr indent="0" marL="0">
              <a:buNone/>
            </a:pPr>
            <a:r>
              <a:rPr lang="en-US" sz="1600" b="1" dirty="0">
                <a:solidFill>
                  <a:srgbClr val="2B2320"/>
                </a:solidFill>
                <a:latin typeface="Cambria" pitchFamily="34" charset="0"/>
                <a:ea typeface="Cambria" pitchFamily="34" charset="-122"/>
                <a:cs typeface="Cambria" pitchFamily="34" charset="-120"/>
              </a:rPr>
              <a:t>kᵥ ≈ 0.33 × kₕ</a:t>
            </a:r>
            <a:endParaRPr lang="en-US" sz="1600" dirty="0"/>
          </a:p>
        </p:txBody>
      </p:sp>
      <p:sp>
        <p:nvSpPr>
          <p:cNvPr id="13" name="Text 9"/>
          <p:cNvSpPr txBox="1"/>
          <p:nvPr/>
        </p:nvSpPr>
        <p:spPr>
          <a:xfrm>
            <a:off x="7269480" y="3840480"/>
            <a:ext cx="4389120" cy="457200"/>
          </a:xfrm>
          <a:prstGeom prst="rect">
            <a:avLst/>
          </a:prstGeom>
          <a:noFill/>
          <a:ln/>
        </p:spPr>
        <p:txBody>
          <a:bodyPr wrap="square" lIns="0" tIns="0" rIns="0" bIns="0" rtlCol="0" anchor="ctr"/>
          <a:lstStyle/>
          <a:p>
            <a:pPr indent="0" marL="0">
              <a:buNone/>
            </a:pPr>
            <a:r>
              <a:rPr lang="en-US" sz="1250" dirty="0">
                <a:solidFill>
                  <a:srgbClr val="5C5450"/>
                </a:solidFill>
                <a:latin typeface="Calibri" pitchFamily="34" charset="0"/>
                <a:ea typeface="Calibri" pitchFamily="34" charset="-122"/>
                <a:cs typeface="Calibri" pitchFamily="34" charset="-120"/>
              </a:rPr>
              <a:t>vertical seismic coefficient, reduces the confining normal stress</a:t>
            </a:r>
            <a:endParaRPr lang="en-US" sz="1250" dirty="0"/>
          </a:p>
        </p:txBody>
      </p:sp>
      <p:sp>
        <p:nvSpPr>
          <p:cNvPr id="14" name="Shape 10"/>
          <p:cNvSpPr/>
          <p:nvPr/>
        </p:nvSpPr>
        <p:spPr>
          <a:xfrm>
            <a:off x="548640" y="4526280"/>
            <a:ext cx="11109960" cy="1691640"/>
          </a:xfrm>
          <a:prstGeom prst="roundRect">
            <a:avLst>
              <a:gd name="adj" fmla="val 4324"/>
            </a:avLst>
          </a:prstGeom>
          <a:solidFill>
            <a:srgbClr val="F4F1EC"/>
          </a:solidFill>
          <a:ln/>
        </p:spPr>
      </p:sp>
      <p:sp>
        <p:nvSpPr>
          <p:cNvPr id="15" name="Text 11"/>
          <p:cNvSpPr txBox="1"/>
          <p:nvPr/>
        </p:nvSpPr>
        <p:spPr>
          <a:xfrm>
            <a:off x="822960" y="4709160"/>
            <a:ext cx="4572000" cy="365760"/>
          </a:xfrm>
          <a:prstGeom prst="rect">
            <a:avLst/>
          </a:prstGeom>
          <a:noFill/>
          <a:ln/>
        </p:spPr>
        <p:txBody>
          <a:bodyPr wrap="square" lIns="0" tIns="0" rIns="0" bIns="0" rtlCol="0" anchor="ctr"/>
          <a:lstStyle/>
          <a:p>
            <a:pPr indent="0" marL="0">
              <a:buNone/>
            </a:pPr>
            <a:r>
              <a:rPr lang="en-US" sz="1400" b="1" dirty="0">
                <a:solidFill>
                  <a:srgbClr val="2B2320"/>
                </a:solidFill>
                <a:latin typeface="Cambria" pitchFamily="34" charset="0"/>
                <a:ea typeface="Cambria" pitchFamily="34" charset="-122"/>
                <a:cs typeface="Cambria" pitchFamily="34" charset="-120"/>
              </a:rPr>
              <a:t>Why this matters</a:t>
            </a:r>
            <a:endParaRPr lang="en-US" sz="1400" dirty="0"/>
          </a:p>
        </p:txBody>
      </p:sp>
      <p:sp>
        <p:nvSpPr>
          <p:cNvPr id="16" name="Text 12"/>
          <p:cNvSpPr txBox="1"/>
          <p:nvPr/>
        </p:nvSpPr>
        <p:spPr>
          <a:xfrm>
            <a:off x="822960" y="5074920"/>
            <a:ext cx="10515600" cy="1051560"/>
          </a:xfrm>
          <a:prstGeom prst="rect">
            <a:avLst/>
          </a:prstGeom>
          <a:noFill/>
          <a:ln/>
        </p:spPr>
        <p:txBody>
          <a:bodyPr wrap="square" lIns="0" tIns="0" rIns="0" bIns="0" rtlCol="0" anchor="ctr"/>
          <a:lstStyle/>
          <a:p>
            <a:pPr indent="0" marL="0">
              <a:lnSpc>
                <a:spcPct val="120000"/>
              </a:lnSpc>
              <a:buNone/>
            </a:pPr>
            <a:r>
              <a:rPr lang="en-US" sz="1300" dirty="0">
                <a:solidFill>
                  <a:srgbClr val="5C5450"/>
                </a:solidFill>
                <a:latin typeface="Calibri" pitchFamily="34" charset="0"/>
                <a:ea typeface="Calibri" pitchFamily="34" charset="-122"/>
                <a:cs typeface="Calibri" pitchFamily="34" charset="-120"/>
              </a:rPr>
              <a:t>An earthquake adds a horizontal push (kₕ) and reduces the vertical clamping force (kᵥ) on a slope at the same time — both effects lower the Factor of Safety together. LITHOS bakes this physics directly into training, so predictions respect real seismic risk instead of ignoring it.</a:t>
            </a:r>
            <a:endParaRPr lang="en-US" sz="1300" dirty="0"/>
          </a:p>
        </p:txBody>
      </p:sp>
      <p:sp>
        <p:nvSpPr>
          <p:cNvPr id="17" name="Text 13"/>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18" name="Text 14"/>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How Physics Trains the Neural Network</a:t>
            </a:r>
            <a:endParaRPr lang="en-US" sz="2700" dirty="0"/>
          </a:p>
        </p:txBody>
      </p:sp>
      <p:sp>
        <p:nvSpPr>
          <p:cNvPr id="3" name="Text 1"/>
          <p:cNvSpPr txBox="1"/>
          <p:nvPr/>
        </p:nvSpPr>
        <p:spPr>
          <a:xfrm>
            <a:off x="548640" y="1051560"/>
            <a:ext cx="10058400" cy="36576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The loss function blends real-world evidence with geomechanical law</a:t>
            </a:r>
            <a:endParaRPr lang="en-US" sz="1300" dirty="0"/>
          </a:p>
        </p:txBody>
      </p:sp>
      <p:sp>
        <p:nvSpPr>
          <p:cNvPr id="4" name="Shape 2"/>
          <p:cNvSpPr/>
          <p:nvPr/>
        </p:nvSpPr>
        <p:spPr>
          <a:xfrm>
            <a:off x="548640" y="1600200"/>
            <a:ext cx="11109960" cy="914400"/>
          </a:xfrm>
          <a:prstGeom prst="roundRect">
            <a:avLst>
              <a:gd name="adj" fmla="val 8000"/>
            </a:avLst>
          </a:prstGeom>
          <a:solidFill>
            <a:srgbClr val="2B2320"/>
          </a:solidFill>
          <a:ln/>
        </p:spPr>
      </p:sp>
      <p:sp>
        <p:nvSpPr>
          <p:cNvPr id="5" name="Text 3"/>
          <p:cNvSpPr txBox="1"/>
          <p:nvPr/>
        </p:nvSpPr>
        <p:spPr>
          <a:xfrm>
            <a:off x="822960" y="1600200"/>
            <a:ext cx="10561320" cy="914400"/>
          </a:xfrm>
          <a:prstGeom prst="rect">
            <a:avLst/>
          </a:prstGeom>
          <a:noFill/>
          <a:ln/>
        </p:spPr>
        <p:txBody>
          <a:bodyPr wrap="square" lIns="0" tIns="0" rIns="0" bIns="0" rtlCol="0" anchor="ctr"/>
          <a:lstStyle/>
          <a:p>
            <a:pPr algn="ctr" indent="0" marL="0">
              <a:buNone/>
            </a:pPr>
            <a:r>
              <a:rPr lang="en-US" sz="1900" b="1" i="1" dirty="0">
                <a:solidFill>
                  <a:srgbClr val="FFFFFF"/>
                </a:solidFill>
                <a:latin typeface="Cambria" pitchFamily="34" charset="0"/>
                <a:ea typeface="Cambria" pitchFamily="34" charset="-122"/>
                <a:cs typeface="Cambria" pitchFamily="34" charset="-120"/>
              </a:rPr>
              <a:t>L_total  =  L_BCE (data)  +  λ(t) · L_phys (physics)  +  weight decay</a:t>
            </a:r>
            <a:endParaRPr lang="en-US" sz="1900" dirty="0"/>
          </a:p>
        </p:txBody>
      </p:sp>
      <p:sp>
        <p:nvSpPr>
          <p:cNvPr id="6" name="Shape 4"/>
          <p:cNvSpPr/>
          <p:nvPr/>
        </p:nvSpPr>
        <p:spPr>
          <a:xfrm>
            <a:off x="548640" y="2788920"/>
            <a:ext cx="3566160" cy="3566160"/>
          </a:xfrm>
          <a:prstGeom prst="roundRect">
            <a:avLst>
              <a:gd name="adj" fmla="val 2051"/>
            </a:avLst>
          </a:prstGeom>
          <a:solidFill>
            <a:srgbClr val="F4F1EC"/>
          </a:solidFill>
          <a:ln/>
        </p:spPr>
      </p:sp>
      <p:sp>
        <p:nvSpPr>
          <p:cNvPr id="7" name="Shape 5"/>
          <p:cNvSpPr/>
          <p:nvPr/>
        </p:nvSpPr>
        <p:spPr>
          <a:xfrm>
            <a:off x="1965960" y="3063240"/>
            <a:ext cx="731520" cy="731520"/>
          </a:xfrm>
          <a:prstGeom prst="ellipse">
            <a:avLst/>
          </a:prstGeom>
          <a:solidFill>
            <a:srgbClr val="B85042"/>
          </a:solidFill>
          <a:ln/>
        </p:spPr>
      </p:sp>
      <p:pic>
        <p:nvPicPr>
          <p:cNvPr id="8" name="Image 0" descr="assets/chartLine_white.png">    </p:cNvPr>
          <p:cNvPicPr>
            <a:picLocks noChangeAspect="1"/>
          </p:cNvPicPr>
          <p:nvPr/>
        </p:nvPicPr>
        <p:blipFill>
          <a:blip r:embed="rId1"/>
          <a:stretch>
            <a:fillRect/>
          </a:stretch>
        </p:blipFill>
        <p:spPr>
          <a:xfrm>
            <a:off x="2156155" y="3253435"/>
            <a:ext cx="351130" cy="351130"/>
          </a:xfrm>
          <a:prstGeom prst="rect">
            <a:avLst/>
          </a:prstGeom>
        </p:spPr>
      </p:pic>
      <p:sp>
        <p:nvSpPr>
          <p:cNvPr id="9" name="Text 6"/>
          <p:cNvSpPr txBox="1"/>
          <p:nvPr/>
        </p:nvSpPr>
        <p:spPr>
          <a:xfrm>
            <a:off x="731520" y="4023360"/>
            <a:ext cx="3200400" cy="594360"/>
          </a:xfrm>
          <a:prstGeom prst="rect">
            <a:avLst/>
          </a:prstGeom>
          <a:noFill/>
          <a:ln/>
        </p:spPr>
        <p:txBody>
          <a:bodyPr wrap="square" lIns="0" tIns="0" rIns="0" bIns="0" rtlCol="0" anchor="ctr"/>
          <a:lstStyle/>
          <a:p>
            <a:pPr algn="ctr" indent="0" marL="0">
              <a:buNone/>
            </a:pPr>
            <a:r>
              <a:rPr lang="en-US" sz="1450" b="1" dirty="0">
                <a:solidFill>
                  <a:srgbClr val="2B2320"/>
                </a:solidFill>
                <a:latin typeface="Cambria" pitchFamily="34" charset="0"/>
                <a:ea typeface="Cambria" pitchFamily="34" charset="-122"/>
                <a:cs typeface="Cambria" pitchFamily="34" charset="-120"/>
              </a:rPr>
              <a:t>Empirical Data Loss</a:t>
            </a:r>
            <a:endParaRPr lang="en-US" sz="1450" dirty="0"/>
          </a:p>
        </p:txBody>
      </p:sp>
      <p:sp>
        <p:nvSpPr>
          <p:cNvPr id="10" name="Text 7"/>
          <p:cNvSpPr txBox="1"/>
          <p:nvPr/>
        </p:nvSpPr>
        <p:spPr>
          <a:xfrm>
            <a:off x="777240" y="4663440"/>
            <a:ext cx="3108960" cy="1645920"/>
          </a:xfrm>
          <a:prstGeom prst="rect">
            <a:avLst/>
          </a:prstGeom>
          <a:noFill/>
          <a:ln/>
        </p:spPr>
        <p:txBody>
          <a:bodyPr wrap="square" lIns="0" tIns="0" rIns="0" bIns="0" rtlCol="0" anchor="ctr"/>
          <a:lstStyle/>
          <a:p>
            <a:pPr algn="ctr" indent="0" marL="0">
              <a:lnSpc>
                <a:spcPct val="115000"/>
              </a:lnSpc>
              <a:buNone/>
            </a:pPr>
            <a:r>
              <a:rPr lang="en-US" sz="1200" dirty="0">
                <a:solidFill>
                  <a:srgbClr val="5C5450"/>
                </a:solidFill>
                <a:latin typeface="Calibri" pitchFamily="34" charset="0"/>
                <a:ea typeface="Calibri" pitchFamily="34" charset="-122"/>
                <a:cs typeface="Calibri" pitchFamily="34" charset="-120"/>
              </a:rPr>
              <a:t>Weighted binary cross-entropy against the 675 real historical events. Positive-class weight = 12.84 to counter the 96/4 class imbalance.</a:t>
            </a:r>
            <a:endParaRPr lang="en-US" sz="1200" dirty="0"/>
          </a:p>
        </p:txBody>
      </p:sp>
      <p:sp>
        <p:nvSpPr>
          <p:cNvPr id="11" name="Shape 8"/>
          <p:cNvSpPr/>
          <p:nvPr/>
        </p:nvSpPr>
        <p:spPr>
          <a:xfrm>
            <a:off x="4297680" y="2788920"/>
            <a:ext cx="3566160" cy="3566160"/>
          </a:xfrm>
          <a:prstGeom prst="roundRect">
            <a:avLst>
              <a:gd name="adj" fmla="val 2051"/>
            </a:avLst>
          </a:prstGeom>
          <a:solidFill>
            <a:srgbClr val="F4F1EC"/>
          </a:solidFill>
          <a:ln/>
        </p:spPr>
      </p:sp>
      <p:sp>
        <p:nvSpPr>
          <p:cNvPr id="12" name="Shape 9"/>
          <p:cNvSpPr/>
          <p:nvPr/>
        </p:nvSpPr>
        <p:spPr>
          <a:xfrm>
            <a:off x="5715000" y="3063240"/>
            <a:ext cx="731520" cy="731520"/>
          </a:xfrm>
          <a:prstGeom prst="ellipse">
            <a:avLst/>
          </a:prstGeom>
          <a:solidFill>
            <a:srgbClr val="B85042"/>
          </a:solidFill>
          <a:ln/>
        </p:spPr>
      </p:sp>
      <p:pic>
        <p:nvPicPr>
          <p:cNvPr id="13" name="Image 1" descr="assets/flask_white.png">    </p:cNvPr>
          <p:cNvPicPr>
            <a:picLocks noChangeAspect="1"/>
          </p:cNvPicPr>
          <p:nvPr/>
        </p:nvPicPr>
        <p:blipFill>
          <a:blip r:embed="rId2"/>
          <a:stretch>
            <a:fillRect/>
          </a:stretch>
        </p:blipFill>
        <p:spPr>
          <a:xfrm>
            <a:off x="5905195" y="3253435"/>
            <a:ext cx="351130" cy="351130"/>
          </a:xfrm>
          <a:prstGeom prst="rect">
            <a:avLst/>
          </a:prstGeom>
        </p:spPr>
      </p:pic>
      <p:sp>
        <p:nvSpPr>
          <p:cNvPr id="14" name="Text 10"/>
          <p:cNvSpPr txBox="1"/>
          <p:nvPr/>
        </p:nvSpPr>
        <p:spPr>
          <a:xfrm>
            <a:off x="4480560" y="4023360"/>
            <a:ext cx="3200400" cy="594360"/>
          </a:xfrm>
          <a:prstGeom prst="rect">
            <a:avLst/>
          </a:prstGeom>
          <a:noFill/>
          <a:ln/>
        </p:spPr>
        <p:txBody>
          <a:bodyPr wrap="square" lIns="0" tIns="0" rIns="0" bIns="0" rtlCol="0" anchor="ctr"/>
          <a:lstStyle/>
          <a:p>
            <a:pPr algn="ctr" indent="0" marL="0">
              <a:buNone/>
            </a:pPr>
            <a:r>
              <a:rPr lang="en-US" sz="1450" b="1" dirty="0">
                <a:solidFill>
                  <a:srgbClr val="2B2320"/>
                </a:solidFill>
                <a:latin typeface="Cambria" pitchFamily="34" charset="0"/>
                <a:ea typeface="Cambria" pitchFamily="34" charset="-122"/>
                <a:cs typeface="Cambria" pitchFamily="34" charset="-120"/>
              </a:rPr>
              <a:t>Physics Violation Penalty</a:t>
            </a:r>
            <a:endParaRPr lang="en-US" sz="1450" dirty="0"/>
          </a:p>
        </p:txBody>
      </p:sp>
      <p:sp>
        <p:nvSpPr>
          <p:cNvPr id="15" name="Text 11"/>
          <p:cNvSpPr txBox="1"/>
          <p:nvPr/>
        </p:nvSpPr>
        <p:spPr>
          <a:xfrm>
            <a:off x="4526280" y="4663440"/>
            <a:ext cx="3108960" cy="1645920"/>
          </a:xfrm>
          <a:prstGeom prst="rect">
            <a:avLst/>
          </a:prstGeom>
          <a:noFill/>
          <a:ln/>
        </p:spPr>
        <p:txBody>
          <a:bodyPr wrap="square" lIns="0" tIns="0" rIns="0" bIns="0" rtlCol="0" anchor="ctr"/>
          <a:lstStyle/>
          <a:p>
            <a:pPr algn="ctr" indent="0" marL="0">
              <a:lnSpc>
                <a:spcPct val="115000"/>
              </a:lnSpc>
              <a:buNone/>
            </a:pPr>
            <a:r>
              <a:rPr lang="en-US" sz="1200" dirty="0">
                <a:solidFill>
                  <a:srgbClr val="5C5450"/>
                </a:solidFill>
                <a:latin typeface="Calibri" pitchFamily="34" charset="0"/>
                <a:ea typeface="Calibri" pitchFamily="34" charset="-122"/>
                <a:cs typeface="Calibri" pitchFamily="34" charset="-120"/>
              </a:rPr>
              <a:t>Penalizes any prediction that contradicts geomechanics — e.g. predicting "stable" when FS &lt; 1.0, or "failure" when FS &gt; 1.8 with no rainfall/seismic trigger.</a:t>
            </a:r>
            <a:endParaRPr lang="en-US" sz="1200" dirty="0"/>
          </a:p>
        </p:txBody>
      </p:sp>
      <p:sp>
        <p:nvSpPr>
          <p:cNvPr id="16" name="Shape 12"/>
          <p:cNvSpPr/>
          <p:nvPr/>
        </p:nvSpPr>
        <p:spPr>
          <a:xfrm>
            <a:off x="8046720" y="2788920"/>
            <a:ext cx="3566160" cy="3566160"/>
          </a:xfrm>
          <a:prstGeom prst="roundRect">
            <a:avLst>
              <a:gd name="adj" fmla="val 2051"/>
            </a:avLst>
          </a:prstGeom>
          <a:solidFill>
            <a:srgbClr val="F4F1EC"/>
          </a:solidFill>
          <a:ln/>
        </p:spPr>
      </p:sp>
      <p:sp>
        <p:nvSpPr>
          <p:cNvPr id="17" name="Shape 13"/>
          <p:cNvSpPr/>
          <p:nvPr/>
        </p:nvSpPr>
        <p:spPr>
          <a:xfrm>
            <a:off x="9464040" y="3063240"/>
            <a:ext cx="731520" cy="731520"/>
          </a:xfrm>
          <a:prstGeom prst="ellipse">
            <a:avLst/>
          </a:prstGeom>
          <a:solidFill>
            <a:srgbClr val="B85042"/>
          </a:solidFill>
          <a:ln/>
        </p:spPr>
      </p:sp>
      <p:pic>
        <p:nvPicPr>
          <p:cNvPr id="18" name="Image 2" descr="assets/gauge_white.png">    </p:cNvPr>
          <p:cNvPicPr>
            <a:picLocks noChangeAspect="1"/>
          </p:cNvPicPr>
          <p:nvPr/>
        </p:nvPicPr>
        <p:blipFill>
          <a:blip r:embed="rId3"/>
          <a:stretch>
            <a:fillRect/>
          </a:stretch>
        </p:blipFill>
        <p:spPr>
          <a:xfrm>
            <a:off x="9654235" y="3253435"/>
            <a:ext cx="351130" cy="351130"/>
          </a:xfrm>
          <a:prstGeom prst="rect">
            <a:avLst/>
          </a:prstGeom>
        </p:spPr>
      </p:pic>
      <p:sp>
        <p:nvSpPr>
          <p:cNvPr id="19" name="Text 14"/>
          <p:cNvSpPr txBox="1"/>
          <p:nvPr/>
        </p:nvSpPr>
        <p:spPr>
          <a:xfrm>
            <a:off x="8229600" y="4023360"/>
            <a:ext cx="3200400" cy="594360"/>
          </a:xfrm>
          <a:prstGeom prst="rect">
            <a:avLst/>
          </a:prstGeom>
          <a:noFill/>
          <a:ln/>
        </p:spPr>
        <p:txBody>
          <a:bodyPr wrap="square" lIns="0" tIns="0" rIns="0" bIns="0" rtlCol="0" anchor="ctr"/>
          <a:lstStyle/>
          <a:p>
            <a:pPr algn="ctr" indent="0" marL="0">
              <a:buNone/>
            </a:pPr>
            <a:r>
              <a:rPr lang="en-US" sz="1450" b="1" dirty="0">
                <a:solidFill>
                  <a:srgbClr val="2B2320"/>
                </a:solidFill>
                <a:latin typeface="Cambria" pitchFamily="34" charset="0"/>
                <a:ea typeface="Cambria" pitchFamily="34" charset="-122"/>
                <a:cs typeface="Cambria" pitchFamily="34" charset="-120"/>
              </a:rPr>
              <a:t>Adaptive Physics Warmup</a:t>
            </a:r>
            <a:endParaRPr lang="en-US" sz="1450" dirty="0"/>
          </a:p>
        </p:txBody>
      </p:sp>
      <p:sp>
        <p:nvSpPr>
          <p:cNvPr id="20" name="Text 15"/>
          <p:cNvSpPr txBox="1"/>
          <p:nvPr/>
        </p:nvSpPr>
        <p:spPr>
          <a:xfrm>
            <a:off x="8275320" y="4663440"/>
            <a:ext cx="3108960" cy="1645920"/>
          </a:xfrm>
          <a:prstGeom prst="rect">
            <a:avLst/>
          </a:prstGeom>
          <a:noFill/>
          <a:ln/>
        </p:spPr>
        <p:txBody>
          <a:bodyPr wrap="square" lIns="0" tIns="0" rIns="0" bIns="0" rtlCol="0" anchor="ctr"/>
          <a:lstStyle/>
          <a:p>
            <a:pPr algn="ctr" indent="0" marL="0">
              <a:lnSpc>
                <a:spcPct val="115000"/>
              </a:lnSpc>
              <a:buNone/>
            </a:pPr>
            <a:r>
              <a:rPr lang="en-US" sz="1200" dirty="0">
                <a:solidFill>
                  <a:srgbClr val="5C5450"/>
                </a:solidFill>
                <a:latin typeface="Calibri" pitchFamily="34" charset="0"/>
                <a:ea typeface="Calibri" pitchFamily="34" charset="-122"/>
                <a:cs typeface="Calibri" pitchFamily="34" charset="-120"/>
              </a:rPr>
              <a:t>λ starts at 0.05 and rises smoothly to 0.25 over 50 epochs — so physics guides the network without trapping it in a bad local minimum early on.</a:t>
            </a:r>
            <a:endParaRPr lang="en-US" sz="1200" dirty="0"/>
          </a:p>
        </p:txBody>
      </p:sp>
      <p:sp>
        <p:nvSpPr>
          <p:cNvPr id="21" name="Text 16"/>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22" name="Text 17"/>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59436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Neural Network Architecture</a:t>
            </a:r>
            <a:endParaRPr lang="en-US" sz="2700" dirty="0"/>
          </a:p>
        </p:txBody>
      </p:sp>
      <p:sp>
        <p:nvSpPr>
          <p:cNvPr id="3" name="Text 1"/>
          <p:cNvSpPr txBox="1"/>
          <p:nvPr/>
        </p:nvSpPr>
        <p:spPr>
          <a:xfrm>
            <a:off x="548640" y="960120"/>
            <a:ext cx="10972800" cy="365760"/>
          </a:xfrm>
          <a:prstGeom prst="rect">
            <a:avLst/>
          </a:prstGeom>
          <a:noFill/>
          <a:ln/>
        </p:spPr>
        <p:txBody>
          <a:bodyPr wrap="square" lIns="0" tIns="0" rIns="0" bIns="0" rtlCol="0" anchor="ctr"/>
          <a:lstStyle/>
          <a:p>
            <a:pPr indent="0" marL="0">
              <a:buNone/>
            </a:pPr>
            <a:r>
              <a:rPr lang="en-US" sz="1250" i="1" dirty="0">
                <a:solidFill>
                  <a:srgbClr val="5C5450"/>
                </a:solidFill>
                <a:latin typeface="Calibri" pitchFamily="34" charset="0"/>
                <a:ea typeface="Calibri" pitchFamily="34" charset="-122"/>
                <a:cs typeface="Calibri" pitchFamily="34" charset="-120"/>
              </a:rPr>
              <a:t>79,169 trainable parameters — small enough to run instantly, deep enough to learn nonlinear failure patterns</a:t>
            </a:r>
            <a:endParaRPr lang="en-US" sz="1250" dirty="0"/>
          </a:p>
        </p:txBody>
      </p:sp>
      <p:sp>
        <p:nvSpPr>
          <p:cNvPr id="4" name="Shape 2"/>
          <p:cNvSpPr/>
          <p:nvPr/>
        </p:nvSpPr>
        <p:spPr>
          <a:xfrm>
            <a:off x="548640" y="1828800"/>
            <a:ext cx="2057400" cy="3291840"/>
          </a:xfrm>
          <a:prstGeom prst="roundRect">
            <a:avLst>
              <a:gd name="adj" fmla="val 3556"/>
            </a:avLst>
          </a:prstGeom>
          <a:solidFill>
            <a:srgbClr val="4A5D5E"/>
          </a:solidFill>
          <a:ln/>
        </p:spPr>
      </p:sp>
      <p:sp>
        <p:nvSpPr>
          <p:cNvPr id="5" name="Text 3"/>
          <p:cNvSpPr txBox="1"/>
          <p:nvPr/>
        </p:nvSpPr>
        <p:spPr>
          <a:xfrm>
            <a:off x="640080" y="2011680"/>
            <a:ext cx="18745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Input Layer</a:t>
            </a:r>
            <a:endParaRPr lang="en-US" sz="1300" dirty="0"/>
          </a:p>
        </p:txBody>
      </p:sp>
      <p:sp>
        <p:nvSpPr>
          <p:cNvPr id="6" name="Text 4"/>
          <p:cNvSpPr txBox="1"/>
          <p:nvPr/>
        </p:nvSpPr>
        <p:spPr>
          <a:xfrm>
            <a:off x="658368" y="2743200"/>
            <a:ext cx="1837944" cy="2011680"/>
          </a:xfrm>
          <a:prstGeom prst="rect">
            <a:avLst/>
          </a:prstGeom>
          <a:noFill/>
          <a:ln/>
        </p:spPr>
        <p:txBody>
          <a:bodyPr wrap="square" lIns="0" tIns="0" rIns="0" bIns="0" rtlCol="0" anchor="ctr"/>
          <a:lstStyle/>
          <a:p>
            <a:pPr algn="ctr" indent="0" marL="0">
              <a:lnSpc>
                <a:spcPct val="125000"/>
              </a:lnSpc>
              <a:buNone/>
            </a:pPr>
            <a:r>
              <a:rPr lang="en-US" sz="1150" dirty="0">
                <a:solidFill>
                  <a:srgbClr val="FFFFFF"/>
                </a:solidFill>
                <a:latin typeface="Calibri" pitchFamily="34" charset="0"/>
                <a:ea typeface="Calibri" pitchFamily="34" charset="-122"/>
                <a:cs typeface="Calibri" pitchFamily="34" charset="-120"/>
              </a:rPr>
              <a:t>9 standardized</a:t>
            </a:r>
            <a:endParaRPr lang="en-US" sz="1150" dirty="0"/>
          </a:p>
          <a:p>
            <a:pPr algn="ctr" indent="0" marL="0">
              <a:lnSpc>
                <a:spcPct val="125000"/>
              </a:lnSpc>
              <a:buNone/>
            </a:pPr>
            <a:r>
              <a:rPr lang="en-US" sz="1150" dirty="0">
                <a:solidFill>
                  <a:srgbClr val="FFFFFF"/>
                </a:solidFill>
                <a:latin typeface="Calibri" pitchFamily="34" charset="0"/>
                <a:ea typeface="Calibri" pitchFamily="34" charset="-122"/>
                <a:cs typeface="Calibri" pitchFamily="34" charset="-120"/>
              </a:rPr>
              <a:t>geotechnical</a:t>
            </a:r>
            <a:endParaRPr lang="en-US" sz="1150" dirty="0"/>
          </a:p>
          <a:p>
            <a:pPr algn="ctr" indent="0" marL="0">
              <a:lnSpc>
                <a:spcPct val="125000"/>
              </a:lnSpc>
              <a:buNone/>
            </a:pPr>
            <a:r>
              <a:rPr lang="en-US" sz="1150" dirty="0">
                <a:solidFill>
                  <a:srgbClr val="FFFFFF"/>
                </a:solidFill>
                <a:latin typeface="Calibri" pitchFamily="34" charset="0"/>
                <a:ea typeface="Calibri" pitchFamily="34" charset="-122"/>
                <a:cs typeface="Calibri" pitchFamily="34" charset="-120"/>
              </a:rPr>
              <a:t>covariates</a:t>
            </a:r>
            <a:endParaRPr lang="en-US" sz="1150" dirty="0"/>
          </a:p>
        </p:txBody>
      </p:sp>
      <p:sp>
        <p:nvSpPr>
          <p:cNvPr id="7" name="Shape 5"/>
          <p:cNvSpPr/>
          <p:nvPr/>
        </p:nvSpPr>
        <p:spPr>
          <a:xfrm rot="5400000">
            <a:off x="2624328" y="3392424"/>
            <a:ext cx="128016" cy="164592"/>
          </a:xfrm>
          <a:prstGeom prst="triangle">
            <a:avLst/>
          </a:prstGeom>
          <a:solidFill>
            <a:srgbClr val="5C5450"/>
          </a:solidFill>
          <a:ln/>
        </p:spPr>
      </p:sp>
      <p:sp>
        <p:nvSpPr>
          <p:cNvPr id="8" name="Shape 6"/>
          <p:cNvSpPr/>
          <p:nvPr/>
        </p:nvSpPr>
        <p:spPr>
          <a:xfrm>
            <a:off x="2770632" y="1828800"/>
            <a:ext cx="2057400" cy="3291840"/>
          </a:xfrm>
          <a:prstGeom prst="roundRect">
            <a:avLst>
              <a:gd name="adj" fmla="val 3556"/>
            </a:avLst>
          </a:prstGeom>
          <a:solidFill>
            <a:srgbClr val="5C5450"/>
          </a:solidFill>
          <a:ln/>
        </p:spPr>
      </p:sp>
      <p:sp>
        <p:nvSpPr>
          <p:cNvPr id="9" name="Text 7"/>
          <p:cNvSpPr txBox="1"/>
          <p:nvPr/>
        </p:nvSpPr>
        <p:spPr>
          <a:xfrm>
            <a:off x="2862072" y="2011680"/>
            <a:ext cx="18745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ResNet Block 1</a:t>
            </a:r>
            <a:endParaRPr lang="en-US" sz="1300" dirty="0"/>
          </a:p>
        </p:txBody>
      </p:sp>
      <p:sp>
        <p:nvSpPr>
          <p:cNvPr id="10" name="Text 8"/>
          <p:cNvSpPr txBox="1"/>
          <p:nvPr/>
        </p:nvSpPr>
        <p:spPr>
          <a:xfrm>
            <a:off x="2880360" y="2743200"/>
            <a:ext cx="1837944" cy="2011680"/>
          </a:xfrm>
          <a:prstGeom prst="rect">
            <a:avLst/>
          </a:prstGeom>
          <a:noFill/>
          <a:ln/>
        </p:spPr>
        <p:txBody>
          <a:bodyPr wrap="square" lIns="0" tIns="0" rIns="0" bIns="0" rtlCol="0" anchor="ctr"/>
          <a:lstStyle/>
          <a:p>
            <a:pPr algn="ctr" indent="0" marL="0">
              <a:lnSpc>
                <a:spcPct val="125000"/>
              </a:lnSpc>
              <a:buNone/>
            </a:pPr>
            <a:r>
              <a:rPr lang="en-US" sz="1150" dirty="0">
                <a:solidFill>
                  <a:srgbClr val="FFFFFF"/>
                </a:solidFill>
                <a:latin typeface="Calibri" pitchFamily="34" charset="0"/>
                <a:ea typeface="Calibri" pitchFamily="34" charset="-122"/>
                <a:cs typeface="Calibri" pitchFamily="34" charset="-120"/>
              </a:rPr>
              <a:t>Linear(128) → LayerNorm</a:t>
            </a:r>
            <a:endParaRPr lang="en-US" sz="1150" dirty="0"/>
          </a:p>
          <a:p>
            <a:pPr algn="ctr" indent="0" marL="0">
              <a:lnSpc>
                <a:spcPct val="125000"/>
              </a:lnSpc>
              <a:buNone/>
            </a:pPr>
            <a:r>
              <a:rPr lang="en-US" sz="1150" dirty="0">
                <a:solidFill>
                  <a:srgbClr val="FFFFFF"/>
                </a:solidFill>
                <a:latin typeface="Calibri" pitchFamily="34" charset="0"/>
                <a:ea typeface="Calibri" pitchFamily="34" charset="-122"/>
                <a:cs typeface="Calibri" pitchFamily="34" charset="-120"/>
              </a:rPr>
              <a:t>→ LeakyReLU → Dropout(0.2)</a:t>
            </a:r>
            <a:endParaRPr lang="en-US" sz="1150" dirty="0"/>
          </a:p>
          <a:p>
            <a:pPr algn="ctr" indent="0" marL="0">
              <a:lnSpc>
                <a:spcPct val="125000"/>
              </a:lnSpc>
              <a:buNone/>
            </a:pPr>
            <a:r>
              <a:rPr lang="en-US" sz="1150" dirty="0">
                <a:solidFill>
                  <a:srgbClr val="FFFFFF"/>
                </a:solidFill>
                <a:latin typeface="Calibri" pitchFamily="34" charset="0"/>
                <a:ea typeface="Calibri" pitchFamily="34" charset="-122"/>
                <a:cs typeface="Calibri" pitchFamily="34" charset="-120"/>
              </a:rPr>
              <a:t>+ skip connection</a:t>
            </a:r>
            <a:endParaRPr lang="en-US" sz="1150" dirty="0"/>
          </a:p>
        </p:txBody>
      </p:sp>
      <p:sp>
        <p:nvSpPr>
          <p:cNvPr id="11" name="Shape 9"/>
          <p:cNvSpPr/>
          <p:nvPr/>
        </p:nvSpPr>
        <p:spPr>
          <a:xfrm rot="5400000">
            <a:off x="4846320" y="3392424"/>
            <a:ext cx="128016" cy="164592"/>
          </a:xfrm>
          <a:prstGeom prst="triangle">
            <a:avLst/>
          </a:prstGeom>
          <a:solidFill>
            <a:srgbClr val="5C5450"/>
          </a:solidFill>
          <a:ln/>
        </p:spPr>
      </p:sp>
      <p:sp>
        <p:nvSpPr>
          <p:cNvPr id="12" name="Shape 10"/>
          <p:cNvSpPr/>
          <p:nvPr/>
        </p:nvSpPr>
        <p:spPr>
          <a:xfrm>
            <a:off x="4992624" y="1828800"/>
            <a:ext cx="2057400" cy="3291840"/>
          </a:xfrm>
          <a:prstGeom prst="roundRect">
            <a:avLst>
              <a:gd name="adj" fmla="val 3556"/>
            </a:avLst>
          </a:prstGeom>
          <a:solidFill>
            <a:srgbClr val="5C5450"/>
          </a:solidFill>
          <a:ln/>
        </p:spPr>
      </p:sp>
      <p:sp>
        <p:nvSpPr>
          <p:cNvPr id="13" name="Text 11"/>
          <p:cNvSpPr txBox="1"/>
          <p:nvPr/>
        </p:nvSpPr>
        <p:spPr>
          <a:xfrm>
            <a:off x="5084064" y="2011680"/>
            <a:ext cx="18745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ResNet Block 2</a:t>
            </a:r>
            <a:endParaRPr lang="en-US" sz="1300" dirty="0"/>
          </a:p>
        </p:txBody>
      </p:sp>
      <p:sp>
        <p:nvSpPr>
          <p:cNvPr id="14" name="Text 12"/>
          <p:cNvSpPr txBox="1"/>
          <p:nvPr/>
        </p:nvSpPr>
        <p:spPr>
          <a:xfrm>
            <a:off x="5102352" y="2743200"/>
            <a:ext cx="1837944" cy="2011680"/>
          </a:xfrm>
          <a:prstGeom prst="rect">
            <a:avLst/>
          </a:prstGeom>
          <a:noFill/>
          <a:ln/>
        </p:spPr>
        <p:txBody>
          <a:bodyPr wrap="square" lIns="0" tIns="0" rIns="0" bIns="0" rtlCol="0" anchor="ctr"/>
          <a:lstStyle/>
          <a:p>
            <a:pPr algn="ctr" indent="0" marL="0">
              <a:lnSpc>
                <a:spcPct val="125000"/>
              </a:lnSpc>
              <a:buNone/>
            </a:pPr>
            <a:r>
              <a:rPr lang="en-US" sz="1150" dirty="0">
                <a:solidFill>
                  <a:srgbClr val="FFFFFF"/>
                </a:solidFill>
                <a:latin typeface="Calibri" pitchFamily="34" charset="0"/>
                <a:ea typeface="Calibri" pitchFamily="34" charset="-122"/>
                <a:cs typeface="Calibri" pitchFamily="34" charset="-120"/>
              </a:rPr>
              <a:t>Linear(128) → LayerNorm</a:t>
            </a:r>
            <a:endParaRPr lang="en-US" sz="1150" dirty="0"/>
          </a:p>
          <a:p>
            <a:pPr algn="ctr" indent="0" marL="0">
              <a:lnSpc>
                <a:spcPct val="125000"/>
              </a:lnSpc>
              <a:buNone/>
            </a:pPr>
            <a:r>
              <a:rPr lang="en-US" sz="1150" dirty="0">
                <a:solidFill>
                  <a:srgbClr val="FFFFFF"/>
                </a:solidFill>
                <a:latin typeface="Calibri" pitchFamily="34" charset="0"/>
                <a:ea typeface="Calibri" pitchFamily="34" charset="-122"/>
                <a:cs typeface="Calibri" pitchFamily="34" charset="-120"/>
              </a:rPr>
              <a:t>→ LeakyReLU → Dropout(0.2)</a:t>
            </a:r>
            <a:endParaRPr lang="en-US" sz="1150" dirty="0"/>
          </a:p>
          <a:p>
            <a:pPr algn="ctr" indent="0" marL="0">
              <a:lnSpc>
                <a:spcPct val="125000"/>
              </a:lnSpc>
              <a:buNone/>
            </a:pPr>
            <a:r>
              <a:rPr lang="en-US" sz="1150" dirty="0">
                <a:solidFill>
                  <a:srgbClr val="FFFFFF"/>
                </a:solidFill>
                <a:latin typeface="Calibri" pitchFamily="34" charset="0"/>
                <a:ea typeface="Calibri" pitchFamily="34" charset="-122"/>
                <a:cs typeface="Calibri" pitchFamily="34" charset="-120"/>
              </a:rPr>
              <a:t>+ skip connection</a:t>
            </a:r>
            <a:endParaRPr lang="en-US" sz="1150" dirty="0"/>
          </a:p>
        </p:txBody>
      </p:sp>
      <p:sp>
        <p:nvSpPr>
          <p:cNvPr id="15" name="Shape 13"/>
          <p:cNvSpPr/>
          <p:nvPr/>
        </p:nvSpPr>
        <p:spPr>
          <a:xfrm rot="5400000">
            <a:off x="7068312" y="3392424"/>
            <a:ext cx="128016" cy="164592"/>
          </a:xfrm>
          <a:prstGeom prst="triangle">
            <a:avLst/>
          </a:prstGeom>
          <a:solidFill>
            <a:srgbClr val="5C5450"/>
          </a:solidFill>
          <a:ln/>
        </p:spPr>
      </p:sp>
      <p:sp>
        <p:nvSpPr>
          <p:cNvPr id="16" name="Shape 14"/>
          <p:cNvSpPr/>
          <p:nvPr/>
        </p:nvSpPr>
        <p:spPr>
          <a:xfrm>
            <a:off x="7214616" y="1828800"/>
            <a:ext cx="2057400" cy="3291840"/>
          </a:xfrm>
          <a:prstGeom prst="roundRect">
            <a:avLst>
              <a:gd name="adj" fmla="val 3556"/>
            </a:avLst>
          </a:prstGeom>
          <a:solidFill>
            <a:srgbClr val="B85042"/>
          </a:solidFill>
          <a:ln/>
        </p:spPr>
      </p:sp>
      <p:sp>
        <p:nvSpPr>
          <p:cNvPr id="17" name="Text 15"/>
          <p:cNvSpPr txBox="1"/>
          <p:nvPr/>
        </p:nvSpPr>
        <p:spPr>
          <a:xfrm>
            <a:off x="7306056" y="2011680"/>
            <a:ext cx="18745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Bottleneck Head</a:t>
            </a:r>
            <a:endParaRPr lang="en-US" sz="1300" dirty="0"/>
          </a:p>
        </p:txBody>
      </p:sp>
      <p:sp>
        <p:nvSpPr>
          <p:cNvPr id="18" name="Text 16"/>
          <p:cNvSpPr txBox="1"/>
          <p:nvPr/>
        </p:nvSpPr>
        <p:spPr>
          <a:xfrm>
            <a:off x="7324344" y="2743200"/>
            <a:ext cx="1837944" cy="2011680"/>
          </a:xfrm>
          <a:prstGeom prst="rect">
            <a:avLst/>
          </a:prstGeom>
          <a:noFill/>
          <a:ln/>
        </p:spPr>
        <p:txBody>
          <a:bodyPr wrap="square" lIns="0" tIns="0" rIns="0" bIns="0" rtlCol="0" anchor="ctr"/>
          <a:lstStyle/>
          <a:p>
            <a:pPr algn="ctr" indent="0" marL="0">
              <a:lnSpc>
                <a:spcPct val="125000"/>
              </a:lnSpc>
              <a:buNone/>
            </a:pPr>
            <a:r>
              <a:rPr lang="en-US" sz="1150" dirty="0">
                <a:solidFill>
                  <a:srgbClr val="FFFFFF"/>
                </a:solidFill>
                <a:latin typeface="Calibri" pitchFamily="34" charset="0"/>
                <a:ea typeface="Calibri" pitchFamily="34" charset="-122"/>
                <a:cs typeface="Calibri" pitchFamily="34" charset="-120"/>
              </a:rPr>
              <a:t>128 → 64 → 32 → 1</a:t>
            </a:r>
            <a:endParaRPr lang="en-US" sz="1150" dirty="0"/>
          </a:p>
          <a:p>
            <a:pPr algn="ctr" indent="0" marL="0">
              <a:lnSpc>
                <a:spcPct val="125000"/>
              </a:lnSpc>
              <a:buNone/>
            </a:pPr>
            <a:r>
              <a:rPr lang="en-US" sz="1150" dirty="0">
                <a:solidFill>
                  <a:srgbClr val="FFFFFF"/>
                </a:solidFill>
                <a:latin typeface="Calibri" pitchFamily="34" charset="0"/>
                <a:ea typeface="Calibri" pitchFamily="34" charset="-122"/>
                <a:cs typeface="Calibri" pitchFamily="34" charset="-120"/>
              </a:rPr>
              <a:t>progressive narrowing</a:t>
            </a:r>
            <a:endParaRPr lang="en-US" sz="1150" dirty="0"/>
          </a:p>
        </p:txBody>
      </p:sp>
      <p:sp>
        <p:nvSpPr>
          <p:cNvPr id="19" name="Shape 17"/>
          <p:cNvSpPr/>
          <p:nvPr/>
        </p:nvSpPr>
        <p:spPr>
          <a:xfrm rot="5400000">
            <a:off x="9290304" y="3392424"/>
            <a:ext cx="128016" cy="164592"/>
          </a:xfrm>
          <a:prstGeom prst="triangle">
            <a:avLst/>
          </a:prstGeom>
          <a:solidFill>
            <a:srgbClr val="5C5450"/>
          </a:solidFill>
          <a:ln/>
        </p:spPr>
      </p:sp>
      <p:sp>
        <p:nvSpPr>
          <p:cNvPr id="20" name="Shape 18"/>
          <p:cNvSpPr/>
          <p:nvPr/>
        </p:nvSpPr>
        <p:spPr>
          <a:xfrm>
            <a:off x="9436608" y="1828800"/>
            <a:ext cx="2057400" cy="3291840"/>
          </a:xfrm>
          <a:prstGeom prst="roundRect">
            <a:avLst>
              <a:gd name="adj" fmla="val 3556"/>
            </a:avLst>
          </a:prstGeom>
          <a:solidFill>
            <a:srgbClr val="5E7C5B"/>
          </a:solidFill>
          <a:ln/>
        </p:spPr>
      </p:sp>
      <p:sp>
        <p:nvSpPr>
          <p:cNvPr id="21" name="Text 19"/>
          <p:cNvSpPr txBox="1"/>
          <p:nvPr/>
        </p:nvSpPr>
        <p:spPr>
          <a:xfrm>
            <a:off x="9528048" y="2011680"/>
            <a:ext cx="18745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Output</a:t>
            </a:r>
            <a:endParaRPr lang="en-US" sz="1300" dirty="0"/>
          </a:p>
        </p:txBody>
      </p:sp>
      <p:sp>
        <p:nvSpPr>
          <p:cNvPr id="22" name="Text 20"/>
          <p:cNvSpPr txBox="1"/>
          <p:nvPr/>
        </p:nvSpPr>
        <p:spPr>
          <a:xfrm>
            <a:off x="9546336" y="2743200"/>
            <a:ext cx="1837944" cy="2011680"/>
          </a:xfrm>
          <a:prstGeom prst="rect">
            <a:avLst/>
          </a:prstGeom>
          <a:noFill/>
          <a:ln/>
        </p:spPr>
        <p:txBody>
          <a:bodyPr wrap="square" lIns="0" tIns="0" rIns="0" bIns="0" rtlCol="0" anchor="ctr"/>
          <a:lstStyle/>
          <a:p>
            <a:pPr algn="ctr" indent="0" marL="0">
              <a:lnSpc>
                <a:spcPct val="125000"/>
              </a:lnSpc>
              <a:buNone/>
            </a:pPr>
            <a:r>
              <a:rPr lang="en-US" sz="1150" dirty="0">
                <a:solidFill>
                  <a:srgbClr val="FFFFFF"/>
                </a:solidFill>
                <a:latin typeface="Calibri" pitchFamily="34" charset="0"/>
                <a:ea typeface="Calibri" pitchFamily="34" charset="-122"/>
                <a:cs typeface="Calibri" pitchFamily="34" charset="-120"/>
              </a:rPr>
              <a:t>Sigmoid →</a:t>
            </a:r>
            <a:endParaRPr lang="en-US" sz="1150" dirty="0"/>
          </a:p>
          <a:p>
            <a:pPr algn="ctr" indent="0" marL="0">
              <a:lnSpc>
                <a:spcPct val="125000"/>
              </a:lnSpc>
              <a:buNone/>
            </a:pPr>
            <a:r>
              <a:rPr lang="en-US" sz="1150" dirty="0">
                <a:solidFill>
                  <a:srgbClr val="FFFFFF"/>
                </a:solidFill>
                <a:latin typeface="Calibri" pitchFamily="34" charset="0"/>
                <a:ea typeface="Calibri" pitchFamily="34" charset="-122"/>
                <a:cs typeface="Calibri" pitchFamily="34" charset="-120"/>
              </a:rPr>
              <a:t>failure probability</a:t>
            </a:r>
            <a:endParaRPr lang="en-US" sz="1150" dirty="0"/>
          </a:p>
        </p:txBody>
      </p:sp>
      <p:sp>
        <p:nvSpPr>
          <p:cNvPr id="23" name="Text 21"/>
          <p:cNvSpPr txBox="1"/>
          <p:nvPr/>
        </p:nvSpPr>
        <p:spPr>
          <a:xfrm>
            <a:off x="548640" y="5349240"/>
            <a:ext cx="11064240" cy="594360"/>
          </a:xfrm>
          <a:prstGeom prst="rect">
            <a:avLst/>
          </a:prstGeom>
          <a:noFill/>
          <a:ln/>
        </p:spPr>
        <p:txBody>
          <a:bodyPr wrap="square" lIns="0" tIns="0" rIns="0" bIns="0" rtlCol="0" anchor="ctr"/>
          <a:lstStyle/>
          <a:p>
            <a:pPr indent="0" marL="0">
              <a:buNone/>
            </a:pPr>
            <a:r>
              <a:rPr lang="en-US" sz="1250" i="1" dirty="0">
                <a:solidFill>
                  <a:srgbClr val="5C5450"/>
                </a:solidFill>
                <a:latin typeface="Calibri" pitchFamily="34" charset="0"/>
                <a:ea typeface="Calibri" pitchFamily="34" charset="-122"/>
                <a:cs typeface="Calibri" pitchFamily="34" charset="-120"/>
              </a:rPr>
              <a:t>Skip connections let the network reuse earlier features directly — helping training stay stable even with the physics penalty pulling in a different direction.</a:t>
            </a:r>
            <a:endParaRPr lang="en-US" sz="1250" dirty="0"/>
          </a:p>
        </p:txBody>
      </p:sp>
      <p:sp>
        <p:nvSpPr>
          <p:cNvPr id="24" name="Text 22"/>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25" name="Text 23"/>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14</a:t>
            </a:r>
            <a:endParaRPr lang="en-US" sz="1000" dirty="0"/>
          </a:p>
        </p:txBody>
      </p:sp>
      <p:cxnSp>
        <p:nvCxnSpPr>
          <p:cNvPr id="200" name="SkipArrow1"/>
          <p:cNvCxnSpPr/>
          <p:nvPr/>
        </p:nvCxnSpPr>
        <p:spPr>
          <a:xfrm>
            <a:off x="4760000" y="2060000"/>
            <a:ext cx="0" cy="2820000"/>
          </a:xfrm>
          <a:prstGeom prst="line">
            <a:avLst/>
          </a:prstGeom>
          <a:ln w="19050">
            <a:solidFill>
              <a:srgbClr val="FFFFFF"/>
            </a:solidFill>
            <a:tailEnd type="triangle" w="med" len="med"/>
          </a:ln>
        </p:spPr>
      </p:cxnSp>
      <p:cxnSp>
        <p:nvCxnSpPr>
          <p:cNvPr id="201" name="SkipArrow2"/>
          <p:cNvCxnSpPr/>
          <p:nvPr/>
        </p:nvCxnSpPr>
        <p:spPr>
          <a:xfrm>
            <a:off x="6982000" y="2060000"/>
            <a:ext cx="0" cy="2820000"/>
          </a:xfrm>
          <a:prstGeom prst="line">
            <a:avLst/>
          </a:prstGeom>
          <a:ln w="19050">
            <a:solidFill>
              <a:srgbClr val="FFFFFF"/>
            </a:solidFill>
            <a:tailEnd type="triangl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Knowing What the Model Doesn’t Know</a:t>
            </a:r>
            <a:endParaRPr lang="en-US" sz="2700" dirty="0"/>
          </a:p>
        </p:txBody>
      </p:sp>
      <p:sp>
        <p:nvSpPr>
          <p:cNvPr id="3" name="Text 1"/>
          <p:cNvSpPr txBox="1"/>
          <p:nvPr/>
        </p:nvSpPr>
        <p:spPr>
          <a:xfrm>
            <a:off x="548640" y="1051560"/>
            <a:ext cx="9144000" cy="365760"/>
          </a:xfrm>
          <a:prstGeom prst="rect">
            <a:avLst/>
          </a:prstGeom>
          <a:noFill/>
          <a:ln/>
        </p:spPr>
        <p:txBody>
          <a:bodyPr wrap="square" lIns="0" tIns="0" rIns="0" bIns="0" rtlCol="0" anchor="ctr"/>
          <a:lstStyle/>
          <a:p>
            <a:pPr indent="0" marL="0">
              <a:buNone/>
            </a:pPr>
            <a:r>
              <a:rPr lang="en-US" sz="1400" i="1" dirty="0">
                <a:solidFill>
                  <a:srgbClr val="5C5450"/>
                </a:solidFill>
                <a:latin typeface="Calibri" pitchFamily="34" charset="0"/>
                <a:ea typeface="Calibri" pitchFamily="34" charset="-122"/>
                <a:cs typeface="Calibri" pitchFamily="34" charset="-120"/>
              </a:rPr>
              <a:t>Monte Carlo Dropout for epistemic uncertainty</a:t>
            </a:r>
            <a:endParaRPr lang="en-US" sz="1400" dirty="0"/>
          </a:p>
        </p:txBody>
      </p:sp>
      <p:sp>
        <p:nvSpPr>
          <p:cNvPr id="4" name="Shape 2"/>
          <p:cNvSpPr/>
          <p:nvPr/>
        </p:nvSpPr>
        <p:spPr>
          <a:xfrm>
            <a:off x="548640" y="1600200"/>
            <a:ext cx="5394960" cy="4480560"/>
          </a:xfrm>
          <a:prstGeom prst="roundRect">
            <a:avLst>
              <a:gd name="adj" fmla="val 1633"/>
            </a:avLst>
          </a:prstGeom>
          <a:solidFill>
            <a:srgbClr val="F4F1EC"/>
          </a:solidFill>
          <a:ln/>
        </p:spPr>
      </p:sp>
      <p:sp>
        <p:nvSpPr>
          <p:cNvPr id="5" name="Shape 3"/>
          <p:cNvSpPr/>
          <p:nvPr/>
        </p:nvSpPr>
        <p:spPr>
          <a:xfrm>
            <a:off x="822960" y="1828800"/>
            <a:ext cx="640080" cy="640080"/>
          </a:xfrm>
          <a:prstGeom prst="ellipse">
            <a:avLst/>
          </a:prstGeom>
          <a:solidFill>
            <a:srgbClr val="B85042"/>
          </a:solidFill>
          <a:ln/>
        </p:spPr>
      </p:sp>
      <p:pic>
        <p:nvPicPr>
          <p:cNvPr id="6" name="Image 0" descr="assets/crosshairs_white.png">    </p:cNvPr>
          <p:cNvPicPr>
            <a:picLocks noChangeAspect="1"/>
          </p:cNvPicPr>
          <p:nvPr/>
        </p:nvPicPr>
        <p:blipFill>
          <a:blip r:embed="rId1"/>
          <a:stretch>
            <a:fillRect/>
          </a:stretch>
        </p:blipFill>
        <p:spPr>
          <a:xfrm>
            <a:off x="989381" y="1995221"/>
            <a:ext cx="307238" cy="307238"/>
          </a:xfrm>
          <a:prstGeom prst="rect">
            <a:avLst/>
          </a:prstGeom>
        </p:spPr>
      </p:pic>
      <p:sp>
        <p:nvSpPr>
          <p:cNvPr id="7" name="Text 4"/>
          <p:cNvSpPr txBox="1"/>
          <p:nvPr/>
        </p:nvSpPr>
        <p:spPr>
          <a:xfrm>
            <a:off x="1645920" y="1874520"/>
            <a:ext cx="4114800" cy="548640"/>
          </a:xfrm>
          <a:prstGeom prst="rect">
            <a:avLst/>
          </a:prstGeom>
          <a:noFill/>
          <a:ln/>
        </p:spPr>
        <p:txBody>
          <a:bodyPr wrap="square" lIns="0" tIns="0" rIns="0" bIns="0" rtlCol="0" anchor="ctr"/>
          <a:lstStyle/>
          <a:p>
            <a:pPr indent="0" marL="0">
              <a:buNone/>
            </a:pPr>
            <a:r>
              <a:rPr lang="en-US" sz="1600" b="1" dirty="0">
                <a:solidFill>
                  <a:srgbClr val="2B2320"/>
                </a:solidFill>
                <a:latin typeface="Cambria" pitchFamily="34" charset="0"/>
                <a:ea typeface="Cambria" pitchFamily="34" charset="-122"/>
                <a:cs typeface="Cambria" pitchFamily="34" charset="-120"/>
              </a:rPr>
              <a:t>150 stochastic forward passes</a:t>
            </a:r>
            <a:endParaRPr lang="en-US" sz="1600" dirty="0"/>
          </a:p>
        </p:txBody>
      </p:sp>
      <p:sp>
        <p:nvSpPr>
          <p:cNvPr id="8" name="Text 5"/>
          <p:cNvSpPr txBox="1"/>
          <p:nvPr/>
        </p:nvSpPr>
        <p:spPr>
          <a:xfrm>
            <a:off x="822960" y="2651760"/>
            <a:ext cx="4846320" cy="1463040"/>
          </a:xfrm>
          <a:prstGeom prst="rect">
            <a:avLst/>
          </a:prstGeom>
          <a:noFill/>
          <a:ln/>
        </p:spPr>
        <p:txBody>
          <a:bodyPr wrap="square" lIns="0" tIns="0" rIns="0" bIns="0" rtlCol="0" anchor="ctr"/>
          <a:lstStyle/>
          <a:p>
            <a:pPr indent="0" marL="0">
              <a:lnSpc>
                <a:spcPct val="120000"/>
              </a:lnSpc>
              <a:buNone/>
            </a:pPr>
            <a:r>
              <a:rPr lang="en-US" sz="1300" dirty="0">
                <a:solidFill>
                  <a:srgbClr val="5C5450"/>
                </a:solidFill>
                <a:latin typeface="Calibri" pitchFamily="34" charset="0"/>
                <a:ea typeface="Calibri" pitchFamily="34" charset="-122"/>
                <a:cs typeface="Calibri" pitchFamily="34" charset="-120"/>
              </a:rPr>
              <a:t>Dropout stays active at test time. Each of the 150 passes gives a slightly different prediction — the spread between them is the model’s own measure of doubt.</a:t>
            </a:r>
            <a:endParaRPr lang="en-US" sz="1300" dirty="0"/>
          </a:p>
        </p:txBody>
      </p:sp>
      <p:sp>
        <p:nvSpPr>
          <p:cNvPr id="9" name="Shape 6"/>
          <p:cNvSpPr/>
          <p:nvPr/>
        </p:nvSpPr>
        <p:spPr>
          <a:xfrm>
            <a:off x="822960" y="4206240"/>
            <a:ext cx="4846320" cy="1691640"/>
          </a:xfrm>
          <a:prstGeom prst="roundRect">
            <a:avLst>
              <a:gd name="adj" fmla="val 3243"/>
            </a:avLst>
          </a:prstGeom>
          <a:solidFill>
            <a:srgbClr val="2B2320"/>
          </a:solidFill>
          <a:ln/>
        </p:spPr>
      </p:sp>
      <p:sp>
        <p:nvSpPr>
          <p:cNvPr id="10" name="Text 7"/>
          <p:cNvSpPr txBox="1"/>
          <p:nvPr/>
        </p:nvSpPr>
        <p:spPr>
          <a:xfrm>
            <a:off x="1005840" y="4343400"/>
            <a:ext cx="4480560" cy="1417320"/>
          </a:xfrm>
          <a:prstGeom prst="rect">
            <a:avLst/>
          </a:prstGeom>
          <a:noFill/>
          <a:ln/>
        </p:spPr>
        <p:txBody>
          <a:bodyPr wrap="square" lIns="0" tIns="0" rIns="0" bIns="0" rtlCol="0" anchor="ctr"/>
          <a:lstStyle/>
          <a:p>
            <a:pPr indent="0" marL="0">
              <a:lnSpc>
                <a:spcPct val="140000"/>
              </a:lnSpc>
              <a:buNone/>
            </a:pPr>
            <a:r>
              <a:rPr lang="en-US" sz="1500" i="1" dirty="0">
                <a:solidFill>
                  <a:srgbClr val="FFFFFF"/>
                </a:solidFill>
                <a:latin typeface="Cambria" pitchFamily="34" charset="0"/>
                <a:ea typeface="Cambria" pitchFamily="34" charset="-122"/>
                <a:cs typeface="Cambria" pitchFamily="34" charset="-120"/>
              </a:rPr>
              <a:t>μ = mean of 150 predictions</a:t>
            </a:r>
            <a:endParaRPr lang="en-US" sz="1500" dirty="0"/>
          </a:p>
          <a:p>
            <a:pPr indent="0" marL="0">
              <a:lnSpc>
                <a:spcPct val="140000"/>
              </a:lnSpc>
              <a:buNone/>
            </a:pPr>
            <a:r>
              <a:rPr lang="en-US" sz="1500" i="1" dirty="0">
                <a:solidFill>
                  <a:srgbClr val="FFFFFF"/>
                </a:solidFill>
                <a:latin typeface="Cambria" pitchFamily="34" charset="0"/>
                <a:ea typeface="Cambria" pitchFamily="34" charset="-122"/>
                <a:cs typeface="Cambria" pitchFamily="34" charset="-120"/>
              </a:rPr>
              <a:t>σ = standard deviation = uncertainty</a:t>
            </a:r>
            <a:endParaRPr lang="en-US" sz="1500" dirty="0"/>
          </a:p>
        </p:txBody>
      </p:sp>
      <p:sp>
        <p:nvSpPr>
          <p:cNvPr id="11" name="Shape 8"/>
          <p:cNvSpPr/>
          <p:nvPr/>
        </p:nvSpPr>
        <p:spPr>
          <a:xfrm>
            <a:off x="6172200" y="1600200"/>
            <a:ext cx="5468112" cy="4480560"/>
          </a:xfrm>
          <a:prstGeom prst="roundRect">
            <a:avLst>
              <a:gd name="adj" fmla="val 1633"/>
            </a:avLst>
          </a:prstGeom>
          <a:solidFill>
            <a:srgbClr val="EFE9E1"/>
          </a:solidFill>
          <a:ln/>
        </p:spPr>
      </p:sp>
      <p:sp>
        <p:nvSpPr>
          <p:cNvPr id="12" name="Shape 9"/>
          <p:cNvSpPr/>
          <p:nvPr/>
        </p:nvSpPr>
        <p:spPr>
          <a:xfrm>
            <a:off x="6446520" y="1828800"/>
            <a:ext cx="640080" cy="640080"/>
          </a:xfrm>
          <a:prstGeom prst="ellipse">
            <a:avLst/>
          </a:prstGeom>
          <a:solidFill>
            <a:srgbClr val="4A5D5E"/>
          </a:solidFill>
          <a:ln/>
        </p:spPr>
      </p:sp>
      <p:pic>
        <p:nvPicPr>
          <p:cNvPr id="13" name="Image 1" descr="assets/shieldHalved_white.png">    </p:cNvPr>
          <p:cNvPicPr>
            <a:picLocks noChangeAspect="1"/>
          </p:cNvPicPr>
          <p:nvPr/>
        </p:nvPicPr>
        <p:blipFill>
          <a:blip r:embed="rId2"/>
          <a:stretch>
            <a:fillRect/>
          </a:stretch>
        </p:blipFill>
        <p:spPr>
          <a:xfrm>
            <a:off x="6612941" y="1995221"/>
            <a:ext cx="307238" cy="307238"/>
          </a:xfrm>
          <a:prstGeom prst="rect">
            <a:avLst/>
          </a:prstGeom>
        </p:spPr>
      </p:pic>
      <p:sp>
        <p:nvSpPr>
          <p:cNvPr id="14" name="Text 10"/>
          <p:cNvSpPr txBox="1"/>
          <p:nvPr/>
        </p:nvSpPr>
        <p:spPr>
          <a:xfrm>
            <a:off x="7269480" y="1874520"/>
            <a:ext cx="4206240" cy="548640"/>
          </a:xfrm>
          <a:prstGeom prst="rect">
            <a:avLst/>
          </a:prstGeom>
          <a:noFill/>
          <a:ln/>
        </p:spPr>
        <p:txBody>
          <a:bodyPr wrap="square" lIns="0" tIns="0" rIns="0" bIns="0" rtlCol="0" anchor="ctr"/>
          <a:lstStyle/>
          <a:p>
            <a:pPr indent="0" marL="0">
              <a:buNone/>
            </a:pPr>
            <a:r>
              <a:rPr lang="en-US" sz="1600" b="1" dirty="0">
                <a:solidFill>
                  <a:srgbClr val="2B2320"/>
                </a:solidFill>
                <a:latin typeface="Cambria" pitchFamily="34" charset="0"/>
                <a:ea typeface="Cambria" pitchFamily="34" charset="-122"/>
                <a:cs typeface="Cambria" pitchFamily="34" charset="-120"/>
              </a:rPr>
              <a:t>Why authorities need this</a:t>
            </a:r>
            <a:endParaRPr lang="en-US" sz="1600" dirty="0"/>
          </a:p>
        </p:txBody>
      </p:sp>
      <p:sp>
        <p:nvSpPr>
          <p:cNvPr id="15" name="Text 11"/>
          <p:cNvSpPr txBox="1"/>
          <p:nvPr/>
        </p:nvSpPr>
        <p:spPr>
          <a:xfrm>
            <a:off x="6446520" y="2651760"/>
            <a:ext cx="5029200" cy="320040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300" dirty="0">
                <a:solidFill>
                  <a:srgbClr val="5C5450"/>
                </a:solidFill>
                <a:latin typeface="Calibri" pitchFamily="34" charset="0"/>
                <a:ea typeface="Calibri" pitchFamily="34" charset="-122"/>
                <a:cs typeface="Calibri" pitchFamily="34" charset="-120"/>
              </a:rPr>
              <a:t>A bare probability score can hide overconfidence in unfamiliar terrain.</a:t>
            </a:r>
            <a:endParaRPr lang="en-US" sz="1300" dirty="0"/>
          </a:p>
          <a:p>
            <a:pPr marL="342900" indent="-342900">
              <a:lnSpc>
                <a:spcPct val="120000"/>
              </a:lnSpc>
              <a:spcAft>
                <a:spcPts val="1000"/>
              </a:spcAft>
              <a:buSzPct val="100000"/>
              <a:buChar char="•"/>
            </a:pPr>
            <a:r>
              <a:rPr lang="en-US" sz="1300" dirty="0">
                <a:solidFill>
                  <a:srgbClr val="5C5450"/>
                </a:solidFill>
                <a:latin typeface="Calibri" pitchFamily="34" charset="0"/>
                <a:ea typeface="Calibri" pitchFamily="34" charset="-122"/>
                <a:cs typeface="Calibri" pitchFamily="34" charset="-120"/>
              </a:rPr>
              <a:t>LITHOS instead reports probability ± confidence bound.</a:t>
            </a:r>
            <a:endParaRPr lang="en-US" sz="1300" dirty="0"/>
          </a:p>
          <a:p>
            <a:pPr marL="342900" indent="-342900">
              <a:lnSpc>
                <a:spcPct val="120000"/>
              </a:lnSpc>
              <a:spcAft>
                <a:spcPts val="1000"/>
              </a:spcAft>
              <a:buSzPct val="100000"/>
              <a:buChar char="•"/>
            </a:pPr>
            <a:r>
              <a:rPr lang="en-US" sz="1300" dirty="0">
                <a:solidFill>
                  <a:srgbClr val="5C5450"/>
                </a:solidFill>
                <a:latin typeface="Calibri" pitchFamily="34" charset="0"/>
                <a:ea typeface="Calibri" pitchFamily="34" charset="-122"/>
                <a:cs typeface="Calibri" pitchFamily="34" charset="-120"/>
              </a:rPr>
              <a:t>Civil defence teams can tell "high risk, high confidence" apart from "high risk, but the model is unsure" — and prioritize field verification accordingly.</a:t>
            </a:r>
            <a:endParaRPr lang="en-US" sz="1300" dirty="0"/>
          </a:p>
        </p:txBody>
      </p:sp>
      <p:sp>
        <p:nvSpPr>
          <p:cNvPr id="16" name="Text 12"/>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17" name="Text 13"/>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594360"/>
          </a:xfrm>
          <a:prstGeom prst="rect">
            <a:avLst/>
          </a:prstGeom>
          <a:noFill/>
          <a:ln/>
        </p:spPr>
        <p:txBody>
          <a:bodyPr wrap="square" lIns="0" tIns="0" rIns="0" bIns="0" rtlCol="0" anchor="ctr"/>
          <a:lstStyle/>
          <a:p>
            <a:pPr indent="0" marL="0">
              <a:buNone/>
            </a:pPr>
            <a:r>
              <a:rPr lang="en-US" sz="2600" b="1" dirty="0">
                <a:solidFill>
                  <a:srgbClr val="2B2320"/>
                </a:solidFill>
                <a:latin typeface="Cambria" pitchFamily="34" charset="0"/>
                <a:ea typeface="Cambria" pitchFamily="34" charset="-122"/>
                <a:cs typeface="Cambria" pitchFamily="34" charset="-120"/>
              </a:rPr>
              <a:t>Benchmark Results: LITHOS vs. Standard Models</a:t>
            </a:r>
            <a:endParaRPr lang="en-US" sz="2600" dirty="0"/>
          </a:p>
        </p:txBody>
      </p:sp>
      <p:sp>
        <p:nvSpPr>
          <p:cNvPr id="3" name="Text 1"/>
          <p:cNvSpPr txBox="1"/>
          <p:nvPr/>
        </p:nvSpPr>
        <p:spPr>
          <a:xfrm>
            <a:off x="548640" y="960120"/>
            <a:ext cx="10972800" cy="365760"/>
          </a:xfrm>
          <a:prstGeom prst="rect">
            <a:avLst/>
          </a:prstGeom>
          <a:noFill/>
          <a:ln/>
        </p:spPr>
        <p:txBody>
          <a:bodyPr wrap="square" lIns="0" tIns="0" rIns="0" bIns="0" rtlCol="0" anchor="ctr"/>
          <a:lstStyle/>
          <a:p>
            <a:pPr indent="0" marL="0">
              <a:buNone/>
            </a:pPr>
            <a:r>
              <a:rPr lang="en-US" sz="1250" i="1" dirty="0">
                <a:solidFill>
                  <a:srgbClr val="5C5450"/>
                </a:solidFill>
                <a:latin typeface="Calibri" pitchFamily="34" charset="0"/>
                <a:ea typeface="Calibri" pitchFamily="34" charset="-122"/>
                <a:cs typeface="Calibri" pitchFamily="34" charset="-120"/>
              </a:rPr>
              <a:t>Test split N = 4,023  |  Spatial holdout (Sikkim &amp; Tripura) N = 1,903</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3017520"/>
        </p:xfrm>
        <a:graphic>
          <a:graphicData uri="http://schemas.openxmlformats.org/drawingml/2006/table">
            <a:tbl>
              <a:tblPr/>
              <a:tblGrid>
                <a:gridCol w="2651760"/>
                <a:gridCol w="1965960"/>
                <a:gridCol w="1600200"/>
                <a:gridCol w="1737360"/>
                <a:gridCol w="1691640"/>
                <a:gridCol w="1463040"/>
              </a:tblGrid>
              <a:tr h="60350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B8504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Paradigm</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B8504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 AUC</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B8504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Holdout AUC</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B8504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Failure Recall</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B8504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B85042"/>
                    </a:solidFill>
                  </a:tcPr>
                </a:tc>
              </a:tr>
              <a:tr h="603504">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Pure Analytical (Limit Eq.)</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Physics only</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0.5869</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0.9013</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0.0%</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603504">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Random Forest (Balanced)</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Classical ML</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0.9000</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0.8466</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56.4%</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0.664</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603504">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HistGradientBoosting</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0.8937</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0.8166</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64.1%</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200" dirty="0">
                          <a:solidFill>
                            <a:srgbClr val="2B2320"/>
                          </a:solidFill>
                          <a:latin typeface="Calibri" pitchFamily="34" charset="0"/>
                          <a:ea typeface="Calibri" pitchFamily="34" charset="-122"/>
                          <a:cs typeface="Calibri" pitchFamily="34" charset="-120"/>
                        </a:rPr>
                        <a:t>0.452</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2B2320"/>
                          </a:solidFill>
                          <a:latin typeface="Calibri" pitchFamily="34" charset="0"/>
                          <a:ea typeface="Calibri" pitchFamily="34" charset="-122"/>
                          <a:cs typeface="Calibri" pitchFamily="34" charset="-120"/>
                        </a:rPr>
                        <a:t>LITHOS PINN (Proposed)</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6E6E4"/>
                    </a:solidFill>
                  </a:tcPr>
                </a:tc>
                <a:tc>
                  <a:txBody>
                    <a:bodyPr/>
                    <a:lstStyle/>
                    <a:p>
                      <a:pPr indent="0" marL="0">
                        <a:buNone/>
                      </a:pPr>
                      <a:r>
                        <a:rPr lang="en-US" sz="1200" b="1" dirty="0">
                          <a:solidFill>
                            <a:srgbClr val="2B2320"/>
                          </a:solidFill>
                          <a:latin typeface="Calibri" pitchFamily="34" charset="0"/>
                          <a:ea typeface="Calibri" pitchFamily="34" charset="-122"/>
                          <a:cs typeface="Calibri" pitchFamily="34" charset="-120"/>
                        </a:rPr>
                        <a:t>Hybrid Physics-AI</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6E6E4"/>
                    </a:solidFill>
                  </a:tcPr>
                </a:tc>
                <a:tc>
                  <a:txBody>
                    <a:bodyPr/>
                    <a:lstStyle/>
                    <a:p>
                      <a:pPr indent="0" marL="0">
                        <a:buNone/>
                      </a:pPr>
                      <a:r>
                        <a:rPr lang="en-US" sz="1200" b="1" dirty="0">
                          <a:solidFill>
                            <a:srgbClr val="2B2320"/>
                          </a:solidFill>
                          <a:latin typeface="Calibri" pitchFamily="34" charset="0"/>
                          <a:ea typeface="Calibri" pitchFamily="34" charset="-122"/>
                          <a:cs typeface="Calibri" pitchFamily="34" charset="-120"/>
                        </a:rPr>
                        <a:t>0.8571</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6E6E4"/>
                    </a:solidFill>
                  </a:tcPr>
                </a:tc>
                <a:tc>
                  <a:txBody>
                    <a:bodyPr/>
                    <a:lstStyle/>
                    <a:p>
                      <a:pPr indent="0" marL="0">
                        <a:buNone/>
                      </a:pPr>
                      <a:r>
                        <a:rPr lang="en-US" sz="1200" b="1" dirty="0">
                          <a:solidFill>
                            <a:srgbClr val="2B2320"/>
                          </a:solidFill>
                          <a:latin typeface="Calibri" pitchFamily="34" charset="0"/>
                          <a:ea typeface="Calibri" pitchFamily="34" charset="-122"/>
                          <a:cs typeface="Calibri" pitchFamily="34" charset="-120"/>
                        </a:rPr>
                        <a:t>0.6424</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6E6E4"/>
                    </a:solidFill>
                  </a:tcPr>
                </a:tc>
                <a:tc>
                  <a:txBody>
                    <a:bodyPr/>
                    <a:lstStyle/>
                    <a:p>
                      <a:pPr indent="0" marL="0">
                        <a:buNone/>
                      </a:pPr>
                      <a:r>
                        <a:rPr lang="en-US" sz="1200" b="1" dirty="0">
                          <a:solidFill>
                            <a:srgbClr val="8C3A30"/>
                          </a:solidFill>
                          <a:latin typeface="Calibri" pitchFamily="34" charset="0"/>
                          <a:ea typeface="Calibri" pitchFamily="34" charset="-122"/>
                          <a:cs typeface="Calibri" pitchFamily="34" charset="-120"/>
                        </a:rPr>
                        <a:t>69.9%</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6E6E4"/>
                    </a:solidFill>
                  </a:tcPr>
                </a:tc>
                <a:tc>
                  <a:txBody>
                    <a:bodyPr/>
                    <a:lstStyle/>
                    <a:p>
                      <a:pPr indent="0" marL="0">
                        <a:buNone/>
                      </a:pPr>
                      <a:r>
                        <a:rPr lang="en-US" sz="1200" b="1" dirty="0">
                          <a:solidFill>
                            <a:srgbClr val="2B2320"/>
                          </a:solidFill>
                          <a:latin typeface="Calibri" pitchFamily="34" charset="0"/>
                          <a:ea typeface="Calibri" pitchFamily="34" charset="-122"/>
                          <a:cs typeface="Calibri" pitchFamily="34" charset="-120"/>
                        </a:rPr>
                        <a:t>0.255</a:t>
                      </a:r>
                      <a:endParaRPr lang="en-US" sz="12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6E6E4"/>
                    </a:solidFill>
                  </a:tcPr>
                </a:tc>
              </a:tr>
            </a:tbl>
          </a:graphicData>
        </a:graphic>
      </p:graphicFrame>
      <p:sp>
        <p:nvSpPr>
          <p:cNvPr id="5" name="Shape 2"/>
          <p:cNvSpPr/>
          <p:nvPr/>
        </p:nvSpPr>
        <p:spPr>
          <a:xfrm>
            <a:off x="548640" y="4754880"/>
            <a:ext cx="11109960" cy="1371600"/>
          </a:xfrm>
          <a:prstGeom prst="roundRect">
            <a:avLst>
              <a:gd name="adj" fmla="val 5333"/>
            </a:avLst>
          </a:prstGeom>
          <a:solidFill>
            <a:srgbClr val="F4F1EC"/>
          </a:solidFill>
          <a:ln/>
        </p:spPr>
      </p:sp>
      <p:sp>
        <p:nvSpPr>
          <p:cNvPr id="6" name="Shape 3"/>
          <p:cNvSpPr/>
          <p:nvPr/>
        </p:nvSpPr>
        <p:spPr>
          <a:xfrm>
            <a:off x="777240" y="4956048"/>
            <a:ext cx="548640" cy="548640"/>
          </a:xfrm>
          <a:prstGeom prst="ellipse">
            <a:avLst/>
          </a:prstGeom>
          <a:solidFill>
            <a:srgbClr val="5E7C5B"/>
          </a:solidFill>
          <a:ln/>
        </p:spPr>
      </p:sp>
      <p:pic>
        <p:nvPicPr>
          <p:cNvPr id="7" name="Image 0" descr="assets/checkCircle_white.png">    </p:cNvPr>
          <p:cNvPicPr>
            <a:picLocks noChangeAspect="1"/>
          </p:cNvPicPr>
          <p:nvPr/>
        </p:nvPicPr>
        <p:blipFill>
          <a:blip r:embed="rId1"/>
          <a:stretch>
            <a:fillRect/>
          </a:stretch>
        </p:blipFill>
        <p:spPr>
          <a:xfrm>
            <a:off x="919886" y="5098694"/>
            <a:ext cx="263347" cy="263347"/>
          </a:xfrm>
          <a:prstGeom prst="rect">
            <a:avLst/>
          </a:prstGeom>
        </p:spPr>
      </p:pic>
      <p:sp>
        <p:nvSpPr>
          <p:cNvPr id="8" name="Text 4"/>
          <p:cNvSpPr txBox="1"/>
          <p:nvPr/>
        </p:nvSpPr>
        <p:spPr>
          <a:xfrm>
            <a:off x="1508760" y="4956048"/>
            <a:ext cx="9875520" cy="320040"/>
          </a:xfrm>
          <a:prstGeom prst="rect">
            <a:avLst/>
          </a:prstGeom>
          <a:noFill/>
          <a:ln/>
        </p:spPr>
        <p:txBody>
          <a:bodyPr wrap="square" lIns="0" tIns="0" rIns="0" bIns="0" rtlCol="0" anchor="ctr"/>
          <a:lstStyle/>
          <a:p>
            <a:pPr indent="0" marL="0">
              <a:buNone/>
            </a:pPr>
            <a:r>
              <a:rPr lang="en-US" sz="1400" b="1" dirty="0">
                <a:solidFill>
                  <a:srgbClr val="2B2320"/>
                </a:solidFill>
                <a:latin typeface="Cambria" pitchFamily="34" charset="0"/>
                <a:ea typeface="Cambria" pitchFamily="34" charset="-122"/>
                <a:cs typeface="Cambria" pitchFamily="34" charset="-120"/>
              </a:rPr>
              <a:t>Key finding: highest failure recall of any model — 69.9%</a:t>
            </a:r>
            <a:endParaRPr lang="en-US" sz="1400" dirty="0"/>
          </a:p>
        </p:txBody>
      </p:sp>
      <p:sp>
        <p:nvSpPr>
          <p:cNvPr id="9" name="Text 5"/>
          <p:cNvSpPr txBox="1"/>
          <p:nvPr/>
        </p:nvSpPr>
        <p:spPr>
          <a:xfrm>
            <a:off x="1508760" y="5303520"/>
            <a:ext cx="9875520" cy="731520"/>
          </a:xfrm>
          <a:prstGeom prst="rect">
            <a:avLst/>
          </a:prstGeom>
          <a:noFill/>
          <a:ln/>
        </p:spPr>
        <p:txBody>
          <a:bodyPr wrap="square" lIns="0" tIns="0" rIns="0" bIns="0" rtlCol="0" anchor="ctr"/>
          <a:lstStyle/>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For disaster early warning, missing a real landslide is far costlier than a false alarm. LITHOS catches nearly 70% of historical events — more than any competing model — while staying grounded in real physics (only 0.42% physics-violating predictions).</a:t>
            </a:r>
            <a:endParaRPr lang="en-US" sz="1200" dirty="0"/>
          </a:p>
        </p:txBody>
      </p:sp>
      <p:sp>
        <p:nvSpPr>
          <p:cNvPr id="10" name="Text 6"/>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11" name="Text 7"/>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Reading the Results Honestly</a:t>
            </a:r>
            <a:endParaRPr lang="en-US" sz="2700" dirty="0"/>
          </a:p>
        </p:txBody>
      </p:sp>
      <p:sp>
        <p:nvSpPr>
          <p:cNvPr id="3" name="Text 1"/>
          <p:cNvSpPr txBox="1"/>
          <p:nvPr/>
        </p:nvSpPr>
        <p:spPr>
          <a:xfrm>
            <a:off x="548640" y="1051560"/>
            <a:ext cx="9144000" cy="36576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A transparent look at what the trade-offs mean</a:t>
            </a:r>
            <a:endParaRPr lang="en-US" sz="1300" dirty="0"/>
          </a:p>
        </p:txBody>
      </p:sp>
      <p:sp>
        <p:nvSpPr>
          <p:cNvPr id="4" name="Shape 2"/>
          <p:cNvSpPr/>
          <p:nvPr/>
        </p:nvSpPr>
        <p:spPr>
          <a:xfrm>
            <a:off x="548640" y="1645920"/>
            <a:ext cx="594360" cy="594360"/>
          </a:xfrm>
          <a:prstGeom prst="ellipse">
            <a:avLst/>
          </a:prstGeom>
          <a:solidFill>
            <a:srgbClr val="B85042"/>
          </a:solidFill>
          <a:ln/>
        </p:spPr>
      </p:sp>
      <p:pic>
        <p:nvPicPr>
          <p:cNvPr id="5" name="Image 0" descr="assets/chartLine_white.png">    </p:cNvPr>
          <p:cNvPicPr>
            <a:picLocks noChangeAspect="1"/>
          </p:cNvPicPr>
          <p:nvPr/>
        </p:nvPicPr>
        <p:blipFill>
          <a:blip r:embed="rId1"/>
          <a:stretch>
            <a:fillRect/>
          </a:stretch>
        </p:blipFill>
        <p:spPr>
          <a:xfrm>
            <a:off x="703174" y="1800454"/>
            <a:ext cx="285293" cy="285293"/>
          </a:xfrm>
          <a:prstGeom prst="rect">
            <a:avLst/>
          </a:prstGeom>
        </p:spPr>
      </p:pic>
      <p:sp>
        <p:nvSpPr>
          <p:cNvPr id="6" name="Text 3"/>
          <p:cNvSpPr txBox="1"/>
          <p:nvPr/>
        </p:nvSpPr>
        <p:spPr>
          <a:xfrm>
            <a:off x="1371600" y="1627632"/>
            <a:ext cx="10241280"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Recall over raw AUC</a:t>
            </a:r>
            <a:endParaRPr lang="en-US" sz="1500" dirty="0"/>
          </a:p>
        </p:txBody>
      </p:sp>
      <p:sp>
        <p:nvSpPr>
          <p:cNvPr id="7" name="Text 4"/>
          <p:cNvSpPr txBox="1"/>
          <p:nvPr/>
        </p:nvSpPr>
        <p:spPr>
          <a:xfrm>
            <a:off x="1371600" y="2011680"/>
            <a:ext cx="10332720" cy="594360"/>
          </a:xfrm>
          <a:prstGeom prst="rect">
            <a:avLst/>
          </a:prstGeom>
          <a:noFill/>
          <a:ln/>
        </p:spPr>
        <p:txBody>
          <a:bodyPr wrap="square" lIns="0" tIns="0" rIns="0" bIns="0" rtlCol="0" anchor="ctr"/>
          <a:lstStyle/>
          <a:p>
            <a:pPr indent="0" marL="0">
              <a:lnSpc>
                <a:spcPct val="115000"/>
              </a:lnSpc>
              <a:buNone/>
            </a:pPr>
            <a:r>
              <a:rPr lang="en-US" sz="1250" dirty="0">
                <a:solidFill>
                  <a:srgbClr val="5C5450"/>
                </a:solidFill>
                <a:latin typeface="Calibri" pitchFamily="34" charset="0"/>
                <a:ea typeface="Calibri" pitchFamily="34" charset="-122"/>
                <a:cs typeface="Calibri" pitchFamily="34" charset="-120"/>
              </a:rPr>
              <a:t>LITHOS trades some overall AUC for much higher recall on the rare, dangerous positive class — the right trade-off for a warning system where missed failures are the real risk.</a:t>
            </a:r>
            <a:endParaRPr lang="en-US" sz="1250" dirty="0"/>
          </a:p>
        </p:txBody>
      </p:sp>
      <p:sp>
        <p:nvSpPr>
          <p:cNvPr id="8" name="Shape 5"/>
          <p:cNvSpPr/>
          <p:nvPr/>
        </p:nvSpPr>
        <p:spPr>
          <a:xfrm>
            <a:off x="548640" y="2816352"/>
            <a:ext cx="594360" cy="594360"/>
          </a:xfrm>
          <a:prstGeom prst="ellipse">
            <a:avLst/>
          </a:prstGeom>
          <a:solidFill>
            <a:srgbClr val="B85042"/>
          </a:solidFill>
          <a:ln/>
        </p:spPr>
      </p:sp>
      <p:pic>
        <p:nvPicPr>
          <p:cNvPr id="9" name="Image 1" descr="assets/mapLocation_white.png">    </p:cNvPr>
          <p:cNvPicPr>
            <a:picLocks noChangeAspect="1"/>
          </p:cNvPicPr>
          <p:nvPr/>
        </p:nvPicPr>
        <p:blipFill>
          <a:blip r:embed="rId2"/>
          <a:stretch>
            <a:fillRect/>
          </a:stretch>
        </p:blipFill>
        <p:spPr>
          <a:xfrm>
            <a:off x="703174" y="2970886"/>
            <a:ext cx="285293" cy="285293"/>
          </a:xfrm>
          <a:prstGeom prst="rect">
            <a:avLst/>
          </a:prstGeom>
        </p:spPr>
      </p:pic>
      <p:sp>
        <p:nvSpPr>
          <p:cNvPr id="10" name="Text 6"/>
          <p:cNvSpPr txBox="1"/>
          <p:nvPr/>
        </p:nvSpPr>
        <p:spPr>
          <a:xfrm>
            <a:off x="1371600" y="2798064"/>
            <a:ext cx="10241280"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Spatial holdout is the harder, fairer test</a:t>
            </a:r>
            <a:endParaRPr lang="en-US" sz="1500" dirty="0"/>
          </a:p>
        </p:txBody>
      </p:sp>
      <p:sp>
        <p:nvSpPr>
          <p:cNvPr id="11" name="Text 7"/>
          <p:cNvSpPr txBox="1"/>
          <p:nvPr/>
        </p:nvSpPr>
        <p:spPr>
          <a:xfrm>
            <a:off x="1371600" y="3182112"/>
            <a:ext cx="10332720" cy="594360"/>
          </a:xfrm>
          <a:prstGeom prst="rect">
            <a:avLst/>
          </a:prstGeom>
          <a:noFill/>
          <a:ln/>
        </p:spPr>
        <p:txBody>
          <a:bodyPr wrap="square" lIns="0" tIns="0" rIns="0" bIns="0" rtlCol="0" anchor="ctr"/>
          <a:lstStyle/>
          <a:p>
            <a:pPr indent="0" marL="0">
              <a:lnSpc>
                <a:spcPct val="115000"/>
              </a:lnSpc>
              <a:buNone/>
            </a:pPr>
            <a:r>
              <a:rPr lang="en-US" sz="1250" dirty="0">
                <a:solidFill>
                  <a:srgbClr val="5C5450"/>
                </a:solidFill>
                <a:latin typeface="Calibri" pitchFamily="34" charset="0"/>
                <a:ea typeface="Calibri" pitchFamily="34" charset="-122"/>
                <a:cs typeface="Calibri" pitchFamily="34" charset="-120"/>
              </a:rPr>
              <a:t>The 0.6424 holdout AUC (unseen states: Sikkim, Tripura) is a stricter measure of true generalization than the in-distribution 0.8571 test AUC — and still far above chance.</a:t>
            </a:r>
            <a:endParaRPr lang="en-US" sz="1250" dirty="0"/>
          </a:p>
        </p:txBody>
      </p:sp>
      <p:sp>
        <p:nvSpPr>
          <p:cNvPr id="12" name="Shape 8"/>
          <p:cNvSpPr/>
          <p:nvPr/>
        </p:nvSpPr>
        <p:spPr>
          <a:xfrm>
            <a:off x="548640" y="3986784"/>
            <a:ext cx="594360" cy="594360"/>
          </a:xfrm>
          <a:prstGeom prst="ellipse">
            <a:avLst/>
          </a:prstGeom>
          <a:solidFill>
            <a:srgbClr val="B85042"/>
          </a:solidFill>
          <a:ln/>
        </p:spPr>
      </p:sp>
      <p:pic>
        <p:nvPicPr>
          <p:cNvPr id="13" name="Image 2" descr="assets/flask_white.png">    </p:cNvPr>
          <p:cNvPicPr>
            <a:picLocks noChangeAspect="1"/>
          </p:cNvPicPr>
          <p:nvPr/>
        </p:nvPicPr>
        <p:blipFill>
          <a:blip r:embed="rId3"/>
          <a:stretch>
            <a:fillRect/>
          </a:stretch>
        </p:blipFill>
        <p:spPr>
          <a:xfrm>
            <a:off x="703174" y="4141318"/>
            <a:ext cx="285293" cy="285293"/>
          </a:xfrm>
          <a:prstGeom prst="rect">
            <a:avLst/>
          </a:prstGeom>
        </p:spPr>
      </p:pic>
      <p:sp>
        <p:nvSpPr>
          <p:cNvPr id="14" name="Text 9"/>
          <p:cNvSpPr txBox="1"/>
          <p:nvPr/>
        </p:nvSpPr>
        <p:spPr>
          <a:xfrm>
            <a:off x="1371600" y="3968496"/>
            <a:ext cx="10241280"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Physics keeps the model honest</a:t>
            </a:r>
            <a:endParaRPr lang="en-US" sz="1500" dirty="0"/>
          </a:p>
        </p:txBody>
      </p:sp>
      <p:sp>
        <p:nvSpPr>
          <p:cNvPr id="15" name="Text 10"/>
          <p:cNvSpPr txBox="1"/>
          <p:nvPr/>
        </p:nvSpPr>
        <p:spPr>
          <a:xfrm>
            <a:off x="1371600" y="4352544"/>
            <a:ext cx="10332720" cy="594360"/>
          </a:xfrm>
          <a:prstGeom prst="rect">
            <a:avLst/>
          </a:prstGeom>
          <a:noFill/>
          <a:ln/>
        </p:spPr>
        <p:txBody>
          <a:bodyPr wrap="square" lIns="0" tIns="0" rIns="0" bIns="0" rtlCol="0" anchor="ctr"/>
          <a:lstStyle/>
          <a:p>
            <a:pPr indent="0" marL="0">
              <a:lnSpc>
                <a:spcPct val="115000"/>
              </a:lnSpc>
              <a:buNone/>
            </a:pPr>
            <a:r>
              <a:rPr lang="en-US" sz="1250" dirty="0">
                <a:solidFill>
                  <a:srgbClr val="5C5450"/>
                </a:solidFill>
                <a:latin typeface="Calibri" pitchFamily="34" charset="0"/>
                <a:ea typeface="Calibri" pitchFamily="34" charset="-122"/>
                <a:cs typeface="Calibri" pitchFamily="34" charset="-120"/>
              </a:rPr>
              <a:t>Only 0.42% of predictions violate basic geomechanics — versus a pure black-box model that could achieve high accuracy while making physically impossible predictions.</a:t>
            </a:r>
            <a:endParaRPr lang="en-US" sz="1250" dirty="0"/>
          </a:p>
        </p:txBody>
      </p:sp>
      <p:sp>
        <p:nvSpPr>
          <p:cNvPr id="16" name="Shape 11"/>
          <p:cNvSpPr/>
          <p:nvPr/>
        </p:nvSpPr>
        <p:spPr>
          <a:xfrm>
            <a:off x="548640" y="5157216"/>
            <a:ext cx="594360" cy="594360"/>
          </a:xfrm>
          <a:prstGeom prst="ellipse">
            <a:avLst/>
          </a:prstGeom>
          <a:solidFill>
            <a:srgbClr val="B85042"/>
          </a:solidFill>
          <a:ln/>
        </p:spPr>
      </p:sp>
      <p:pic>
        <p:nvPicPr>
          <p:cNvPr id="17" name="Image 3" descr="assets/wrench_white.png">    </p:cNvPr>
          <p:cNvPicPr>
            <a:picLocks noChangeAspect="1"/>
          </p:cNvPicPr>
          <p:nvPr/>
        </p:nvPicPr>
        <p:blipFill>
          <a:blip r:embed="rId4"/>
          <a:stretch>
            <a:fillRect/>
          </a:stretch>
        </p:blipFill>
        <p:spPr>
          <a:xfrm>
            <a:off x="703174" y="5311750"/>
            <a:ext cx="285293" cy="285293"/>
          </a:xfrm>
          <a:prstGeom prst="rect">
            <a:avLst/>
          </a:prstGeom>
        </p:spPr>
      </p:pic>
      <p:sp>
        <p:nvSpPr>
          <p:cNvPr id="18" name="Text 12"/>
          <p:cNvSpPr txBox="1"/>
          <p:nvPr/>
        </p:nvSpPr>
        <p:spPr>
          <a:xfrm>
            <a:off x="1371600" y="5138928"/>
            <a:ext cx="10241280"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Room to improve</a:t>
            </a:r>
            <a:endParaRPr lang="en-US" sz="1500" dirty="0"/>
          </a:p>
        </p:txBody>
      </p:sp>
      <p:sp>
        <p:nvSpPr>
          <p:cNvPr id="19" name="Text 13"/>
          <p:cNvSpPr txBox="1"/>
          <p:nvPr/>
        </p:nvSpPr>
        <p:spPr>
          <a:xfrm>
            <a:off x="1371600" y="5522976"/>
            <a:ext cx="10332720" cy="594360"/>
          </a:xfrm>
          <a:prstGeom prst="rect">
            <a:avLst/>
          </a:prstGeom>
          <a:noFill/>
          <a:ln/>
        </p:spPr>
        <p:txBody>
          <a:bodyPr wrap="square" lIns="0" tIns="0" rIns="0" bIns="0" rtlCol="0" anchor="ctr"/>
          <a:lstStyle/>
          <a:p>
            <a:pPr indent="0" marL="0">
              <a:lnSpc>
                <a:spcPct val="115000"/>
              </a:lnSpc>
              <a:buNone/>
            </a:pPr>
            <a:r>
              <a:rPr lang="en-US" sz="1250" dirty="0">
                <a:solidFill>
                  <a:srgbClr val="5C5450"/>
                </a:solidFill>
                <a:latin typeface="Calibri" pitchFamily="34" charset="0"/>
                <a:ea typeface="Calibri" pitchFamily="34" charset="-122"/>
                <a:cs typeface="Calibri" pitchFamily="34" charset="-120"/>
              </a:rPr>
              <a:t>More historical events, finer-resolution soil data, and ensembling with the physics-only baseline are natural next steps to push holdout performance further.</a:t>
            </a:r>
            <a:endParaRPr lang="en-US" sz="1250" dirty="0"/>
          </a:p>
        </p:txBody>
      </p:sp>
      <p:sp>
        <p:nvSpPr>
          <p:cNvPr id="20" name="Text 14"/>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21" name="Text 15"/>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59436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From Risk Score to Engineering Action</a:t>
            </a:r>
            <a:endParaRPr lang="en-US" sz="2700" dirty="0"/>
          </a:p>
        </p:txBody>
      </p:sp>
      <p:sp>
        <p:nvSpPr>
          <p:cNvPr id="3" name="Text 1"/>
          <p:cNvSpPr txBox="1"/>
          <p:nvPr/>
        </p:nvSpPr>
        <p:spPr>
          <a:xfrm>
            <a:off x="548640" y="987552"/>
            <a:ext cx="10972800" cy="36576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Automated classification per IS 14680:1999 — Guidelines for Landslide Control</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4206240"/>
        </p:xfrm>
        <a:graphic>
          <a:graphicData uri="http://schemas.openxmlformats.org/drawingml/2006/table">
            <a:tbl>
              <a:tblPr/>
              <a:tblGrid>
                <a:gridCol w="2103120"/>
                <a:gridCol w="2286000"/>
                <a:gridCol w="2331720"/>
                <a:gridCol w="4389120"/>
              </a:tblGrid>
              <a:tr h="600891">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Movement</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4A5D5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Material</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4A5D5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IS 14680 Class</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4A5D5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Remedial Measure</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4A5D5E"/>
                    </a:solidFill>
                  </a:tcPr>
                </a:tc>
              </a:tr>
              <a:tr h="600891">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Fall</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Rock / boulders</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Rock fall</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Rock bolting, wire netting, catch ditch</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600891">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Topple</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Blocky rock mass</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Rock topple</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Dentition, rock anchors, crack sealing</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600891">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Slide (planar)</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Debris / colluvium</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Debris slide</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Benching, slope flattening, toe berm</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600891">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Slide (rotational)</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Fine silts / clays</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Rotational slump</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Retaining walls, drainage galleries, soil nailing</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600891">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Flow</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Saturated silt/mud</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Earth/debris flow</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Check dams, lined chute spillways, reforestation</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600891">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Complex</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Mixed bedrock/soil</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Combined failure</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Subsurface drainage + reinforced concrete piling</a:t>
                      </a:r>
                      <a:endParaRPr lang="en-US" sz="115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6" name="Text 3"/>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A Real Scenario, Start to Finish</a:t>
            </a:r>
            <a:endParaRPr lang="en-US" sz="2700" dirty="0"/>
          </a:p>
        </p:txBody>
      </p:sp>
      <p:sp>
        <p:nvSpPr>
          <p:cNvPr id="3" name="Text 1"/>
          <p:cNvSpPr txBox="1"/>
          <p:nvPr/>
        </p:nvSpPr>
        <p:spPr>
          <a:xfrm>
            <a:off x="548640" y="1051560"/>
            <a:ext cx="9144000" cy="36576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Walking one slope unit through the entire LITHOS pipeline</a:t>
            </a:r>
            <a:endParaRPr lang="en-US" sz="1300" dirty="0"/>
          </a:p>
        </p:txBody>
      </p:sp>
      <p:sp>
        <p:nvSpPr>
          <p:cNvPr id="4" name="Shape 2"/>
          <p:cNvSpPr/>
          <p:nvPr/>
        </p:nvSpPr>
        <p:spPr>
          <a:xfrm>
            <a:off x="548640" y="1691640"/>
            <a:ext cx="640080" cy="640080"/>
          </a:xfrm>
          <a:prstGeom prst="ellipse">
            <a:avLst/>
          </a:prstGeom>
          <a:solidFill>
            <a:srgbClr val="B85042"/>
          </a:solidFill>
          <a:ln/>
        </p:spPr>
      </p:sp>
      <p:pic>
        <p:nvPicPr>
          <p:cNvPr id="5" name="Image 0" descr="assets/satellite_white.png">    </p:cNvPr>
          <p:cNvPicPr>
            <a:picLocks noChangeAspect="1"/>
          </p:cNvPicPr>
          <p:nvPr/>
        </p:nvPicPr>
        <p:blipFill>
          <a:blip r:embed="rId1"/>
          <a:stretch>
            <a:fillRect/>
          </a:stretch>
        </p:blipFill>
        <p:spPr>
          <a:xfrm>
            <a:off x="715061" y="1858061"/>
            <a:ext cx="307238" cy="307238"/>
          </a:xfrm>
          <a:prstGeom prst="rect">
            <a:avLst/>
          </a:prstGeom>
        </p:spPr>
      </p:pic>
      <p:sp>
        <p:nvSpPr>
          <p:cNvPr id="6" name="Text 3"/>
          <p:cNvSpPr txBox="1"/>
          <p:nvPr/>
        </p:nvSpPr>
        <p:spPr>
          <a:xfrm>
            <a:off x="1417320" y="1673352"/>
            <a:ext cx="10241280"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1.  Inputs measured</a:t>
            </a:r>
            <a:endParaRPr lang="en-US" sz="1500" dirty="0"/>
          </a:p>
        </p:txBody>
      </p:sp>
      <p:sp>
        <p:nvSpPr>
          <p:cNvPr id="7" name="Text 4"/>
          <p:cNvSpPr txBox="1"/>
          <p:nvPr/>
        </p:nvSpPr>
        <p:spPr>
          <a:xfrm>
            <a:off x="1417320" y="2075688"/>
            <a:ext cx="10332720" cy="640080"/>
          </a:xfrm>
          <a:prstGeom prst="rect">
            <a:avLst/>
          </a:prstGeom>
          <a:noFill/>
          <a:ln/>
        </p:spPr>
        <p:txBody>
          <a:bodyPr wrap="square" lIns="0" tIns="0" rIns="0" bIns="0" rtlCol="0" anchor="ctr"/>
          <a:lstStyle/>
          <a:p>
            <a:pPr indent="0" marL="0">
              <a:lnSpc>
                <a:spcPct val="115000"/>
              </a:lnSpc>
              <a:buNone/>
            </a:pPr>
            <a:r>
              <a:rPr lang="en-US" sz="1250" dirty="0">
                <a:solidFill>
                  <a:srgbClr val="5C5450"/>
                </a:solidFill>
                <a:latin typeface="Calibri" pitchFamily="34" charset="0"/>
                <a:ea typeface="Calibri" pitchFamily="34" charset="-122"/>
                <a:cs typeface="Calibri" pitchFamily="34" charset="-120"/>
              </a:rPr>
              <a:t>Slope 42°, cohesion 8.0 kPa, friction 21°, saturation 0.95, PGA 0.20g — a steep, weak, saturated slope (Wayanad-type extreme case).</a:t>
            </a:r>
            <a:endParaRPr lang="en-US" sz="1250" dirty="0"/>
          </a:p>
        </p:txBody>
      </p:sp>
      <p:sp>
        <p:nvSpPr>
          <p:cNvPr id="8" name="Shape 5"/>
          <p:cNvSpPr/>
          <p:nvPr/>
        </p:nvSpPr>
        <p:spPr>
          <a:xfrm>
            <a:off x="548640" y="2862072"/>
            <a:ext cx="640080" cy="640080"/>
          </a:xfrm>
          <a:prstGeom prst="ellipse">
            <a:avLst/>
          </a:prstGeom>
          <a:solidFill>
            <a:srgbClr val="B85042"/>
          </a:solidFill>
          <a:ln/>
        </p:spPr>
      </p:sp>
      <p:pic>
        <p:nvPicPr>
          <p:cNvPr id="9" name="Image 1" descr="assets/flask_white.png">    </p:cNvPr>
          <p:cNvPicPr>
            <a:picLocks noChangeAspect="1"/>
          </p:cNvPicPr>
          <p:nvPr/>
        </p:nvPicPr>
        <p:blipFill>
          <a:blip r:embed="rId2"/>
          <a:stretch>
            <a:fillRect/>
          </a:stretch>
        </p:blipFill>
        <p:spPr>
          <a:xfrm>
            <a:off x="715061" y="3028493"/>
            <a:ext cx="307238" cy="307238"/>
          </a:xfrm>
          <a:prstGeom prst="rect">
            <a:avLst/>
          </a:prstGeom>
        </p:spPr>
      </p:pic>
      <p:sp>
        <p:nvSpPr>
          <p:cNvPr id="10" name="Text 6"/>
          <p:cNvSpPr txBox="1"/>
          <p:nvPr/>
        </p:nvSpPr>
        <p:spPr>
          <a:xfrm>
            <a:off x="1417320" y="2843784"/>
            <a:ext cx="10241280"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2.  Physics computed</a:t>
            </a:r>
            <a:endParaRPr lang="en-US" sz="1500" dirty="0"/>
          </a:p>
        </p:txBody>
      </p:sp>
      <p:sp>
        <p:nvSpPr>
          <p:cNvPr id="11" name="Text 7"/>
          <p:cNvSpPr txBox="1"/>
          <p:nvPr/>
        </p:nvSpPr>
        <p:spPr>
          <a:xfrm>
            <a:off x="1417320" y="3246120"/>
            <a:ext cx="10332720" cy="640080"/>
          </a:xfrm>
          <a:prstGeom prst="rect">
            <a:avLst/>
          </a:prstGeom>
          <a:noFill/>
          <a:ln/>
        </p:spPr>
        <p:txBody>
          <a:bodyPr wrap="square" lIns="0" tIns="0" rIns="0" bIns="0" rtlCol="0" anchor="ctr"/>
          <a:lstStyle/>
          <a:p>
            <a:pPr indent="0" marL="0">
              <a:lnSpc>
                <a:spcPct val="115000"/>
              </a:lnSpc>
              <a:buNone/>
            </a:pPr>
            <a:r>
              <a:rPr lang="en-US" sz="1250" dirty="0">
                <a:solidFill>
                  <a:srgbClr val="5C5450"/>
                </a:solidFill>
                <a:latin typeface="Calibri" pitchFamily="34" charset="0"/>
                <a:ea typeface="Calibri" pitchFamily="34" charset="-122"/>
                <a:cs typeface="Calibri" pitchFamily="34" charset="-120"/>
              </a:rPr>
              <a:t>Factor of Safety works out to 0.39 — well below 1.0, meaning the slope is already unstable by classical geomechanics alone.</a:t>
            </a:r>
            <a:endParaRPr lang="en-US" sz="1250" dirty="0"/>
          </a:p>
        </p:txBody>
      </p:sp>
      <p:sp>
        <p:nvSpPr>
          <p:cNvPr id="12" name="Shape 8"/>
          <p:cNvSpPr/>
          <p:nvPr/>
        </p:nvSpPr>
        <p:spPr>
          <a:xfrm>
            <a:off x="548640" y="4032504"/>
            <a:ext cx="640080" cy="640080"/>
          </a:xfrm>
          <a:prstGeom prst="ellipse">
            <a:avLst/>
          </a:prstGeom>
          <a:solidFill>
            <a:srgbClr val="B85042"/>
          </a:solidFill>
          <a:ln/>
        </p:spPr>
      </p:sp>
      <p:pic>
        <p:nvPicPr>
          <p:cNvPr id="13" name="Image 2" descr="assets/brain_white.png">    </p:cNvPr>
          <p:cNvPicPr>
            <a:picLocks noChangeAspect="1"/>
          </p:cNvPicPr>
          <p:nvPr/>
        </p:nvPicPr>
        <p:blipFill>
          <a:blip r:embed="rId3"/>
          <a:stretch>
            <a:fillRect/>
          </a:stretch>
        </p:blipFill>
        <p:spPr>
          <a:xfrm>
            <a:off x="715061" y="4198925"/>
            <a:ext cx="307238" cy="307238"/>
          </a:xfrm>
          <a:prstGeom prst="rect">
            <a:avLst/>
          </a:prstGeom>
        </p:spPr>
      </p:pic>
      <p:sp>
        <p:nvSpPr>
          <p:cNvPr id="14" name="Text 9"/>
          <p:cNvSpPr txBox="1"/>
          <p:nvPr/>
        </p:nvSpPr>
        <p:spPr>
          <a:xfrm>
            <a:off x="1417320" y="4014216"/>
            <a:ext cx="10241280"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3.  Model predicts</a:t>
            </a:r>
            <a:endParaRPr lang="en-US" sz="1500" dirty="0"/>
          </a:p>
        </p:txBody>
      </p:sp>
      <p:sp>
        <p:nvSpPr>
          <p:cNvPr id="15" name="Text 10"/>
          <p:cNvSpPr txBox="1"/>
          <p:nvPr/>
        </p:nvSpPr>
        <p:spPr>
          <a:xfrm>
            <a:off x="1417320" y="4416552"/>
            <a:ext cx="10332720" cy="640080"/>
          </a:xfrm>
          <a:prstGeom prst="rect">
            <a:avLst/>
          </a:prstGeom>
          <a:noFill/>
          <a:ln/>
        </p:spPr>
        <p:txBody>
          <a:bodyPr wrap="square" lIns="0" tIns="0" rIns="0" bIns="0" rtlCol="0" anchor="ctr"/>
          <a:lstStyle/>
          <a:p>
            <a:pPr indent="0" marL="0">
              <a:lnSpc>
                <a:spcPct val="115000"/>
              </a:lnSpc>
              <a:buNone/>
            </a:pPr>
            <a:r>
              <a:rPr lang="en-US" sz="1250" dirty="0">
                <a:solidFill>
                  <a:srgbClr val="5C5450"/>
                </a:solidFill>
                <a:latin typeface="Calibri" pitchFamily="34" charset="0"/>
                <a:ea typeface="Calibri" pitchFamily="34" charset="-122"/>
                <a:cs typeface="Calibri" pitchFamily="34" charset="-120"/>
              </a:rPr>
              <a:t>The PINN outputs a failure probability of 0.172, consistent with the low FS and reinforced by the physics loss term during training.</a:t>
            </a:r>
            <a:endParaRPr lang="en-US" sz="1250" dirty="0"/>
          </a:p>
        </p:txBody>
      </p:sp>
      <p:sp>
        <p:nvSpPr>
          <p:cNvPr id="16" name="Shape 11"/>
          <p:cNvSpPr/>
          <p:nvPr/>
        </p:nvSpPr>
        <p:spPr>
          <a:xfrm>
            <a:off x="548640" y="5202936"/>
            <a:ext cx="640080" cy="640080"/>
          </a:xfrm>
          <a:prstGeom prst="ellipse">
            <a:avLst/>
          </a:prstGeom>
          <a:solidFill>
            <a:srgbClr val="5E7C5B"/>
          </a:solidFill>
          <a:ln/>
        </p:spPr>
      </p:sp>
      <p:pic>
        <p:nvPicPr>
          <p:cNvPr id="17" name="Image 3" descr="assets/shieldHalved_white.png">    </p:cNvPr>
          <p:cNvPicPr>
            <a:picLocks noChangeAspect="1"/>
          </p:cNvPicPr>
          <p:nvPr/>
        </p:nvPicPr>
        <p:blipFill>
          <a:blip r:embed="rId4"/>
          <a:stretch>
            <a:fillRect/>
          </a:stretch>
        </p:blipFill>
        <p:spPr>
          <a:xfrm>
            <a:off x="715061" y="5369357"/>
            <a:ext cx="307238" cy="307238"/>
          </a:xfrm>
          <a:prstGeom prst="rect">
            <a:avLst/>
          </a:prstGeom>
        </p:spPr>
      </p:pic>
      <p:sp>
        <p:nvSpPr>
          <p:cNvPr id="18" name="Text 12"/>
          <p:cNvSpPr txBox="1"/>
          <p:nvPr/>
        </p:nvSpPr>
        <p:spPr>
          <a:xfrm>
            <a:off x="1417320" y="5184648"/>
            <a:ext cx="10241280"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4.  Action recommended</a:t>
            </a:r>
            <a:endParaRPr lang="en-US" sz="1500" dirty="0"/>
          </a:p>
        </p:txBody>
      </p:sp>
      <p:sp>
        <p:nvSpPr>
          <p:cNvPr id="19" name="Text 13"/>
          <p:cNvSpPr txBox="1"/>
          <p:nvPr/>
        </p:nvSpPr>
        <p:spPr>
          <a:xfrm>
            <a:off x="1417320" y="5586984"/>
            <a:ext cx="10332720" cy="640080"/>
          </a:xfrm>
          <a:prstGeom prst="rect">
            <a:avLst/>
          </a:prstGeom>
          <a:noFill/>
          <a:ln/>
        </p:spPr>
        <p:txBody>
          <a:bodyPr wrap="square" lIns="0" tIns="0" rIns="0" bIns="0" rtlCol="0" anchor="ctr"/>
          <a:lstStyle/>
          <a:p>
            <a:pPr indent="0" marL="0">
              <a:lnSpc>
                <a:spcPct val="115000"/>
              </a:lnSpc>
              <a:buNone/>
            </a:pPr>
            <a:r>
              <a:rPr lang="en-US" sz="1250" dirty="0">
                <a:solidFill>
                  <a:srgbClr val="5C5450"/>
                </a:solidFill>
                <a:latin typeface="Calibri" pitchFamily="34" charset="0"/>
                <a:ea typeface="Calibri" pitchFamily="34" charset="-122"/>
                <a:cs typeface="Calibri" pitchFamily="34" charset="-120"/>
              </a:rPr>
              <a:t>Automatically classified as a Flow-type failure → recommendation: series of check dams, lined chute spillways, reforestation (per IS 14680).</a:t>
            </a:r>
            <a:endParaRPr lang="en-US" sz="1250" dirty="0"/>
          </a:p>
        </p:txBody>
      </p:sp>
      <p:sp>
        <p:nvSpPr>
          <p:cNvPr id="20" name="Text 14"/>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21" name="Text 15"/>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Where Should Drones and Boreholes Go?</a:t>
            </a:r>
            <a:endParaRPr lang="en-US" sz="2700" dirty="0"/>
          </a:p>
        </p:txBody>
      </p:sp>
      <p:sp>
        <p:nvSpPr>
          <p:cNvPr id="3" name="Text 1"/>
          <p:cNvSpPr txBox="1"/>
          <p:nvPr/>
        </p:nvSpPr>
        <p:spPr>
          <a:xfrm>
            <a:off x="548640" y="1051560"/>
            <a:ext cx="10515600" cy="36576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The Priority Survey Index (PSI) targets scarce field resources intelligently</a:t>
            </a:r>
            <a:endParaRPr lang="en-US" sz="1300" dirty="0"/>
          </a:p>
        </p:txBody>
      </p:sp>
      <p:sp>
        <p:nvSpPr>
          <p:cNvPr id="4" name="Shape 2"/>
          <p:cNvSpPr/>
          <p:nvPr/>
        </p:nvSpPr>
        <p:spPr>
          <a:xfrm>
            <a:off x="548640" y="1600200"/>
            <a:ext cx="11109960" cy="914400"/>
          </a:xfrm>
          <a:prstGeom prst="roundRect">
            <a:avLst>
              <a:gd name="adj" fmla="val 8000"/>
            </a:avLst>
          </a:prstGeom>
          <a:solidFill>
            <a:srgbClr val="2B2320"/>
          </a:solidFill>
          <a:ln/>
        </p:spPr>
      </p:sp>
      <p:sp>
        <p:nvSpPr>
          <p:cNvPr id="5" name="Text 3"/>
          <p:cNvSpPr txBox="1"/>
          <p:nvPr/>
        </p:nvSpPr>
        <p:spPr>
          <a:xfrm>
            <a:off x="822960" y="1600200"/>
            <a:ext cx="10561320" cy="914400"/>
          </a:xfrm>
          <a:prstGeom prst="rect">
            <a:avLst/>
          </a:prstGeom>
          <a:noFill/>
          <a:ln/>
        </p:spPr>
        <p:txBody>
          <a:bodyPr wrap="square" lIns="0" tIns="0" rIns="0" bIns="0" rtlCol="0" anchor="ctr"/>
          <a:lstStyle/>
          <a:p>
            <a:pPr algn="ctr" indent="0" marL="0">
              <a:buNone/>
            </a:pPr>
            <a:r>
              <a:rPr lang="en-US" sz="2200" b="1" i="1" dirty="0">
                <a:solidFill>
                  <a:srgbClr val="FFFFFF"/>
                </a:solidFill>
                <a:latin typeface="Cambria" pitchFamily="34" charset="0"/>
                <a:ea typeface="Cambria" pitchFamily="34" charset="-122"/>
                <a:cs typeface="Cambria" pitchFamily="34" charset="-120"/>
              </a:rPr>
              <a:t>PSIᵢ  =  p̂ᵢ  ×  σ_epistemic,ᵢ</a:t>
            </a:r>
            <a:endParaRPr lang="en-US" sz="2200" dirty="0"/>
          </a:p>
        </p:txBody>
      </p:sp>
      <p:sp>
        <p:nvSpPr>
          <p:cNvPr id="6" name="Shape 4"/>
          <p:cNvSpPr/>
          <p:nvPr/>
        </p:nvSpPr>
        <p:spPr>
          <a:xfrm>
            <a:off x="548640" y="2743200"/>
            <a:ext cx="5394960" cy="3337560"/>
          </a:xfrm>
          <a:prstGeom prst="roundRect">
            <a:avLst>
              <a:gd name="adj" fmla="val 2192"/>
            </a:avLst>
          </a:prstGeom>
          <a:solidFill>
            <a:srgbClr val="F4F1EC"/>
          </a:solidFill>
          <a:ln/>
        </p:spPr>
      </p:sp>
      <p:sp>
        <p:nvSpPr>
          <p:cNvPr id="7" name="Shape 5"/>
          <p:cNvSpPr/>
          <p:nvPr/>
        </p:nvSpPr>
        <p:spPr>
          <a:xfrm>
            <a:off x="822960" y="2971800"/>
            <a:ext cx="594360" cy="594360"/>
          </a:xfrm>
          <a:prstGeom prst="ellipse">
            <a:avLst/>
          </a:prstGeom>
          <a:solidFill>
            <a:srgbClr val="D9A441"/>
          </a:solidFill>
          <a:ln/>
        </p:spPr>
      </p:sp>
      <p:pic>
        <p:nvPicPr>
          <p:cNvPr id="8" name="Image 0" descr="assets/drone_white.png">    </p:cNvPr>
          <p:cNvPicPr>
            <a:picLocks noChangeAspect="1"/>
          </p:cNvPicPr>
          <p:nvPr/>
        </p:nvPicPr>
        <p:blipFill>
          <a:blip r:embed="rId1"/>
          <a:stretch>
            <a:fillRect/>
          </a:stretch>
        </p:blipFill>
        <p:spPr>
          <a:xfrm>
            <a:off x="977494" y="3126334"/>
            <a:ext cx="285293" cy="285293"/>
          </a:xfrm>
          <a:prstGeom prst="rect">
            <a:avLst/>
          </a:prstGeom>
        </p:spPr>
      </p:pic>
      <p:sp>
        <p:nvSpPr>
          <p:cNvPr id="9" name="Text 6"/>
          <p:cNvSpPr txBox="1"/>
          <p:nvPr/>
        </p:nvSpPr>
        <p:spPr>
          <a:xfrm>
            <a:off x="1600200" y="3017520"/>
            <a:ext cx="4206240" cy="54864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High risk + high uncertainty = survey first</a:t>
            </a:r>
            <a:endParaRPr lang="en-US" sz="1450" dirty="0"/>
          </a:p>
        </p:txBody>
      </p:sp>
      <p:sp>
        <p:nvSpPr>
          <p:cNvPr id="10" name="Text 7"/>
          <p:cNvSpPr txBox="1"/>
          <p:nvPr/>
        </p:nvSpPr>
        <p:spPr>
          <a:xfrm>
            <a:off x="822960" y="3703320"/>
            <a:ext cx="4937760" cy="2194560"/>
          </a:xfrm>
          <a:prstGeom prst="rect">
            <a:avLst/>
          </a:prstGeom>
          <a:noFill/>
          <a:ln/>
        </p:spPr>
        <p:txBody>
          <a:bodyPr wrap="square" lIns="0" tIns="0" rIns="0" bIns="0" rtlCol="0" anchor="ctr"/>
          <a:lstStyle/>
          <a:p>
            <a:pPr indent="0" marL="0">
              <a:lnSpc>
                <a:spcPct val="120000"/>
              </a:lnSpc>
              <a:buNone/>
            </a:pPr>
            <a:r>
              <a:rPr lang="en-US" sz="1300" dirty="0">
                <a:solidFill>
                  <a:srgbClr val="5C5450"/>
                </a:solidFill>
                <a:latin typeface="Calibri" pitchFamily="34" charset="0"/>
                <a:ea typeface="Calibri" pitchFamily="34" charset="-122"/>
                <a:cs typeface="Calibri" pitchFamily="34" charset="-120"/>
              </a:rPr>
              <a:t>Slopes where the model predicts danger but isn’t confident are exactly where satellite data alone isn’t enough — that’s where on-site geotechnical boreholes (IS 1892) or drone LiDAR add the most value.</a:t>
            </a:r>
            <a:endParaRPr lang="en-US" sz="1300" dirty="0"/>
          </a:p>
        </p:txBody>
      </p:sp>
      <p:sp>
        <p:nvSpPr>
          <p:cNvPr id="11" name="Shape 8"/>
          <p:cNvSpPr/>
          <p:nvPr/>
        </p:nvSpPr>
        <p:spPr>
          <a:xfrm>
            <a:off x="6172200" y="2743200"/>
            <a:ext cx="5468112" cy="3337560"/>
          </a:xfrm>
          <a:prstGeom prst="roundRect">
            <a:avLst>
              <a:gd name="adj" fmla="val 2192"/>
            </a:avLst>
          </a:prstGeom>
          <a:solidFill>
            <a:srgbClr val="EFE9E1"/>
          </a:solidFill>
          <a:ln/>
        </p:spPr>
      </p:sp>
      <p:sp>
        <p:nvSpPr>
          <p:cNvPr id="12" name="Text 9"/>
          <p:cNvSpPr txBox="1"/>
          <p:nvPr/>
        </p:nvSpPr>
        <p:spPr>
          <a:xfrm>
            <a:off x="6446520" y="2926080"/>
            <a:ext cx="4937760" cy="365760"/>
          </a:xfrm>
          <a:prstGeom prst="rect">
            <a:avLst/>
          </a:prstGeom>
          <a:noFill/>
          <a:ln/>
        </p:spPr>
        <p:txBody>
          <a:bodyPr wrap="square" lIns="0" tIns="0" rIns="0" bIns="0" rtlCol="0" anchor="ctr"/>
          <a:lstStyle/>
          <a:p>
            <a:pPr indent="0" marL="0">
              <a:buNone/>
            </a:pPr>
            <a:r>
              <a:rPr lang="en-US" sz="1400" b="1" dirty="0">
                <a:solidFill>
                  <a:srgbClr val="2B2320"/>
                </a:solidFill>
                <a:latin typeface="Cambria" pitchFamily="34" charset="0"/>
                <a:ea typeface="Cambria" pitchFamily="34" charset="-122"/>
                <a:cs typeface="Cambria" pitchFamily="34" charset="-120"/>
              </a:rPr>
              <a:t>Top-5 Priority Sites (of 580,508 units)</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46520" y="3383280"/>
          <a:ext cx="5074920" cy="2468880"/>
        </p:xfrm>
        <a:graphic>
          <a:graphicData uri="http://schemas.openxmlformats.org/drawingml/2006/table">
            <a:tbl>
              <a:tblPr/>
              <a:tblGrid>
                <a:gridCol w="2606040"/>
                <a:gridCol w="1188720"/>
                <a:gridCol w="1280160"/>
              </a:tblGrid>
              <a:tr h="411480">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Rank</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Prob.</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Uncertainty</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#1  Unit 54199</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0.892</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±0.312</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#2  Unit 12092</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0.881</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±0.298</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#3  Unit 11195</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0.875</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±0.291</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#4  Unit 13748</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0.869</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±0.284</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#5  Unit 69980</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0.861</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B2320"/>
                          </a:solidFill>
                          <a:latin typeface="Calibri" pitchFamily="34" charset="0"/>
                          <a:ea typeface="Calibri" pitchFamily="34" charset="-122"/>
                          <a:cs typeface="Calibri" pitchFamily="34" charset="-120"/>
                        </a:rPr>
                        <a:t>±0.280</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15" name="Text 11"/>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From Model to Production: Backend</a:t>
            </a:r>
            <a:endParaRPr lang="en-US" sz="2700" dirty="0"/>
          </a:p>
        </p:txBody>
      </p:sp>
      <p:sp>
        <p:nvSpPr>
          <p:cNvPr id="3" name="Text 1"/>
          <p:cNvSpPr txBox="1"/>
          <p:nvPr/>
        </p:nvSpPr>
        <p:spPr>
          <a:xfrm>
            <a:off x="548640" y="1051560"/>
            <a:ext cx="7315200" cy="365760"/>
          </a:xfrm>
          <a:prstGeom prst="rect">
            <a:avLst/>
          </a:prstGeom>
          <a:noFill/>
          <a:ln/>
        </p:spPr>
        <p:txBody>
          <a:bodyPr wrap="square" lIns="0" tIns="0" rIns="0" bIns="0" rtlCol="0" anchor="ctr"/>
          <a:lstStyle/>
          <a:p>
            <a:pPr indent="0" marL="0">
              <a:buNone/>
            </a:pPr>
            <a:r>
              <a:rPr lang="en-US" sz="1300" dirty="0">
                <a:solidFill>
                  <a:srgbClr val="5C5450"/>
                </a:solidFill>
                <a:latin typeface="Courier New" pitchFamily="34" charset="0"/>
                <a:ea typeface="Courier New" pitchFamily="34" charset="-122"/>
                <a:cs typeface="Courier New" pitchFamily="34" charset="-120"/>
              </a:rPr>
              <a:t>phase7-webapp/backend/main.py</a:t>
            </a:r>
            <a:endParaRPr lang="en-US" sz="1300" dirty="0"/>
          </a:p>
        </p:txBody>
      </p:sp>
      <p:sp>
        <p:nvSpPr>
          <p:cNvPr id="4" name="Shape 2"/>
          <p:cNvSpPr/>
          <p:nvPr/>
        </p:nvSpPr>
        <p:spPr>
          <a:xfrm>
            <a:off x="548640" y="1920240"/>
            <a:ext cx="685800" cy="685800"/>
          </a:xfrm>
          <a:prstGeom prst="ellipse">
            <a:avLst/>
          </a:prstGeom>
          <a:solidFill>
            <a:srgbClr val="4A5D5E"/>
          </a:solidFill>
          <a:ln/>
        </p:spPr>
      </p:sp>
      <p:pic>
        <p:nvPicPr>
          <p:cNvPr id="5" name="Image 0" descr="assets/server_white.png">    </p:cNvPr>
          <p:cNvPicPr>
            <a:picLocks noChangeAspect="1"/>
          </p:cNvPicPr>
          <p:nvPr/>
        </p:nvPicPr>
        <p:blipFill>
          <a:blip r:embed="rId1"/>
          <a:stretch>
            <a:fillRect/>
          </a:stretch>
        </p:blipFill>
        <p:spPr>
          <a:xfrm>
            <a:off x="726948" y="2098548"/>
            <a:ext cx="329184" cy="329184"/>
          </a:xfrm>
          <a:prstGeom prst="rect">
            <a:avLst/>
          </a:prstGeom>
        </p:spPr>
      </p:pic>
      <p:sp>
        <p:nvSpPr>
          <p:cNvPr id="6" name="Text 3"/>
          <p:cNvSpPr txBox="1"/>
          <p:nvPr/>
        </p:nvSpPr>
        <p:spPr>
          <a:xfrm>
            <a:off x="1463040" y="1938528"/>
            <a:ext cx="9875520" cy="411480"/>
          </a:xfrm>
          <a:prstGeom prst="rect">
            <a:avLst/>
          </a:prstGeom>
          <a:noFill/>
          <a:ln/>
        </p:spPr>
        <p:txBody>
          <a:bodyPr wrap="square" lIns="0" tIns="0" rIns="0" bIns="0" rtlCol="0" anchor="ctr"/>
          <a:lstStyle/>
          <a:p>
            <a:pPr indent="0" marL="0">
              <a:buNone/>
            </a:pPr>
            <a:r>
              <a:rPr lang="en-US" sz="1600" b="1" dirty="0">
                <a:solidFill>
                  <a:srgbClr val="2B2320"/>
                </a:solidFill>
                <a:latin typeface="Cambria" pitchFamily="34" charset="0"/>
                <a:ea typeface="Cambria" pitchFamily="34" charset="-122"/>
                <a:cs typeface="Cambria" pitchFamily="34" charset="-120"/>
              </a:rPr>
              <a:t>High-throughput FastAPI</a:t>
            </a:r>
            <a:endParaRPr lang="en-US" sz="1600" dirty="0"/>
          </a:p>
        </p:txBody>
      </p:sp>
      <p:sp>
        <p:nvSpPr>
          <p:cNvPr id="7" name="Text 4"/>
          <p:cNvSpPr txBox="1"/>
          <p:nvPr/>
        </p:nvSpPr>
        <p:spPr>
          <a:xfrm>
            <a:off x="1463040" y="2377440"/>
            <a:ext cx="10058400" cy="594360"/>
          </a:xfrm>
          <a:prstGeom prst="rect">
            <a:avLst/>
          </a:prstGeom>
          <a:noFill/>
          <a:ln/>
        </p:spPr>
        <p:txBody>
          <a:bodyPr wrap="square" lIns="0" tIns="0" rIns="0" bIns="0" rtlCol="0" anchor="ctr"/>
          <a:lstStyle/>
          <a:p>
            <a:pPr indent="0" marL="0">
              <a:lnSpc>
                <a:spcPct val="115000"/>
              </a:lnSpc>
              <a:buNone/>
            </a:pPr>
            <a:r>
              <a:rPr lang="en-US" sz="1300" dirty="0">
                <a:solidFill>
                  <a:srgbClr val="5C5450"/>
                </a:solidFill>
                <a:latin typeface="Calibri" pitchFamily="34" charset="0"/>
                <a:ea typeface="Calibri" pitchFamily="34" charset="-122"/>
                <a:cs typeface="Calibri" pitchFamily="34" charset="-120"/>
              </a:rPr>
              <a:t>Asynchronous Python framework serving all model inference and terrain endpoints in production.</a:t>
            </a:r>
            <a:endParaRPr lang="en-US" sz="1300" dirty="0"/>
          </a:p>
        </p:txBody>
      </p:sp>
      <p:sp>
        <p:nvSpPr>
          <p:cNvPr id="8" name="Shape 5"/>
          <p:cNvSpPr/>
          <p:nvPr/>
        </p:nvSpPr>
        <p:spPr>
          <a:xfrm>
            <a:off x="548640" y="3291840"/>
            <a:ext cx="685800" cy="685800"/>
          </a:xfrm>
          <a:prstGeom prst="ellipse">
            <a:avLst/>
          </a:prstGeom>
          <a:solidFill>
            <a:srgbClr val="4A5D5E"/>
          </a:solidFill>
          <a:ln/>
        </p:spPr>
      </p:sp>
      <p:pic>
        <p:nvPicPr>
          <p:cNvPr id="9" name="Image 1" descr="assets/mapLocation_white.png">    </p:cNvPr>
          <p:cNvPicPr>
            <a:picLocks noChangeAspect="1"/>
          </p:cNvPicPr>
          <p:nvPr/>
        </p:nvPicPr>
        <p:blipFill>
          <a:blip r:embed="rId2"/>
          <a:stretch>
            <a:fillRect/>
          </a:stretch>
        </p:blipFill>
        <p:spPr>
          <a:xfrm>
            <a:off x="726948" y="3470148"/>
            <a:ext cx="329184" cy="329184"/>
          </a:xfrm>
          <a:prstGeom prst="rect">
            <a:avLst/>
          </a:prstGeom>
        </p:spPr>
      </p:pic>
      <p:sp>
        <p:nvSpPr>
          <p:cNvPr id="10" name="Text 6"/>
          <p:cNvSpPr txBox="1"/>
          <p:nvPr/>
        </p:nvSpPr>
        <p:spPr>
          <a:xfrm>
            <a:off x="1463040" y="3310128"/>
            <a:ext cx="9875520" cy="411480"/>
          </a:xfrm>
          <a:prstGeom prst="rect">
            <a:avLst/>
          </a:prstGeom>
          <a:noFill/>
          <a:ln/>
        </p:spPr>
        <p:txBody>
          <a:bodyPr wrap="square" lIns="0" tIns="0" rIns="0" bIns="0" rtlCol="0" anchor="ctr"/>
          <a:lstStyle/>
          <a:p>
            <a:pPr indent="0" marL="0">
              <a:buNone/>
            </a:pPr>
            <a:r>
              <a:rPr lang="en-US" sz="1600" b="1" dirty="0">
                <a:solidFill>
                  <a:srgbClr val="2B2320"/>
                </a:solidFill>
                <a:latin typeface="Cambria" pitchFamily="34" charset="0"/>
                <a:ea typeface="Cambria" pitchFamily="34" charset="-122"/>
                <a:cs typeface="Cambria" pitchFamily="34" charset="-120"/>
              </a:rPr>
              <a:t>Vectorized heatmap generation</a:t>
            </a:r>
            <a:endParaRPr lang="en-US" sz="1600" dirty="0"/>
          </a:p>
        </p:txBody>
      </p:sp>
      <p:sp>
        <p:nvSpPr>
          <p:cNvPr id="11" name="Text 7"/>
          <p:cNvSpPr txBox="1"/>
          <p:nvPr/>
        </p:nvSpPr>
        <p:spPr>
          <a:xfrm>
            <a:off x="1463040" y="3749040"/>
            <a:ext cx="10058400" cy="594360"/>
          </a:xfrm>
          <a:prstGeom prst="rect">
            <a:avLst/>
          </a:prstGeom>
          <a:noFill/>
          <a:ln/>
        </p:spPr>
        <p:txBody>
          <a:bodyPr wrap="square" lIns="0" tIns="0" rIns="0" bIns="0" rtlCol="0" anchor="ctr"/>
          <a:lstStyle/>
          <a:p>
            <a:pPr indent="0" marL="0">
              <a:lnSpc>
                <a:spcPct val="115000"/>
              </a:lnSpc>
              <a:buNone/>
            </a:pPr>
            <a:r>
              <a:rPr lang="en-US" sz="1300" dirty="0">
                <a:solidFill>
                  <a:srgbClr val="5C5450"/>
                </a:solidFill>
                <a:latin typeface="Calibri" pitchFamily="34" charset="0"/>
                <a:ea typeface="Calibri" pitchFamily="34" charset="-122"/>
                <a:cs typeface="Calibri" pitchFamily="34" charset="-120"/>
              </a:rPr>
              <a:t>The /api/heatmap-image endpoint renders large-scale slope-unit risk overlays efficiently, even across all 580K units.</a:t>
            </a:r>
            <a:endParaRPr lang="en-US" sz="1300" dirty="0"/>
          </a:p>
        </p:txBody>
      </p:sp>
      <p:sp>
        <p:nvSpPr>
          <p:cNvPr id="12" name="Shape 8"/>
          <p:cNvSpPr/>
          <p:nvPr/>
        </p:nvSpPr>
        <p:spPr>
          <a:xfrm>
            <a:off x="548640" y="4663440"/>
            <a:ext cx="685800" cy="685800"/>
          </a:xfrm>
          <a:prstGeom prst="ellipse">
            <a:avLst/>
          </a:prstGeom>
          <a:solidFill>
            <a:srgbClr val="4A5D5E"/>
          </a:solidFill>
          <a:ln/>
        </p:spPr>
      </p:sp>
      <p:pic>
        <p:nvPicPr>
          <p:cNvPr id="13" name="Image 2" descr="assets/cubes_white.png">    </p:cNvPr>
          <p:cNvPicPr>
            <a:picLocks noChangeAspect="1"/>
          </p:cNvPicPr>
          <p:nvPr/>
        </p:nvPicPr>
        <p:blipFill>
          <a:blip r:embed="rId3"/>
          <a:stretch>
            <a:fillRect/>
          </a:stretch>
        </p:blipFill>
        <p:spPr>
          <a:xfrm>
            <a:off x="726948" y="4841748"/>
            <a:ext cx="329184" cy="329184"/>
          </a:xfrm>
          <a:prstGeom prst="rect">
            <a:avLst/>
          </a:prstGeom>
        </p:spPr>
      </p:pic>
      <p:sp>
        <p:nvSpPr>
          <p:cNvPr id="14" name="Text 9"/>
          <p:cNvSpPr txBox="1"/>
          <p:nvPr/>
        </p:nvSpPr>
        <p:spPr>
          <a:xfrm>
            <a:off x="1463040" y="4681728"/>
            <a:ext cx="9875520" cy="411480"/>
          </a:xfrm>
          <a:prstGeom prst="rect">
            <a:avLst/>
          </a:prstGeom>
          <a:noFill/>
          <a:ln/>
        </p:spPr>
        <p:txBody>
          <a:bodyPr wrap="square" lIns="0" tIns="0" rIns="0" bIns="0" rtlCol="0" anchor="ctr"/>
          <a:lstStyle/>
          <a:p>
            <a:pPr indent="0" marL="0">
              <a:buNone/>
            </a:pPr>
            <a:r>
              <a:rPr lang="en-US" sz="1600" b="1" dirty="0">
                <a:solidFill>
                  <a:srgbClr val="2B2320"/>
                </a:solidFill>
                <a:latin typeface="Cambria" pitchFamily="34" charset="0"/>
                <a:ea typeface="Cambria" pitchFamily="34" charset="-122"/>
                <a:cs typeface="Cambria" pitchFamily="34" charset="-120"/>
              </a:rPr>
              <a:t>Real-time 3D mesh export</a:t>
            </a:r>
            <a:endParaRPr lang="en-US" sz="1600" dirty="0"/>
          </a:p>
        </p:txBody>
      </p:sp>
      <p:sp>
        <p:nvSpPr>
          <p:cNvPr id="15" name="Text 10"/>
          <p:cNvSpPr txBox="1"/>
          <p:nvPr/>
        </p:nvSpPr>
        <p:spPr>
          <a:xfrm>
            <a:off x="1463040" y="5120640"/>
            <a:ext cx="10058400" cy="594360"/>
          </a:xfrm>
          <a:prstGeom prst="rect">
            <a:avLst/>
          </a:prstGeom>
          <a:noFill/>
          <a:ln/>
        </p:spPr>
        <p:txBody>
          <a:bodyPr wrap="square" lIns="0" tIns="0" rIns="0" bIns="0" rtlCol="0" anchor="ctr"/>
          <a:lstStyle/>
          <a:p>
            <a:pPr indent="0" marL="0">
              <a:lnSpc>
                <a:spcPct val="115000"/>
              </a:lnSpc>
              <a:buNone/>
            </a:pPr>
            <a:r>
              <a:rPr lang="en-US" sz="1300" dirty="0">
                <a:solidFill>
                  <a:srgbClr val="5C5450"/>
                </a:solidFill>
                <a:latin typeface="Calibri" pitchFamily="34" charset="0"/>
                <a:ea typeface="Calibri" pitchFamily="34" charset="-122"/>
                <a:cs typeface="Calibri" pitchFamily="34" charset="-120"/>
              </a:rPr>
              <a:t>The /api/terrain/3d-heatmap-mesh endpoint streams elevation arrays and risk-probability grids for the digital twin to render.</a:t>
            </a:r>
            <a:endParaRPr lang="en-US" sz="1300" dirty="0"/>
          </a:p>
        </p:txBody>
      </p:sp>
      <p:sp>
        <p:nvSpPr>
          <p:cNvPr id="16" name="Text 11"/>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17" name="Text 12"/>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B2320"/>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3D Digital Twin</a:t>
            </a:r>
            <a:endParaRPr lang="en-US" sz="3000" dirty="0"/>
          </a:p>
        </p:txBody>
      </p:sp>
      <p:sp>
        <p:nvSpPr>
          <p:cNvPr id="3" name="Text 1"/>
          <p:cNvSpPr txBox="1"/>
          <p:nvPr/>
        </p:nvSpPr>
        <p:spPr>
          <a:xfrm>
            <a:off x="548640" y="1051560"/>
            <a:ext cx="10058400" cy="365760"/>
          </a:xfrm>
          <a:prstGeom prst="rect">
            <a:avLst/>
          </a:prstGeom>
          <a:noFill/>
          <a:ln/>
        </p:spPr>
        <p:txBody>
          <a:bodyPr wrap="square" lIns="0" tIns="0" rIns="0" bIns="0" rtlCol="0" anchor="ctr"/>
          <a:lstStyle/>
          <a:p>
            <a:pPr indent="0" marL="0">
              <a:buNone/>
            </a:pPr>
            <a:r>
              <a:rPr lang="en-US" sz="1300" i="1" dirty="0">
                <a:solidFill>
                  <a:srgbClr val="A7BEAE"/>
                </a:solidFill>
                <a:latin typeface="Calibri" pitchFamily="34" charset="0"/>
                <a:ea typeface="Calibri" pitchFamily="34" charset="-122"/>
                <a:cs typeface="Calibri" pitchFamily="34" charset="-120"/>
              </a:rPr>
              <a:t>CesiumTerrain3D.jsx — a photorealistic, explorable model of real terrain risk</a:t>
            </a:r>
            <a:endParaRPr lang="en-US" sz="1300" dirty="0"/>
          </a:p>
        </p:txBody>
      </p:sp>
      <p:sp>
        <p:nvSpPr>
          <p:cNvPr id="4" name="Shape 2"/>
          <p:cNvSpPr/>
          <p:nvPr/>
        </p:nvSpPr>
        <p:spPr>
          <a:xfrm>
            <a:off x="640080" y="1874520"/>
            <a:ext cx="731520" cy="731520"/>
          </a:xfrm>
          <a:prstGeom prst="ellipse">
            <a:avLst/>
          </a:prstGeom>
          <a:solidFill>
            <a:srgbClr val="B85042"/>
          </a:solidFill>
          <a:ln/>
        </p:spPr>
      </p:sp>
      <p:pic>
        <p:nvPicPr>
          <p:cNvPr id="5" name="Image 0" descr="assets/globe_white.png">    </p:cNvPr>
          <p:cNvPicPr>
            <a:picLocks noChangeAspect="1"/>
          </p:cNvPicPr>
          <p:nvPr/>
        </p:nvPicPr>
        <p:blipFill>
          <a:blip r:embed="rId1"/>
          <a:stretch>
            <a:fillRect/>
          </a:stretch>
        </p:blipFill>
        <p:spPr>
          <a:xfrm>
            <a:off x="830275" y="2064715"/>
            <a:ext cx="351130" cy="351130"/>
          </a:xfrm>
          <a:prstGeom prst="rect">
            <a:avLst/>
          </a:prstGeom>
        </p:spPr>
      </p:pic>
      <p:sp>
        <p:nvSpPr>
          <p:cNvPr id="6" name="Text 3"/>
          <p:cNvSpPr txBox="1"/>
          <p:nvPr/>
        </p:nvSpPr>
        <p:spPr>
          <a:xfrm>
            <a:off x="1645920" y="1920240"/>
            <a:ext cx="960120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CesiumJS + World Terrain</a:t>
            </a:r>
            <a:endParaRPr lang="en-US" sz="1700" dirty="0"/>
          </a:p>
        </p:txBody>
      </p:sp>
      <p:sp>
        <p:nvSpPr>
          <p:cNvPr id="7" name="Text 4"/>
          <p:cNvSpPr txBox="1"/>
          <p:nvPr/>
        </p:nvSpPr>
        <p:spPr>
          <a:xfrm>
            <a:off x="1645920" y="2377440"/>
            <a:ext cx="9784080" cy="548640"/>
          </a:xfrm>
          <a:prstGeom prst="rect">
            <a:avLst/>
          </a:prstGeom>
          <a:noFill/>
          <a:ln/>
        </p:spPr>
        <p:txBody>
          <a:bodyPr wrap="square" lIns="0" tIns="0" rIns="0" bIns="0" rtlCol="0" anchor="ctr"/>
          <a:lstStyle/>
          <a:p>
            <a:pPr indent="0" marL="0">
              <a:lnSpc>
                <a:spcPct val="115000"/>
              </a:lnSpc>
              <a:buNone/>
            </a:pPr>
            <a:r>
              <a:rPr lang="en-US" sz="1350" dirty="0">
                <a:solidFill>
                  <a:srgbClr val="D8CFC9"/>
                </a:solidFill>
                <a:latin typeface="Calibri" pitchFamily="34" charset="0"/>
                <a:ea typeface="Calibri" pitchFamily="34" charset="-122"/>
                <a:cs typeface="Calibri" pitchFamily="34" charset="-120"/>
              </a:rPr>
              <a:t>Hardware-accelerated, photorealistic globe rendering with real dynamic terrain shadows.</a:t>
            </a:r>
            <a:endParaRPr lang="en-US" sz="1350" dirty="0"/>
          </a:p>
        </p:txBody>
      </p:sp>
      <p:sp>
        <p:nvSpPr>
          <p:cNvPr id="8" name="Shape 5"/>
          <p:cNvSpPr/>
          <p:nvPr/>
        </p:nvSpPr>
        <p:spPr>
          <a:xfrm>
            <a:off x="640080" y="3291840"/>
            <a:ext cx="731520" cy="731520"/>
          </a:xfrm>
          <a:prstGeom prst="ellipse">
            <a:avLst/>
          </a:prstGeom>
          <a:solidFill>
            <a:srgbClr val="B85042"/>
          </a:solidFill>
          <a:ln/>
        </p:spPr>
      </p:sp>
      <p:pic>
        <p:nvPicPr>
          <p:cNvPr id="9" name="Image 1" descr="assets/building_white.png">    </p:cNvPr>
          <p:cNvPicPr>
            <a:picLocks noChangeAspect="1"/>
          </p:cNvPicPr>
          <p:nvPr/>
        </p:nvPicPr>
        <p:blipFill>
          <a:blip r:embed="rId2"/>
          <a:stretch>
            <a:fillRect/>
          </a:stretch>
        </p:blipFill>
        <p:spPr>
          <a:xfrm>
            <a:off x="830275" y="3482035"/>
            <a:ext cx="351130" cy="351130"/>
          </a:xfrm>
          <a:prstGeom prst="rect">
            <a:avLst/>
          </a:prstGeom>
        </p:spPr>
      </p:pic>
      <p:sp>
        <p:nvSpPr>
          <p:cNvPr id="10" name="Text 6"/>
          <p:cNvSpPr txBox="1"/>
          <p:nvPr/>
        </p:nvSpPr>
        <p:spPr>
          <a:xfrm>
            <a:off x="1645920" y="3337560"/>
            <a:ext cx="960120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3D buildings from OpenStreetMap</a:t>
            </a:r>
            <a:endParaRPr lang="en-US" sz="1700" dirty="0"/>
          </a:p>
        </p:txBody>
      </p:sp>
      <p:sp>
        <p:nvSpPr>
          <p:cNvPr id="11" name="Text 7"/>
          <p:cNvSpPr txBox="1"/>
          <p:nvPr/>
        </p:nvSpPr>
        <p:spPr>
          <a:xfrm>
            <a:off x="1645920" y="3794760"/>
            <a:ext cx="9784080" cy="548640"/>
          </a:xfrm>
          <a:prstGeom prst="rect">
            <a:avLst/>
          </a:prstGeom>
          <a:noFill/>
          <a:ln/>
        </p:spPr>
        <p:txBody>
          <a:bodyPr wrap="square" lIns="0" tIns="0" rIns="0" bIns="0" rtlCol="0" anchor="ctr"/>
          <a:lstStyle/>
          <a:p>
            <a:pPr indent="0" marL="0">
              <a:lnSpc>
                <a:spcPct val="115000"/>
              </a:lnSpc>
              <a:buNone/>
            </a:pPr>
            <a:r>
              <a:rPr lang="en-US" sz="1350" dirty="0">
                <a:solidFill>
                  <a:srgbClr val="D8CFC9"/>
                </a:solidFill>
                <a:latin typeface="Calibri" pitchFamily="34" charset="0"/>
                <a:ea typeface="Calibri" pitchFamily="34" charset="-122"/>
                <a:cs typeface="Calibri" pitchFamily="34" charset="-120"/>
              </a:rPr>
              <a:t>Real multi-storey building geometry rendered in urban centers — Gangtok, Shillong, Itanagar.</a:t>
            </a:r>
            <a:endParaRPr lang="en-US" sz="1350" dirty="0"/>
          </a:p>
        </p:txBody>
      </p:sp>
      <p:sp>
        <p:nvSpPr>
          <p:cNvPr id="12" name="Shape 8"/>
          <p:cNvSpPr/>
          <p:nvPr/>
        </p:nvSpPr>
        <p:spPr>
          <a:xfrm>
            <a:off x="640080" y="4709160"/>
            <a:ext cx="731520" cy="731520"/>
          </a:xfrm>
          <a:prstGeom prst="ellipse">
            <a:avLst/>
          </a:prstGeom>
          <a:solidFill>
            <a:srgbClr val="B85042"/>
          </a:solidFill>
          <a:ln/>
        </p:spPr>
      </p:sp>
      <p:pic>
        <p:nvPicPr>
          <p:cNvPr id="13" name="Image 2" descr="assets/crosshairs_white.png">    </p:cNvPr>
          <p:cNvPicPr>
            <a:picLocks noChangeAspect="1"/>
          </p:cNvPicPr>
          <p:nvPr/>
        </p:nvPicPr>
        <p:blipFill>
          <a:blip r:embed="rId3"/>
          <a:stretch>
            <a:fillRect/>
          </a:stretch>
        </p:blipFill>
        <p:spPr>
          <a:xfrm>
            <a:off x="830275" y="4899355"/>
            <a:ext cx="351130" cy="351130"/>
          </a:xfrm>
          <a:prstGeom prst="rect">
            <a:avLst/>
          </a:prstGeom>
        </p:spPr>
      </p:pic>
      <p:sp>
        <p:nvSpPr>
          <p:cNvPr id="14" name="Text 9"/>
          <p:cNvSpPr txBox="1"/>
          <p:nvPr/>
        </p:nvSpPr>
        <p:spPr>
          <a:xfrm>
            <a:off x="1645920" y="4754880"/>
            <a:ext cx="960120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Live GPS synchronization</a:t>
            </a:r>
            <a:endParaRPr lang="en-US" sz="1700" dirty="0"/>
          </a:p>
        </p:txBody>
      </p:sp>
      <p:sp>
        <p:nvSpPr>
          <p:cNvPr id="15" name="Text 10"/>
          <p:cNvSpPr txBox="1"/>
          <p:nvPr/>
        </p:nvSpPr>
        <p:spPr>
          <a:xfrm>
            <a:off x="1645920" y="5212080"/>
            <a:ext cx="9784080" cy="548640"/>
          </a:xfrm>
          <a:prstGeom prst="rect">
            <a:avLst/>
          </a:prstGeom>
          <a:noFill/>
          <a:ln/>
        </p:spPr>
        <p:txBody>
          <a:bodyPr wrap="square" lIns="0" tIns="0" rIns="0" bIns="0" rtlCol="0" anchor="ctr"/>
          <a:lstStyle/>
          <a:p>
            <a:pPr indent="0" marL="0">
              <a:lnSpc>
                <a:spcPct val="115000"/>
              </a:lnSpc>
              <a:buNone/>
            </a:pPr>
            <a:r>
              <a:rPr lang="en-US" sz="1350" dirty="0">
                <a:solidFill>
                  <a:srgbClr val="D8CFC9"/>
                </a:solidFill>
                <a:latin typeface="Calibri" pitchFamily="34" charset="0"/>
                <a:ea typeface="Calibri" pitchFamily="34" charset="-122"/>
                <a:cs typeface="Calibri" pitchFamily="34" charset="-120"/>
              </a:rPr>
              <a:t>W3C Geolocation API lets field engineers see their own position against nearby slope-risk data in real time.</a:t>
            </a:r>
            <a:endParaRPr lang="en-US" sz="1350" dirty="0"/>
          </a:p>
        </p:txBody>
      </p:sp>
      <p:sp>
        <p:nvSpPr>
          <p:cNvPr id="16" name="Text 11"/>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C9BEB8"/>
                </a:solidFill>
                <a:latin typeface="Calibri" pitchFamily="34" charset="0"/>
                <a:ea typeface="Calibri" pitchFamily="34" charset="-122"/>
                <a:cs typeface="Calibri" pitchFamily="34" charset="-120"/>
              </a:rPr>
              <a:t>LITHOS — Smart India Hackathon 2026</a:t>
            </a:r>
            <a:endParaRPr lang="en-US" sz="1000" dirty="0"/>
          </a:p>
        </p:txBody>
      </p:sp>
      <p:sp>
        <p:nvSpPr>
          <p:cNvPr id="17" name="Text 12"/>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C9BEB8"/>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Turning Risk Into Safe Evacuation Routes</a:t>
            </a:r>
            <a:endParaRPr lang="en-US" sz="2700" dirty="0"/>
          </a:p>
        </p:txBody>
      </p:sp>
      <p:sp>
        <p:nvSpPr>
          <p:cNvPr id="3" name="Text 1"/>
          <p:cNvSpPr txBox="1"/>
          <p:nvPr/>
        </p:nvSpPr>
        <p:spPr>
          <a:xfrm>
            <a:off x="548640" y="1051560"/>
            <a:ext cx="5486400" cy="365760"/>
          </a:xfrm>
          <a:prstGeom prst="rect">
            <a:avLst/>
          </a:prstGeom>
          <a:noFill/>
          <a:ln/>
        </p:spPr>
        <p:txBody>
          <a:bodyPr wrap="square" lIns="0" tIns="0" rIns="0" bIns="0" rtlCol="0" anchor="ctr"/>
          <a:lstStyle/>
          <a:p>
            <a:pPr indent="0" marL="0">
              <a:buNone/>
            </a:pPr>
            <a:r>
              <a:rPr lang="en-US" sz="1300" dirty="0">
                <a:solidFill>
                  <a:srgbClr val="5C5450"/>
                </a:solidFill>
                <a:latin typeface="Courier New" pitchFamily="34" charset="0"/>
                <a:ea typeface="Courier New" pitchFamily="34" charset="-122"/>
                <a:cs typeface="Courier New" pitchFamily="34" charset="-120"/>
              </a:rPr>
              <a:t>SafeRoute.jsx</a:t>
            </a:r>
            <a:endParaRPr lang="en-US" sz="1300" dirty="0"/>
          </a:p>
        </p:txBody>
      </p:sp>
      <p:sp>
        <p:nvSpPr>
          <p:cNvPr id="4" name="Shape 2"/>
          <p:cNvSpPr/>
          <p:nvPr/>
        </p:nvSpPr>
        <p:spPr>
          <a:xfrm>
            <a:off x="640080" y="1737360"/>
            <a:ext cx="1005840" cy="1005840"/>
          </a:xfrm>
          <a:prstGeom prst="ellipse">
            <a:avLst/>
          </a:prstGeom>
          <a:solidFill>
            <a:srgbClr val="B85042"/>
          </a:solidFill>
          <a:ln/>
        </p:spPr>
      </p:sp>
      <p:pic>
        <p:nvPicPr>
          <p:cNvPr id="5" name="Image 0" descr="assets/route_white.png">    </p:cNvPr>
          <p:cNvPicPr>
            <a:picLocks noChangeAspect="1"/>
          </p:cNvPicPr>
          <p:nvPr/>
        </p:nvPicPr>
        <p:blipFill>
          <a:blip r:embed="rId1"/>
          <a:stretch>
            <a:fillRect/>
          </a:stretch>
        </p:blipFill>
        <p:spPr>
          <a:xfrm>
            <a:off x="901598" y="1998878"/>
            <a:ext cx="482803" cy="482803"/>
          </a:xfrm>
          <a:prstGeom prst="rect">
            <a:avLst/>
          </a:prstGeom>
        </p:spPr>
      </p:pic>
      <p:sp>
        <p:nvSpPr>
          <p:cNvPr id="6" name="Text 3"/>
          <p:cNvSpPr txBox="1"/>
          <p:nvPr/>
        </p:nvSpPr>
        <p:spPr>
          <a:xfrm>
            <a:off x="1920240" y="1874520"/>
            <a:ext cx="5029200" cy="457200"/>
          </a:xfrm>
          <a:prstGeom prst="rect">
            <a:avLst/>
          </a:prstGeom>
          <a:noFill/>
          <a:ln/>
        </p:spPr>
        <p:txBody>
          <a:bodyPr wrap="square" lIns="0" tIns="0" rIns="0" bIns="0" rtlCol="0" anchor="ctr"/>
          <a:lstStyle/>
          <a:p>
            <a:pPr indent="0" marL="0">
              <a:buNone/>
            </a:pPr>
            <a:r>
              <a:rPr lang="en-US" sz="2000" b="1" dirty="0">
                <a:solidFill>
                  <a:srgbClr val="2B2320"/>
                </a:solidFill>
                <a:latin typeface="Cambria" pitchFamily="34" charset="0"/>
                <a:ea typeface="Cambria" pitchFamily="34" charset="-122"/>
                <a:cs typeface="Cambria" pitchFamily="34" charset="-120"/>
              </a:rPr>
              <a:t>Hazard-Aware Pathfinding</a:t>
            </a:r>
            <a:endParaRPr lang="en-US" sz="2000" dirty="0"/>
          </a:p>
        </p:txBody>
      </p:sp>
      <p:sp>
        <p:nvSpPr>
          <p:cNvPr id="7" name="Text 4"/>
          <p:cNvSpPr txBox="1"/>
          <p:nvPr/>
        </p:nvSpPr>
        <p:spPr>
          <a:xfrm>
            <a:off x="640080" y="3063240"/>
            <a:ext cx="10424160" cy="237744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400" dirty="0">
                <a:solidFill>
                  <a:srgbClr val="5C5450"/>
                </a:solidFill>
                <a:latin typeface="Calibri" pitchFamily="34" charset="0"/>
                <a:ea typeface="Calibri" pitchFamily="34" charset="-122"/>
                <a:cs typeface="Calibri" pitchFamily="34" charset="-120"/>
              </a:rPr>
              <a:t>Real-time road-network routing that treats high-risk slope units as costly obstacles, not just distance.</a:t>
            </a:r>
            <a:endParaRPr lang="en-US" sz="1400" dirty="0"/>
          </a:p>
          <a:p>
            <a:pPr marL="342900" indent="-342900">
              <a:lnSpc>
                <a:spcPct val="120000"/>
              </a:lnSpc>
              <a:spcAft>
                <a:spcPts val="1200"/>
              </a:spcAft>
              <a:buSzPct val="100000"/>
              <a:buChar char="•"/>
            </a:pPr>
            <a:r>
              <a:rPr lang="en-US" sz="1400" dirty="0">
                <a:solidFill>
                  <a:srgbClr val="5C5450"/>
                </a:solidFill>
                <a:latin typeface="Calibri" pitchFamily="34" charset="0"/>
                <a:ea typeface="Calibri" pitchFamily="34" charset="-122"/>
                <a:cs typeface="Calibri" pitchFamily="34" charset="-120"/>
              </a:rPr>
              <a:t>Any slope unit predicted at p̂ &gt; 0.60 failure probability is penalized in the path cost.</a:t>
            </a:r>
            <a:endParaRPr lang="en-US" sz="1400" dirty="0"/>
          </a:p>
          <a:p>
            <a:pPr marL="342900" indent="-342900">
              <a:lnSpc>
                <a:spcPct val="120000"/>
              </a:lnSpc>
              <a:spcAft>
                <a:spcPts val="1200"/>
              </a:spcAft>
              <a:buSzPct val="100000"/>
              <a:buChar char="•"/>
            </a:pPr>
            <a:r>
              <a:rPr lang="en-US" sz="1400" dirty="0">
                <a:solidFill>
                  <a:srgbClr val="5C5450"/>
                </a:solidFill>
                <a:latin typeface="Calibri" pitchFamily="34" charset="0"/>
                <a:ea typeface="Calibri" pitchFamily="34" charset="-122"/>
                <a:cs typeface="Calibri" pitchFamily="34" charset="-120"/>
              </a:rPr>
              <a:t>Civilians and responders are steered toward designated safe-haven shelters — avoiding dangerous terrain automatically, not manually.</a:t>
            </a:r>
            <a:endParaRPr lang="en-US" sz="1400" dirty="0"/>
          </a:p>
        </p:txBody>
      </p:sp>
      <p:sp>
        <p:nvSpPr>
          <p:cNvPr id="8" name="Shape 5"/>
          <p:cNvSpPr/>
          <p:nvPr/>
        </p:nvSpPr>
        <p:spPr>
          <a:xfrm>
            <a:off x="640080" y="5532120"/>
            <a:ext cx="10424160" cy="777240"/>
          </a:xfrm>
          <a:prstGeom prst="roundRect">
            <a:avLst>
              <a:gd name="adj" fmla="val 9412"/>
            </a:avLst>
          </a:prstGeom>
          <a:solidFill>
            <a:srgbClr val="F4F1EC"/>
          </a:solidFill>
          <a:ln/>
        </p:spPr>
      </p:sp>
      <p:sp>
        <p:nvSpPr>
          <p:cNvPr id="9" name="Text 6"/>
          <p:cNvSpPr txBox="1"/>
          <p:nvPr/>
        </p:nvSpPr>
        <p:spPr>
          <a:xfrm>
            <a:off x="914400" y="5532120"/>
            <a:ext cx="9966960" cy="777240"/>
          </a:xfrm>
          <a:prstGeom prst="rect">
            <a:avLst/>
          </a:prstGeom>
          <a:noFill/>
          <a:ln/>
        </p:spPr>
        <p:txBody>
          <a:bodyPr wrap="square" lIns="0" tIns="0" rIns="0" bIns="0" rtlCol="0" anchor="ctr"/>
          <a:lstStyle/>
          <a:p>
            <a:pPr indent="0" marL="0">
              <a:buNone/>
            </a:pPr>
            <a:r>
              <a:rPr lang="en-US" sz="1300" i="1" dirty="0">
                <a:solidFill>
                  <a:srgbClr val="2B2320"/>
                </a:solidFill>
                <a:latin typeface="Calibri" pitchFamily="34" charset="0"/>
                <a:ea typeface="Calibri" pitchFamily="34" charset="-122"/>
                <a:cs typeface="Calibri" pitchFamily="34" charset="-120"/>
              </a:rPr>
              <a:t>This closes the loop: raw satellite data → physics-informed prediction → an actual route a person can walk or drive.</a:t>
            </a:r>
            <a:endParaRPr lang="en-US" sz="1300" dirty="0"/>
          </a:p>
        </p:txBody>
      </p:sp>
      <p:sp>
        <p:nvSpPr>
          <p:cNvPr id="10" name="Text 7"/>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11" name="Text 8"/>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indent="0" marL="0">
              <a:buNone/>
            </a:pPr>
            <a:r>
              <a:rPr lang="en-US" sz="3000" b="1" dirty="0">
                <a:solidFill>
                  <a:srgbClr val="2B2320"/>
                </a:solidFill>
                <a:latin typeface="Cambria" pitchFamily="34" charset="0"/>
                <a:ea typeface="Cambria" pitchFamily="34" charset="-122"/>
                <a:cs typeface="Cambria" pitchFamily="34" charset="-120"/>
              </a:rPr>
              <a:t>Full Technology Stack</a:t>
            </a:r>
            <a:endParaRPr lang="en-US" sz="3000" dirty="0"/>
          </a:p>
        </p:txBody>
      </p:sp>
      <p:sp>
        <p:nvSpPr>
          <p:cNvPr id="3" name="Shape 1"/>
          <p:cNvSpPr/>
          <p:nvPr/>
        </p:nvSpPr>
        <p:spPr>
          <a:xfrm>
            <a:off x="548640" y="1554480"/>
            <a:ext cx="3566160" cy="2194560"/>
          </a:xfrm>
          <a:prstGeom prst="roundRect">
            <a:avLst>
              <a:gd name="adj" fmla="val 3333"/>
            </a:avLst>
          </a:prstGeom>
          <a:solidFill>
            <a:srgbClr val="F4F1EC"/>
          </a:solidFill>
          <a:ln/>
        </p:spPr>
      </p:sp>
      <p:sp>
        <p:nvSpPr>
          <p:cNvPr id="4" name="Shape 2"/>
          <p:cNvSpPr/>
          <p:nvPr/>
        </p:nvSpPr>
        <p:spPr>
          <a:xfrm>
            <a:off x="777240" y="1783080"/>
            <a:ext cx="502920" cy="502920"/>
          </a:xfrm>
          <a:prstGeom prst="ellipse">
            <a:avLst/>
          </a:prstGeom>
          <a:solidFill>
            <a:srgbClr val="B85042"/>
          </a:solidFill>
          <a:ln/>
        </p:spPr>
      </p:sp>
      <p:pic>
        <p:nvPicPr>
          <p:cNvPr id="5" name="Image 0" descr="assets/brain_white.png">    </p:cNvPr>
          <p:cNvPicPr>
            <a:picLocks noChangeAspect="1"/>
          </p:cNvPicPr>
          <p:nvPr/>
        </p:nvPicPr>
        <p:blipFill>
          <a:blip r:embed="rId1"/>
          <a:stretch>
            <a:fillRect/>
          </a:stretch>
        </p:blipFill>
        <p:spPr>
          <a:xfrm>
            <a:off x="907999" y="1913839"/>
            <a:ext cx="241402" cy="241402"/>
          </a:xfrm>
          <a:prstGeom prst="rect">
            <a:avLst/>
          </a:prstGeom>
        </p:spPr>
      </p:pic>
      <p:sp>
        <p:nvSpPr>
          <p:cNvPr id="6" name="Text 3"/>
          <p:cNvSpPr txBox="1"/>
          <p:nvPr/>
        </p:nvSpPr>
        <p:spPr>
          <a:xfrm>
            <a:off x="1417320" y="1755648"/>
            <a:ext cx="2514600" cy="50292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Modeling</a:t>
            </a:r>
            <a:endParaRPr lang="en-US" sz="1500" dirty="0"/>
          </a:p>
        </p:txBody>
      </p:sp>
      <p:sp>
        <p:nvSpPr>
          <p:cNvPr id="7" name="Text 4"/>
          <p:cNvSpPr txBox="1"/>
          <p:nvPr/>
        </p:nvSpPr>
        <p:spPr>
          <a:xfrm>
            <a:off x="777240" y="2423160"/>
            <a:ext cx="3108960" cy="1188720"/>
          </a:xfrm>
          <a:prstGeom prst="rect">
            <a:avLst/>
          </a:prstGeom>
          <a:noFill/>
          <a:ln/>
        </p:spPr>
        <p:txBody>
          <a:bodyPr wrap="square" lIns="0" tIns="0" rIns="0" bIns="0" rtlCol="0" anchor="ctr"/>
          <a:lstStyle/>
          <a:p>
            <a:pPr indent="0" marL="0">
              <a:lnSpc>
                <a:spcPct val="120000"/>
              </a:lnSpc>
              <a:buNone/>
            </a:pPr>
            <a:r>
              <a:rPr lang="en-US" sz="1200" dirty="0">
                <a:solidFill>
                  <a:srgbClr val="5C5450"/>
                </a:solidFill>
                <a:latin typeface="Calibri" pitchFamily="34" charset="0"/>
                <a:ea typeface="Calibri" pitchFamily="34" charset="-122"/>
                <a:cs typeface="Calibri" pitchFamily="34" charset="-120"/>
              </a:rPr>
              <a:t>PyTorch  ·  scikit-learn  ·  NumPy / Pandas</a:t>
            </a:r>
            <a:endParaRPr lang="en-US" sz="1200" dirty="0"/>
          </a:p>
        </p:txBody>
      </p:sp>
      <p:sp>
        <p:nvSpPr>
          <p:cNvPr id="8" name="Shape 5"/>
          <p:cNvSpPr/>
          <p:nvPr/>
        </p:nvSpPr>
        <p:spPr>
          <a:xfrm>
            <a:off x="4297680" y="1554480"/>
            <a:ext cx="3566160" cy="2194560"/>
          </a:xfrm>
          <a:prstGeom prst="roundRect">
            <a:avLst>
              <a:gd name="adj" fmla="val 3333"/>
            </a:avLst>
          </a:prstGeom>
          <a:solidFill>
            <a:srgbClr val="EFE9E1"/>
          </a:solidFill>
          <a:ln/>
        </p:spPr>
      </p:sp>
      <p:sp>
        <p:nvSpPr>
          <p:cNvPr id="9" name="Shape 6"/>
          <p:cNvSpPr/>
          <p:nvPr/>
        </p:nvSpPr>
        <p:spPr>
          <a:xfrm>
            <a:off x="4526280" y="1783080"/>
            <a:ext cx="502920" cy="502920"/>
          </a:xfrm>
          <a:prstGeom prst="ellipse">
            <a:avLst/>
          </a:prstGeom>
          <a:solidFill>
            <a:srgbClr val="B85042"/>
          </a:solidFill>
          <a:ln/>
        </p:spPr>
      </p:sp>
      <p:pic>
        <p:nvPicPr>
          <p:cNvPr id="10" name="Image 1" descr="assets/satellite_white.png">    </p:cNvPr>
          <p:cNvPicPr>
            <a:picLocks noChangeAspect="1"/>
          </p:cNvPicPr>
          <p:nvPr/>
        </p:nvPicPr>
        <p:blipFill>
          <a:blip r:embed="rId2"/>
          <a:stretch>
            <a:fillRect/>
          </a:stretch>
        </p:blipFill>
        <p:spPr>
          <a:xfrm>
            <a:off x="4657039" y="1913839"/>
            <a:ext cx="241402" cy="241402"/>
          </a:xfrm>
          <a:prstGeom prst="rect">
            <a:avLst/>
          </a:prstGeom>
        </p:spPr>
      </p:pic>
      <p:sp>
        <p:nvSpPr>
          <p:cNvPr id="11" name="Text 7"/>
          <p:cNvSpPr txBox="1"/>
          <p:nvPr/>
        </p:nvSpPr>
        <p:spPr>
          <a:xfrm>
            <a:off x="5166360" y="1755648"/>
            <a:ext cx="2514600" cy="50292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Geospatial Data</a:t>
            </a:r>
            <a:endParaRPr lang="en-US" sz="1500" dirty="0"/>
          </a:p>
        </p:txBody>
      </p:sp>
      <p:sp>
        <p:nvSpPr>
          <p:cNvPr id="12" name="Text 8"/>
          <p:cNvSpPr txBox="1"/>
          <p:nvPr/>
        </p:nvSpPr>
        <p:spPr>
          <a:xfrm>
            <a:off x="4526280" y="2423160"/>
            <a:ext cx="3108960" cy="1188720"/>
          </a:xfrm>
          <a:prstGeom prst="rect">
            <a:avLst/>
          </a:prstGeom>
          <a:noFill/>
          <a:ln/>
        </p:spPr>
        <p:txBody>
          <a:bodyPr wrap="square" lIns="0" tIns="0" rIns="0" bIns="0" rtlCol="0" anchor="ctr"/>
          <a:lstStyle/>
          <a:p>
            <a:pPr indent="0" marL="0">
              <a:lnSpc>
                <a:spcPct val="120000"/>
              </a:lnSpc>
              <a:buNone/>
            </a:pPr>
            <a:r>
              <a:rPr lang="en-US" sz="1200" dirty="0">
                <a:solidFill>
                  <a:srgbClr val="5C5450"/>
                </a:solidFill>
                <a:latin typeface="Calibri" pitchFamily="34" charset="0"/>
                <a:ea typeface="Calibri" pitchFamily="34" charset="-122"/>
                <a:cs typeface="Calibri" pitchFamily="34" charset="-120"/>
              </a:rPr>
              <a:t>Google Earth Engine  ·  GeoPandas  ·  Sentinel-2, CHIRPS, ERA5-Land APIs</a:t>
            </a:r>
            <a:endParaRPr lang="en-US" sz="1200" dirty="0"/>
          </a:p>
        </p:txBody>
      </p:sp>
      <p:sp>
        <p:nvSpPr>
          <p:cNvPr id="13" name="Shape 9"/>
          <p:cNvSpPr/>
          <p:nvPr/>
        </p:nvSpPr>
        <p:spPr>
          <a:xfrm>
            <a:off x="8046720" y="1554480"/>
            <a:ext cx="3566160" cy="2194560"/>
          </a:xfrm>
          <a:prstGeom prst="roundRect">
            <a:avLst>
              <a:gd name="adj" fmla="val 3333"/>
            </a:avLst>
          </a:prstGeom>
          <a:solidFill>
            <a:srgbClr val="F4F1EC"/>
          </a:solidFill>
          <a:ln/>
        </p:spPr>
      </p:sp>
      <p:sp>
        <p:nvSpPr>
          <p:cNvPr id="14" name="Shape 10"/>
          <p:cNvSpPr/>
          <p:nvPr/>
        </p:nvSpPr>
        <p:spPr>
          <a:xfrm>
            <a:off x="8275320" y="1783080"/>
            <a:ext cx="502920" cy="502920"/>
          </a:xfrm>
          <a:prstGeom prst="ellipse">
            <a:avLst/>
          </a:prstGeom>
          <a:solidFill>
            <a:srgbClr val="B85042"/>
          </a:solidFill>
          <a:ln/>
        </p:spPr>
      </p:sp>
      <p:pic>
        <p:nvPicPr>
          <p:cNvPr id="15" name="Image 2" descr="assets/server_white.png">    </p:cNvPr>
          <p:cNvPicPr>
            <a:picLocks noChangeAspect="1"/>
          </p:cNvPicPr>
          <p:nvPr/>
        </p:nvPicPr>
        <p:blipFill>
          <a:blip r:embed="rId3"/>
          <a:stretch>
            <a:fillRect/>
          </a:stretch>
        </p:blipFill>
        <p:spPr>
          <a:xfrm>
            <a:off x="8406079" y="1913839"/>
            <a:ext cx="241402" cy="241402"/>
          </a:xfrm>
          <a:prstGeom prst="rect">
            <a:avLst/>
          </a:prstGeom>
        </p:spPr>
      </p:pic>
      <p:sp>
        <p:nvSpPr>
          <p:cNvPr id="16" name="Text 11"/>
          <p:cNvSpPr txBox="1"/>
          <p:nvPr/>
        </p:nvSpPr>
        <p:spPr>
          <a:xfrm>
            <a:off x="8915400" y="1755648"/>
            <a:ext cx="2514600" cy="50292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Backend</a:t>
            </a:r>
            <a:endParaRPr lang="en-US" sz="1500" dirty="0"/>
          </a:p>
        </p:txBody>
      </p:sp>
      <p:sp>
        <p:nvSpPr>
          <p:cNvPr id="17" name="Text 12"/>
          <p:cNvSpPr txBox="1"/>
          <p:nvPr/>
        </p:nvSpPr>
        <p:spPr>
          <a:xfrm>
            <a:off x="8275320" y="2423160"/>
            <a:ext cx="3108960" cy="1188720"/>
          </a:xfrm>
          <a:prstGeom prst="rect">
            <a:avLst/>
          </a:prstGeom>
          <a:noFill/>
          <a:ln/>
        </p:spPr>
        <p:txBody>
          <a:bodyPr wrap="square" lIns="0" tIns="0" rIns="0" bIns="0" rtlCol="0" anchor="ctr"/>
          <a:lstStyle/>
          <a:p>
            <a:pPr indent="0" marL="0">
              <a:lnSpc>
                <a:spcPct val="120000"/>
              </a:lnSpc>
              <a:buNone/>
            </a:pPr>
            <a:r>
              <a:rPr lang="en-US" sz="1200" dirty="0">
                <a:solidFill>
                  <a:srgbClr val="5C5450"/>
                </a:solidFill>
                <a:latin typeface="Calibri" pitchFamily="34" charset="0"/>
                <a:ea typeface="Calibri" pitchFamily="34" charset="-122"/>
                <a:cs typeface="Calibri" pitchFamily="34" charset="-120"/>
              </a:rPr>
              <a:t>FastAPI (async Python)  ·  vectorized raster generation</a:t>
            </a:r>
            <a:endParaRPr lang="en-US" sz="1200" dirty="0"/>
          </a:p>
        </p:txBody>
      </p:sp>
      <p:sp>
        <p:nvSpPr>
          <p:cNvPr id="18" name="Shape 13"/>
          <p:cNvSpPr/>
          <p:nvPr/>
        </p:nvSpPr>
        <p:spPr>
          <a:xfrm>
            <a:off x="548640" y="3977640"/>
            <a:ext cx="3566160" cy="2194560"/>
          </a:xfrm>
          <a:prstGeom prst="roundRect">
            <a:avLst>
              <a:gd name="adj" fmla="val 3333"/>
            </a:avLst>
          </a:prstGeom>
          <a:solidFill>
            <a:srgbClr val="EFE9E1"/>
          </a:solidFill>
          <a:ln/>
        </p:spPr>
      </p:sp>
      <p:sp>
        <p:nvSpPr>
          <p:cNvPr id="19" name="Shape 14"/>
          <p:cNvSpPr/>
          <p:nvPr/>
        </p:nvSpPr>
        <p:spPr>
          <a:xfrm>
            <a:off x="777240" y="4206240"/>
            <a:ext cx="502920" cy="502920"/>
          </a:xfrm>
          <a:prstGeom prst="ellipse">
            <a:avLst/>
          </a:prstGeom>
          <a:solidFill>
            <a:srgbClr val="B85042"/>
          </a:solidFill>
          <a:ln/>
        </p:spPr>
      </p:sp>
      <p:pic>
        <p:nvPicPr>
          <p:cNvPr id="20" name="Image 3" descr="assets/code_white.png">    </p:cNvPr>
          <p:cNvPicPr>
            <a:picLocks noChangeAspect="1"/>
          </p:cNvPicPr>
          <p:nvPr/>
        </p:nvPicPr>
        <p:blipFill>
          <a:blip r:embed="rId4"/>
          <a:stretch>
            <a:fillRect/>
          </a:stretch>
        </p:blipFill>
        <p:spPr>
          <a:xfrm>
            <a:off x="907999" y="4336999"/>
            <a:ext cx="241402" cy="241402"/>
          </a:xfrm>
          <a:prstGeom prst="rect">
            <a:avLst/>
          </a:prstGeom>
        </p:spPr>
      </p:pic>
      <p:sp>
        <p:nvSpPr>
          <p:cNvPr id="21" name="Text 15"/>
          <p:cNvSpPr txBox="1"/>
          <p:nvPr/>
        </p:nvSpPr>
        <p:spPr>
          <a:xfrm>
            <a:off x="1417320" y="4178808"/>
            <a:ext cx="2514600" cy="50292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Frontend</a:t>
            </a:r>
            <a:endParaRPr lang="en-US" sz="1500" dirty="0"/>
          </a:p>
        </p:txBody>
      </p:sp>
      <p:sp>
        <p:nvSpPr>
          <p:cNvPr id="22" name="Text 16"/>
          <p:cNvSpPr txBox="1"/>
          <p:nvPr/>
        </p:nvSpPr>
        <p:spPr>
          <a:xfrm>
            <a:off x="777240" y="4846320"/>
            <a:ext cx="3108960" cy="1188720"/>
          </a:xfrm>
          <a:prstGeom prst="rect">
            <a:avLst/>
          </a:prstGeom>
          <a:noFill/>
          <a:ln/>
        </p:spPr>
        <p:txBody>
          <a:bodyPr wrap="square" lIns="0" tIns="0" rIns="0" bIns="0" rtlCol="0" anchor="ctr"/>
          <a:lstStyle/>
          <a:p>
            <a:pPr indent="0" marL="0">
              <a:lnSpc>
                <a:spcPct val="120000"/>
              </a:lnSpc>
              <a:buNone/>
            </a:pPr>
            <a:r>
              <a:rPr lang="en-US" sz="1200" dirty="0">
                <a:solidFill>
                  <a:srgbClr val="5C5450"/>
                </a:solidFill>
                <a:latin typeface="Calibri" pitchFamily="34" charset="0"/>
                <a:ea typeface="Calibri" pitchFamily="34" charset="-122"/>
                <a:cs typeface="Calibri" pitchFamily="34" charset="-120"/>
              </a:rPr>
              <a:t>React + Vite  ·  CesiumJS 3D globe  ·  OpenStreetMap buildings</a:t>
            </a:r>
            <a:endParaRPr lang="en-US" sz="1200" dirty="0"/>
          </a:p>
        </p:txBody>
      </p:sp>
      <p:sp>
        <p:nvSpPr>
          <p:cNvPr id="23" name="Shape 17"/>
          <p:cNvSpPr/>
          <p:nvPr/>
        </p:nvSpPr>
        <p:spPr>
          <a:xfrm>
            <a:off x="4297680" y="3977640"/>
            <a:ext cx="3566160" cy="2194560"/>
          </a:xfrm>
          <a:prstGeom prst="roundRect">
            <a:avLst>
              <a:gd name="adj" fmla="val 3333"/>
            </a:avLst>
          </a:prstGeom>
          <a:solidFill>
            <a:srgbClr val="F4F1EC"/>
          </a:solidFill>
          <a:ln/>
        </p:spPr>
      </p:sp>
      <p:sp>
        <p:nvSpPr>
          <p:cNvPr id="24" name="Shape 18"/>
          <p:cNvSpPr/>
          <p:nvPr/>
        </p:nvSpPr>
        <p:spPr>
          <a:xfrm>
            <a:off x="4526280" y="4206240"/>
            <a:ext cx="502920" cy="502920"/>
          </a:xfrm>
          <a:prstGeom prst="ellipse">
            <a:avLst/>
          </a:prstGeom>
          <a:solidFill>
            <a:srgbClr val="B85042"/>
          </a:solidFill>
          <a:ln/>
        </p:spPr>
      </p:sp>
      <p:pic>
        <p:nvPicPr>
          <p:cNvPr id="25" name="Image 4" descr="assets/database_white.png">    </p:cNvPr>
          <p:cNvPicPr>
            <a:picLocks noChangeAspect="1"/>
          </p:cNvPicPr>
          <p:nvPr/>
        </p:nvPicPr>
        <p:blipFill>
          <a:blip r:embed="rId5"/>
          <a:stretch>
            <a:fillRect/>
          </a:stretch>
        </p:blipFill>
        <p:spPr>
          <a:xfrm>
            <a:off x="4657039" y="4336999"/>
            <a:ext cx="241402" cy="241402"/>
          </a:xfrm>
          <a:prstGeom prst="rect">
            <a:avLst/>
          </a:prstGeom>
        </p:spPr>
      </p:pic>
      <p:sp>
        <p:nvSpPr>
          <p:cNvPr id="26" name="Text 19"/>
          <p:cNvSpPr txBox="1"/>
          <p:nvPr/>
        </p:nvSpPr>
        <p:spPr>
          <a:xfrm>
            <a:off x="5166360" y="4178808"/>
            <a:ext cx="2514600" cy="50292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Data Scale</a:t>
            </a:r>
            <a:endParaRPr lang="en-US" sz="1500" dirty="0"/>
          </a:p>
        </p:txBody>
      </p:sp>
      <p:sp>
        <p:nvSpPr>
          <p:cNvPr id="27" name="Text 20"/>
          <p:cNvSpPr txBox="1"/>
          <p:nvPr/>
        </p:nvSpPr>
        <p:spPr>
          <a:xfrm>
            <a:off x="4526280" y="4846320"/>
            <a:ext cx="3108960" cy="1188720"/>
          </a:xfrm>
          <a:prstGeom prst="rect">
            <a:avLst/>
          </a:prstGeom>
          <a:noFill/>
          <a:ln/>
        </p:spPr>
        <p:txBody>
          <a:bodyPr wrap="square" lIns="0" tIns="0" rIns="0" bIns="0" rtlCol="0" anchor="ctr"/>
          <a:lstStyle/>
          <a:p>
            <a:pPr indent="0" marL="0">
              <a:lnSpc>
                <a:spcPct val="120000"/>
              </a:lnSpc>
              <a:buNone/>
            </a:pPr>
            <a:r>
              <a:rPr lang="en-US" sz="1200" dirty="0">
                <a:solidFill>
                  <a:srgbClr val="5C5450"/>
                </a:solidFill>
                <a:latin typeface="Calibri" pitchFamily="34" charset="0"/>
                <a:ea typeface="Calibri" pitchFamily="34" charset="-122"/>
                <a:cs typeface="Calibri" pitchFamily="34" charset="-120"/>
              </a:rPr>
              <a:t>580,508 slope units  ·  675+ verified historical events</a:t>
            </a:r>
            <a:endParaRPr lang="en-US" sz="1200" dirty="0"/>
          </a:p>
        </p:txBody>
      </p:sp>
      <p:sp>
        <p:nvSpPr>
          <p:cNvPr id="28" name="Shape 21"/>
          <p:cNvSpPr/>
          <p:nvPr/>
        </p:nvSpPr>
        <p:spPr>
          <a:xfrm>
            <a:off x="8046720" y="3977640"/>
            <a:ext cx="3566160" cy="2194560"/>
          </a:xfrm>
          <a:prstGeom prst="roundRect">
            <a:avLst>
              <a:gd name="adj" fmla="val 3333"/>
            </a:avLst>
          </a:prstGeom>
          <a:solidFill>
            <a:srgbClr val="EFE9E1"/>
          </a:solidFill>
          <a:ln/>
        </p:spPr>
      </p:sp>
      <p:sp>
        <p:nvSpPr>
          <p:cNvPr id="29" name="Shape 22"/>
          <p:cNvSpPr/>
          <p:nvPr/>
        </p:nvSpPr>
        <p:spPr>
          <a:xfrm>
            <a:off x="8275320" y="4206240"/>
            <a:ext cx="502920" cy="502920"/>
          </a:xfrm>
          <a:prstGeom prst="ellipse">
            <a:avLst/>
          </a:prstGeom>
          <a:solidFill>
            <a:srgbClr val="B85042"/>
          </a:solidFill>
          <a:ln/>
        </p:spPr>
      </p:sp>
      <p:pic>
        <p:nvPicPr>
          <p:cNvPr id="30" name="Image 5" descr="assets/gauge_white.png">    </p:cNvPr>
          <p:cNvPicPr>
            <a:picLocks noChangeAspect="1"/>
          </p:cNvPicPr>
          <p:nvPr/>
        </p:nvPicPr>
        <p:blipFill>
          <a:blip r:embed="rId6"/>
          <a:stretch>
            <a:fillRect/>
          </a:stretch>
        </p:blipFill>
        <p:spPr>
          <a:xfrm>
            <a:off x="8406079" y="4336999"/>
            <a:ext cx="241402" cy="241402"/>
          </a:xfrm>
          <a:prstGeom prst="rect">
            <a:avLst/>
          </a:prstGeom>
        </p:spPr>
      </p:pic>
      <p:sp>
        <p:nvSpPr>
          <p:cNvPr id="31" name="Text 23"/>
          <p:cNvSpPr txBox="1"/>
          <p:nvPr/>
        </p:nvSpPr>
        <p:spPr>
          <a:xfrm>
            <a:off x="8915400" y="4178808"/>
            <a:ext cx="2514600" cy="50292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Compute</a:t>
            </a:r>
            <a:endParaRPr lang="en-US" sz="1500" dirty="0"/>
          </a:p>
        </p:txBody>
      </p:sp>
      <p:sp>
        <p:nvSpPr>
          <p:cNvPr id="32" name="Text 24"/>
          <p:cNvSpPr txBox="1"/>
          <p:nvPr/>
        </p:nvSpPr>
        <p:spPr>
          <a:xfrm>
            <a:off x="8275320" y="4846320"/>
            <a:ext cx="3108960" cy="1188720"/>
          </a:xfrm>
          <a:prstGeom prst="rect">
            <a:avLst/>
          </a:prstGeom>
          <a:noFill/>
          <a:ln/>
        </p:spPr>
        <p:txBody>
          <a:bodyPr wrap="square" lIns="0" tIns="0" rIns="0" bIns="0" rtlCol="0" anchor="ctr"/>
          <a:lstStyle/>
          <a:p>
            <a:pPr indent="0" marL="0">
              <a:lnSpc>
                <a:spcPct val="120000"/>
              </a:lnSpc>
              <a:buNone/>
            </a:pPr>
            <a:r>
              <a:rPr lang="en-US" sz="1200" dirty="0">
                <a:solidFill>
                  <a:srgbClr val="5C5450"/>
                </a:solidFill>
                <a:latin typeface="Calibri" pitchFamily="34" charset="0"/>
                <a:ea typeface="Calibri" pitchFamily="34" charset="-122"/>
                <a:cs typeface="Calibri" pitchFamily="34" charset="-120"/>
              </a:rPr>
              <a:t>GPU-accelerated training  ·  150-pass Monte Carlo inference</a:t>
            </a:r>
            <a:endParaRPr lang="en-US" sz="1200" dirty="0"/>
          </a:p>
        </p:txBody>
      </p:sp>
      <p:sp>
        <p:nvSpPr>
          <p:cNvPr id="33" name="Text 25"/>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34" name="Text 26"/>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3000" b="1" dirty="0">
                <a:solidFill>
                  <a:srgbClr val="2B2320"/>
                </a:solidFill>
                <a:latin typeface="Cambria" pitchFamily="34" charset="0"/>
                <a:ea typeface="Cambria" pitchFamily="34" charset="-122"/>
                <a:cs typeface="Cambria" pitchFamily="34" charset="-120"/>
              </a:rPr>
              <a:t>What Makes LITHOS Different</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109960" cy="5029200"/>
        </p:xfrm>
        <a:graphic>
          <a:graphicData uri="http://schemas.openxmlformats.org/drawingml/2006/table">
            <a:tbl>
              <a:tblPr/>
              <a:tblGrid>
                <a:gridCol w="2743200"/>
                <a:gridCol w="4114800"/>
                <a:gridCol w="4251960"/>
              </a:tblGrid>
              <a:tr h="838200">
                <a:tc>
                  <a:txBody>
                    <a:bodyPr/>
                    <a:lstStyle/>
                    <a:p>
                      <a:pP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Typical ML Models</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5C545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LITHOS PINN</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B85042"/>
                    </a:solidFill>
                  </a:tcPr>
                </a:tc>
              </a:tr>
              <a:tr h="838200">
                <a:tc>
                  <a:txBody>
                    <a:bodyPr/>
                    <a:lstStyle/>
                    <a:p>
                      <a:pPr indent="0" marL="0">
                        <a:buNone/>
                      </a:pPr>
                      <a:r>
                        <a:rPr lang="en-US" sz="1300" dirty="0">
                          <a:solidFill>
                            <a:srgbClr val="2B2320"/>
                          </a:solidFill>
                          <a:latin typeface="Calibri" pitchFamily="34" charset="0"/>
                          <a:ea typeface="Calibri" pitchFamily="34" charset="-122"/>
                          <a:cs typeface="Calibri" pitchFamily="34" charset="-120"/>
                        </a:rPr>
                        <a:t>Training labels</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300" dirty="0">
                          <a:solidFill>
                            <a:srgbClr val="2B2320"/>
                          </a:solidFill>
                          <a:latin typeface="Calibri" pitchFamily="34" charset="0"/>
                          <a:ea typeface="Calibri" pitchFamily="34" charset="-122"/>
                          <a:cs typeface="Calibri" pitchFamily="34" charset="-120"/>
                        </a:rPr>
                        <a:t>Often synthetic / circular</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300" dirty="0">
                          <a:solidFill>
                            <a:srgbClr val="2B2320"/>
                          </a:solidFill>
                          <a:latin typeface="Calibri" pitchFamily="34" charset="0"/>
                          <a:ea typeface="Calibri" pitchFamily="34" charset="-122"/>
                          <a:cs typeface="Calibri" pitchFamily="34" charset="-120"/>
                        </a:rPr>
                        <a:t>Real historical events (NASA GLC + GSI)</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838200">
                <a:tc>
                  <a:txBody>
                    <a:bodyPr/>
                    <a:lstStyle/>
                    <a:p>
                      <a:pPr indent="0" marL="0">
                        <a:buNone/>
                      </a:pPr>
                      <a:r>
                        <a:rPr lang="en-US" sz="1300" dirty="0">
                          <a:solidFill>
                            <a:srgbClr val="2B2320"/>
                          </a:solidFill>
                          <a:latin typeface="Calibri" pitchFamily="34" charset="0"/>
                          <a:ea typeface="Calibri" pitchFamily="34" charset="-122"/>
                          <a:cs typeface="Calibri" pitchFamily="34" charset="-120"/>
                        </a:rPr>
                        <a:t>Physics awareness</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300" dirty="0">
                          <a:solidFill>
                            <a:srgbClr val="2B2320"/>
                          </a:solidFill>
                          <a:latin typeface="Calibri" pitchFamily="34" charset="0"/>
                          <a:ea typeface="Calibri" pitchFamily="34" charset="-122"/>
                          <a:cs typeface="Calibri" pitchFamily="34" charset="-120"/>
                        </a:rPr>
                        <a:t>None — pure pattern matching</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300" dirty="0">
                          <a:solidFill>
                            <a:srgbClr val="2B2320"/>
                          </a:solidFill>
                          <a:latin typeface="Calibri" pitchFamily="34" charset="0"/>
                          <a:ea typeface="Calibri" pitchFamily="34" charset="-122"/>
                          <a:cs typeface="Calibri" pitchFamily="34" charset="-120"/>
                        </a:rPr>
                        <a:t>Infinite Slope + Newmark mechanics as soft constraints</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838200">
                <a:tc>
                  <a:txBody>
                    <a:bodyPr/>
                    <a:lstStyle/>
                    <a:p>
                      <a:pPr indent="0" marL="0">
                        <a:buNone/>
                      </a:pPr>
                      <a:r>
                        <a:rPr lang="en-US" sz="1300" dirty="0">
                          <a:solidFill>
                            <a:srgbClr val="2B2320"/>
                          </a:solidFill>
                          <a:latin typeface="Calibri" pitchFamily="34" charset="0"/>
                          <a:ea typeface="Calibri" pitchFamily="34" charset="-122"/>
                          <a:cs typeface="Calibri" pitchFamily="34" charset="-120"/>
                        </a:rPr>
                        <a:t>Uncertainty reporting</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300" dirty="0">
                          <a:solidFill>
                            <a:srgbClr val="2B2320"/>
                          </a:solidFill>
                          <a:latin typeface="Calibri" pitchFamily="34" charset="0"/>
                          <a:ea typeface="Calibri" pitchFamily="34" charset="-122"/>
                          <a:cs typeface="Calibri" pitchFamily="34" charset="-120"/>
                        </a:rPr>
                        <a:t>Rarely provided</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300" dirty="0">
                          <a:solidFill>
                            <a:srgbClr val="2B2320"/>
                          </a:solidFill>
                          <a:latin typeface="Calibri" pitchFamily="34" charset="0"/>
                          <a:ea typeface="Calibri" pitchFamily="34" charset="-122"/>
                          <a:cs typeface="Calibri" pitchFamily="34" charset="-120"/>
                        </a:rPr>
                        <a:t>MC Dropout ± confidence bound on every prediction</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838200">
                <a:tc>
                  <a:txBody>
                    <a:bodyPr/>
                    <a:lstStyle/>
                    <a:p>
                      <a:pPr indent="0" marL="0">
                        <a:buNone/>
                      </a:pPr>
                      <a:r>
                        <a:rPr lang="en-US" sz="1300" dirty="0">
                          <a:solidFill>
                            <a:srgbClr val="2B2320"/>
                          </a:solidFill>
                          <a:latin typeface="Calibri" pitchFamily="34" charset="0"/>
                          <a:ea typeface="Calibri" pitchFamily="34" charset="-122"/>
                          <a:cs typeface="Calibri" pitchFamily="34" charset="-120"/>
                        </a:rPr>
                        <a:t>Output type</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300" dirty="0">
                          <a:solidFill>
                            <a:srgbClr val="2B2320"/>
                          </a:solidFill>
                          <a:latin typeface="Calibri" pitchFamily="34" charset="0"/>
                          <a:ea typeface="Calibri" pitchFamily="34" charset="-122"/>
                          <a:cs typeface="Calibri" pitchFamily="34" charset="-120"/>
                        </a:rPr>
                        <a:t>Bare risk score</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300" dirty="0">
                          <a:solidFill>
                            <a:srgbClr val="2B2320"/>
                          </a:solidFill>
                          <a:latin typeface="Calibri" pitchFamily="34" charset="0"/>
                          <a:ea typeface="Calibri" pitchFamily="34" charset="-122"/>
                          <a:cs typeface="Calibri" pitchFamily="34" charset="-120"/>
                        </a:rPr>
                        <a:t>IS 14680-compliant engineering recommendation</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r h="838200">
                <a:tc>
                  <a:txBody>
                    <a:bodyPr/>
                    <a:lstStyle/>
                    <a:p>
                      <a:pPr indent="0" marL="0">
                        <a:buNone/>
                      </a:pPr>
                      <a:r>
                        <a:rPr lang="en-US" sz="1300" dirty="0">
                          <a:solidFill>
                            <a:srgbClr val="2B2320"/>
                          </a:solidFill>
                          <a:latin typeface="Calibri" pitchFamily="34" charset="0"/>
                          <a:ea typeface="Calibri" pitchFamily="34" charset="-122"/>
                          <a:cs typeface="Calibri" pitchFamily="34" charset="-120"/>
                        </a:rPr>
                        <a:t>Deployment</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300" dirty="0">
                          <a:solidFill>
                            <a:srgbClr val="2B2320"/>
                          </a:solidFill>
                          <a:latin typeface="Calibri" pitchFamily="34" charset="0"/>
                          <a:ea typeface="Calibri" pitchFamily="34" charset="-122"/>
                          <a:cs typeface="Calibri" pitchFamily="34" charset="-120"/>
                        </a:rPr>
                        <a:t>Notebook / static report</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300" dirty="0">
                          <a:solidFill>
                            <a:srgbClr val="2B2320"/>
                          </a:solidFill>
                          <a:latin typeface="Calibri" pitchFamily="34" charset="0"/>
                          <a:ea typeface="Calibri" pitchFamily="34" charset="-122"/>
                          <a:cs typeface="Calibri" pitchFamily="34" charset="-120"/>
                        </a:rPr>
                        <a:t>Live 3D digital twin + safe-route navigation</a:t>
                      </a:r>
                      <a:endParaRPr lang="en-US" sz="1300" dirty="0">
                        <a:latin typeface="Calibri" charset="0"/>
                        <a:ea typeface="Calibri" charset="0"/>
                        <a:cs typeface="Calibri" charset="0"/>
                      </a:endParaRPr>
                    </a:p>
                  </a:txBody>
                  <a:tcPr marL="91440" marR="91440" marT="45720" marB="45720" anchor="ctr">
                    <a:lnL w="12700" cap="flat" cmpd="sng" algn="ctr">
                      <a:solidFill>
                        <a:srgbClr val="E2DCD4"/>
                      </a:solidFill>
                      <a:prstDash val="solid"/>
                      <a:round/>
                      <a:headEnd type="none" w="med" len="med"/>
                      <a:tailEnd type="none" w="med" len="med"/>
                    </a:lnL>
                    <a:lnR w="12700" cap="flat" cmpd="sng" algn="ctr">
                      <a:solidFill>
                        <a:srgbClr val="E2DCD4"/>
                      </a:solidFill>
                      <a:prstDash val="solid"/>
                      <a:round/>
                      <a:headEnd type="none" w="med" len="med"/>
                      <a:tailEnd type="none" w="med" len="med"/>
                    </a:lnR>
                    <a:lnT w="12700" cap="flat" cmpd="sng" algn="ctr">
                      <a:solidFill>
                        <a:srgbClr val="E2DCD4"/>
                      </a:solidFill>
                      <a:prstDash val="solid"/>
                      <a:round/>
                      <a:headEnd type="none" w="med" len="med"/>
                      <a:tailEnd type="none" w="med" len="med"/>
                    </a:lnT>
                    <a:lnB w="12700" cap="flat" cmpd="sng" algn="ctr">
                      <a:solidFill>
                        <a:srgbClr val="E2DCD4"/>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5" name="Text 2"/>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3000" b="1" dirty="0">
                <a:solidFill>
                  <a:srgbClr val="2B2320"/>
                </a:solidFill>
                <a:latin typeface="Cambria" pitchFamily="34" charset="0"/>
                <a:ea typeface="Cambria" pitchFamily="34" charset="-122"/>
                <a:cs typeface="Cambria" pitchFamily="34" charset="-120"/>
              </a:rPr>
              <a:t>Challenges Along the Way</a:t>
            </a:r>
            <a:endParaRPr lang="en-US" sz="3000" dirty="0"/>
          </a:p>
        </p:txBody>
      </p:sp>
      <p:sp>
        <p:nvSpPr>
          <p:cNvPr id="3" name="Text 1"/>
          <p:cNvSpPr txBox="1"/>
          <p:nvPr/>
        </p:nvSpPr>
        <p:spPr>
          <a:xfrm>
            <a:off x="548640" y="1051560"/>
            <a:ext cx="10058400" cy="36576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Real engineering problems solved during 11 development phases</a:t>
            </a:r>
            <a:endParaRPr lang="en-US" sz="1300" dirty="0"/>
          </a:p>
        </p:txBody>
      </p:sp>
      <p:sp>
        <p:nvSpPr>
          <p:cNvPr id="4" name="Shape 2"/>
          <p:cNvSpPr/>
          <p:nvPr/>
        </p:nvSpPr>
        <p:spPr>
          <a:xfrm>
            <a:off x="548640" y="1691640"/>
            <a:ext cx="594360" cy="594360"/>
          </a:xfrm>
          <a:prstGeom prst="ellipse">
            <a:avLst/>
          </a:prstGeom>
          <a:solidFill>
            <a:srgbClr val="B85042"/>
          </a:solidFill>
          <a:ln/>
        </p:spPr>
      </p:sp>
      <p:pic>
        <p:nvPicPr>
          <p:cNvPr id="5" name="Image 0" descr="assets/triangleExclamation_white.png">    </p:cNvPr>
          <p:cNvPicPr>
            <a:picLocks noChangeAspect="1"/>
          </p:cNvPicPr>
          <p:nvPr/>
        </p:nvPicPr>
        <p:blipFill>
          <a:blip r:embed="rId1"/>
          <a:stretch>
            <a:fillRect/>
          </a:stretch>
        </p:blipFill>
        <p:spPr>
          <a:xfrm>
            <a:off x="703174" y="1846174"/>
            <a:ext cx="285293" cy="285293"/>
          </a:xfrm>
          <a:prstGeom prst="rect">
            <a:avLst/>
          </a:prstGeom>
        </p:spPr>
      </p:pic>
      <p:sp>
        <p:nvSpPr>
          <p:cNvPr id="6" name="Text 3"/>
          <p:cNvSpPr txBox="1"/>
          <p:nvPr/>
        </p:nvSpPr>
        <p:spPr>
          <a:xfrm>
            <a:off x="1371600" y="1673352"/>
            <a:ext cx="10241280" cy="45720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Circular labels inflating accuracy</a:t>
            </a:r>
            <a:endParaRPr lang="en-US" sz="1450" dirty="0"/>
          </a:p>
        </p:txBody>
      </p:sp>
      <p:sp>
        <p:nvSpPr>
          <p:cNvPr id="7" name="Text 4"/>
          <p:cNvSpPr txBox="1"/>
          <p:nvPr/>
        </p:nvSpPr>
        <p:spPr>
          <a:xfrm>
            <a:off x="1371600" y="2112264"/>
            <a:ext cx="10332720" cy="594360"/>
          </a:xfrm>
          <a:prstGeom prst="rect">
            <a:avLst/>
          </a:prstGeom>
          <a:noFill/>
          <a:ln/>
        </p:spPr>
        <p:txBody>
          <a:bodyPr wrap="square" lIns="0" tIns="0" rIns="0" bIns="0" rtlCol="0" anchor="ctr"/>
          <a:lstStyle/>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Diagnosed the AUC = 1.0 artifact and rebuilt the labeling pipeline around real historical events instead of formula-derived thresholds.</a:t>
            </a:r>
            <a:endParaRPr lang="en-US" sz="1200" dirty="0"/>
          </a:p>
        </p:txBody>
      </p:sp>
      <p:sp>
        <p:nvSpPr>
          <p:cNvPr id="8" name="Shape 5"/>
          <p:cNvSpPr/>
          <p:nvPr/>
        </p:nvSpPr>
        <p:spPr>
          <a:xfrm>
            <a:off x="548640" y="2862072"/>
            <a:ext cx="594360" cy="594360"/>
          </a:xfrm>
          <a:prstGeom prst="ellipse">
            <a:avLst/>
          </a:prstGeom>
          <a:solidFill>
            <a:srgbClr val="B85042"/>
          </a:solidFill>
          <a:ln/>
        </p:spPr>
      </p:sp>
      <p:pic>
        <p:nvPicPr>
          <p:cNvPr id="9" name="Image 1" descr="assets/gauge_white.png">    </p:cNvPr>
          <p:cNvPicPr>
            <a:picLocks noChangeAspect="1"/>
          </p:cNvPicPr>
          <p:nvPr/>
        </p:nvPicPr>
        <p:blipFill>
          <a:blip r:embed="rId2"/>
          <a:stretch>
            <a:fillRect/>
          </a:stretch>
        </p:blipFill>
        <p:spPr>
          <a:xfrm>
            <a:off x="703174" y="3016606"/>
            <a:ext cx="285293" cy="285293"/>
          </a:xfrm>
          <a:prstGeom prst="rect">
            <a:avLst/>
          </a:prstGeom>
        </p:spPr>
      </p:pic>
      <p:sp>
        <p:nvSpPr>
          <p:cNvPr id="10" name="Text 6"/>
          <p:cNvSpPr txBox="1"/>
          <p:nvPr/>
        </p:nvSpPr>
        <p:spPr>
          <a:xfrm>
            <a:off x="1371600" y="2843784"/>
            <a:ext cx="10241280" cy="45720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580K units × multiple satellite APIs = huge compute cost</a:t>
            </a:r>
            <a:endParaRPr lang="en-US" sz="1450" dirty="0"/>
          </a:p>
        </p:txBody>
      </p:sp>
      <p:sp>
        <p:nvSpPr>
          <p:cNvPr id="11" name="Text 7"/>
          <p:cNvSpPr txBox="1"/>
          <p:nvPr/>
        </p:nvSpPr>
        <p:spPr>
          <a:xfrm>
            <a:off x="1371600" y="3282696"/>
            <a:ext cx="10332720" cy="594360"/>
          </a:xfrm>
          <a:prstGeom prst="rect">
            <a:avLst/>
          </a:prstGeom>
          <a:noFill/>
          <a:ln/>
        </p:spPr>
        <p:txBody>
          <a:bodyPr wrap="square" lIns="0" tIns="0" rIns="0" bIns="0" rtlCol="0" anchor="ctr"/>
          <a:lstStyle/>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Built a coordinate-deduplication strategy — rounding to shared grid cells cut Google Earth Engine API calls by roughly 1000×, turning hours of querying into minutes.</a:t>
            </a:r>
            <a:endParaRPr lang="en-US" sz="1200" dirty="0"/>
          </a:p>
        </p:txBody>
      </p:sp>
      <p:sp>
        <p:nvSpPr>
          <p:cNvPr id="12" name="Shape 8"/>
          <p:cNvSpPr/>
          <p:nvPr/>
        </p:nvSpPr>
        <p:spPr>
          <a:xfrm>
            <a:off x="548640" y="4032504"/>
            <a:ext cx="594360" cy="594360"/>
          </a:xfrm>
          <a:prstGeom prst="ellipse">
            <a:avLst/>
          </a:prstGeom>
          <a:solidFill>
            <a:srgbClr val="B85042"/>
          </a:solidFill>
          <a:ln/>
        </p:spPr>
      </p:sp>
      <p:pic>
        <p:nvPicPr>
          <p:cNvPr id="13" name="Image 2" descr="assets/database_white.png">    </p:cNvPr>
          <p:cNvPicPr>
            <a:picLocks noChangeAspect="1"/>
          </p:cNvPicPr>
          <p:nvPr/>
        </p:nvPicPr>
        <p:blipFill>
          <a:blip r:embed="rId3"/>
          <a:stretch>
            <a:fillRect/>
          </a:stretch>
        </p:blipFill>
        <p:spPr>
          <a:xfrm>
            <a:off x="703174" y="4187038"/>
            <a:ext cx="285293" cy="285293"/>
          </a:xfrm>
          <a:prstGeom prst="rect">
            <a:avLst/>
          </a:prstGeom>
        </p:spPr>
      </p:pic>
      <p:sp>
        <p:nvSpPr>
          <p:cNvPr id="14" name="Text 9"/>
          <p:cNvSpPr txBox="1"/>
          <p:nvPr/>
        </p:nvSpPr>
        <p:spPr>
          <a:xfrm>
            <a:off x="1371600" y="4014216"/>
            <a:ext cx="10241280" cy="45720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Crash-prone data loading</a:t>
            </a:r>
            <a:endParaRPr lang="en-US" sz="1450" dirty="0"/>
          </a:p>
        </p:txBody>
      </p:sp>
      <p:sp>
        <p:nvSpPr>
          <p:cNvPr id="15" name="Text 10"/>
          <p:cNvSpPr txBox="1"/>
          <p:nvPr/>
        </p:nvSpPr>
        <p:spPr>
          <a:xfrm>
            <a:off x="1371600" y="4453128"/>
            <a:ext cx="10332720" cy="594360"/>
          </a:xfrm>
          <a:prstGeom prst="rect">
            <a:avLst/>
          </a:prstGeom>
          <a:noFill/>
          <a:ln/>
        </p:spPr>
        <p:txBody>
          <a:bodyPr wrap="square" lIns="0" tIns="0" rIns="0" bIns="0" rtlCol="0" anchor="ctr"/>
          <a:lstStyle/>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Added Drive-backed CSV checkpoints and memory-safe geometry-free reads so a Colab crash never means starting from zero.</a:t>
            </a:r>
            <a:endParaRPr lang="en-US" sz="1200" dirty="0"/>
          </a:p>
        </p:txBody>
      </p:sp>
      <p:sp>
        <p:nvSpPr>
          <p:cNvPr id="16" name="Shape 11"/>
          <p:cNvSpPr/>
          <p:nvPr/>
        </p:nvSpPr>
        <p:spPr>
          <a:xfrm>
            <a:off x="548640" y="5202936"/>
            <a:ext cx="594360" cy="594360"/>
          </a:xfrm>
          <a:prstGeom prst="ellipse">
            <a:avLst/>
          </a:prstGeom>
          <a:solidFill>
            <a:srgbClr val="B85042"/>
          </a:solidFill>
          <a:ln/>
        </p:spPr>
      </p:sp>
      <p:pic>
        <p:nvPicPr>
          <p:cNvPr id="17" name="Image 3" descr="assets/brain_white.png">    </p:cNvPr>
          <p:cNvPicPr>
            <a:picLocks noChangeAspect="1"/>
          </p:cNvPicPr>
          <p:nvPr/>
        </p:nvPicPr>
        <p:blipFill>
          <a:blip r:embed="rId4"/>
          <a:stretch>
            <a:fillRect/>
          </a:stretch>
        </p:blipFill>
        <p:spPr>
          <a:xfrm>
            <a:off x="703174" y="5357470"/>
            <a:ext cx="285293" cy="285293"/>
          </a:xfrm>
          <a:prstGeom prst="rect">
            <a:avLst/>
          </a:prstGeom>
        </p:spPr>
      </p:pic>
      <p:sp>
        <p:nvSpPr>
          <p:cNvPr id="18" name="Text 12"/>
          <p:cNvSpPr txBox="1"/>
          <p:nvPr/>
        </p:nvSpPr>
        <p:spPr>
          <a:xfrm>
            <a:off x="1371600" y="5184648"/>
            <a:ext cx="10241280" cy="45720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Physics and data loss pulling in different directions</a:t>
            </a:r>
            <a:endParaRPr lang="en-US" sz="1450" dirty="0"/>
          </a:p>
        </p:txBody>
      </p:sp>
      <p:sp>
        <p:nvSpPr>
          <p:cNvPr id="19" name="Text 13"/>
          <p:cNvSpPr txBox="1"/>
          <p:nvPr/>
        </p:nvSpPr>
        <p:spPr>
          <a:xfrm>
            <a:off x="1371600" y="5623560"/>
            <a:ext cx="10332720" cy="594360"/>
          </a:xfrm>
          <a:prstGeom prst="rect">
            <a:avLst/>
          </a:prstGeom>
          <a:noFill/>
          <a:ln/>
        </p:spPr>
        <p:txBody>
          <a:bodyPr wrap="square" lIns="0" tIns="0" rIns="0" bIns="0" rtlCol="0" anchor="ctr"/>
          <a:lstStyle/>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Introduced the adaptive λ(t) warmup schedule so the physics penalty phases in only after the network has learned basic patterns from data.</a:t>
            </a:r>
            <a:endParaRPr lang="en-US" sz="1200" dirty="0"/>
          </a:p>
        </p:txBody>
      </p:sp>
      <p:sp>
        <p:nvSpPr>
          <p:cNvPr id="20" name="Text 14"/>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21" name="Text 15"/>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B2320"/>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Real-World Impact</a:t>
            </a:r>
            <a:endParaRPr lang="en-US" sz="3200" dirty="0"/>
          </a:p>
        </p:txBody>
      </p:sp>
      <p:sp>
        <p:nvSpPr>
          <p:cNvPr id="3" name="Shape 1"/>
          <p:cNvSpPr/>
          <p:nvPr/>
        </p:nvSpPr>
        <p:spPr>
          <a:xfrm>
            <a:off x="548640" y="1737360"/>
            <a:ext cx="2606040" cy="2103120"/>
          </a:xfrm>
          <a:prstGeom prst="roundRect">
            <a:avLst>
              <a:gd name="adj" fmla="val 3478"/>
            </a:avLst>
          </a:prstGeom>
          <a:solidFill>
            <a:srgbClr val="3A2F2A"/>
          </a:solidFill>
          <a:ln/>
        </p:spPr>
      </p:sp>
      <p:sp>
        <p:nvSpPr>
          <p:cNvPr id="4" name="Text 2"/>
          <p:cNvSpPr txBox="1"/>
          <p:nvPr/>
        </p:nvSpPr>
        <p:spPr>
          <a:xfrm>
            <a:off x="685800" y="1965960"/>
            <a:ext cx="2331720" cy="822960"/>
          </a:xfrm>
          <a:prstGeom prst="rect">
            <a:avLst/>
          </a:prstGeom>
          <a:noFill/>
          <a:ln/>
        </p:spPr>
        <p:txBody>
          <a:bodyPr wrap="square" lIns="0" tIns="0" rIns="0" bIns="0" rtlCol="0" anchor="ctr"/>
          <a:lstStyle/>
          <a:p>
            <a:pPr algn="ctr" indent="0" marL="0">
              <a:buNone/>
            </a:pPr>
            <a:r>
              <a:rPr lang="en-US" sz="3400" b="1" dirty="0">
                <a:solidFill>
                  <a:srgbClr val="B85042"/>
                </a:solidFill>
                <a:latin typeface="Cambria" pitchFamily="34" charset="0"/>
                <a:ea typeface="Cambria" pitchFamily="34" charset="-122"/>
                <a:cs typeface="Cambria" pitchFamily="34" charset="-120"/>
              </a:rPr>
              <a:t>580,508</a:t>
            </a:r>
            <a:endParaRPr lang="en-US" sz="3400" dirty="0"/>
          </a:p>
        </p:txBody>
      </p:sp>
      <p:sp>
        <p:nvSpPr>
          <p:cNvPr id="5" name="Text 3"/>
          <p:cNvSpPr txBox="1"/>
          <p:nvPr/>
        </p:nvSpPr>
        <p:spPr>
          <a:xfrm>
            <a:off x="731520" y="2834640"/>
            <a:ext cx="2240280" cy="914400"/>
          </a:xfrm>
          <a:prstGeom prst="rect">
            <a:avLst/>
          </a:prstGeom>
          <a:noFill/>
          <a:ln/>
        </p:spPr>
        <p:txBody>
          <a:bodyPr wrap="square" lIns="0" tIns="0" rIns="0" bIns="0" rtlCol="0" anchor="ctr"/>
          <a:lstStyle/>
          <a:p>
            <a:pPr algn="ctr" indent="0" marL="0">
              <a:lnSpc>
                <a:spcPct val="120000"/>
              </a:lnSpc>
              <a:buNone/>
            </a:pPr>
            <a:r>
              <a:rPr lang="en-US" sz="1250" dirty="0">
                <a:solidFill>
                  <a:srgbClr val="D8CFC9"/>
                </a:solidFill>
                <a:latin typeface="Calibri" pitchFamily="34" charset="0"/>
                <a:ea typeface="Calibri" pitchFamily="34" charset="-122"/>
                <a:cs typeface="Calibri" pitchFamily="34" charset="-120"/>
              </a:rPr>
              <a:t>slope units continuously monitored</a:t>
            </a:r>
            <a:endParaRPr lang="en-US" sz="1250" dirty="0"/>
          </a:p>
        </p:txBody>
      </p:sp>
      <p:sp>
        <p:nvSpPr>
          <p:cNvPr id="6" name="Shape 4"/>
          <p:cNvSpPr/>
          <p:nvPr/>
        </p:nvSpPr>
        <p:spPr>
          <a:xfrm>
            <a:off x="3383280" y="1737360"/>
            <a:ext cx="2606040" cy="2103120"/>
          </a:xfrm>
          <a:prstGeom prst="roundRect">
            <a:avLst>
              <a:gd name="adj" fmla="val 3478"/>
            </a:avLst>
          </a:prstGeom>
          <a:solidFill>
            <a:srgbClr val="3A2F2A"/>
          </a:solidFill>
          <a:ln/>
        </p:spPr>
      </p:sp>
      <p:sp>
        <p:nvSpPr>
          <p:cNvPr id="7" name="Text 5"/>
          <p:cNvSpPr txBox="1"/>
          <p:nvPr/>
        </p:nvSpPr>
        <p:spPr>
          <a:xfrm>
            <a:off x="3520440" y="1965960"/>
            <a:ext cx="2331720" cy="822960"/>
          </a:xfrm>
          <a:prstGeom prst="rect">
            <a:avLst/>
          </a:prstGeom>
          <a:noFill/>
          <a:ln/>
        </p:spPr>
        <p:txBody>
          <a:bodyPr wrap="square" lIns="0" tIns="0" rIns="0" bIns="0" rtlCol="0" anchor="ctr"/>
          <a:lstStyle/>
          <a:p>
            <a:pPr algn="ctr" indent="0" marL="0">
              <a:buNone/>
            </a:pPr>
            <a:r>
              <a:rPr lang="en-US" sz="3400" b="1" dirty="0">
                <a:solidFill>
                  <a:srgbClr val="B85042"/>
                </a:solidFill>
                <a:latin typeface="Cambria" pitchFamily="34" charset="0"/>
                <a:ea typeface="Cambria" pitchFamily="34" charset="-122"/>
                <a:cs typeface="Cambria" pitchFamily="34" charset="-120"/>
              </a:rPr>
              <a:t>0.8755</a:t>
            </a:r>
            <a:endParaRPr lang="en-US" sz="3400" dirty="0"/>
          </a:p>
        </p:txBody>
      </p:sp>
      <p:sp>
        <p:nvSpPr>
          <p:cNvPr id="8" name="Text 6"/>
          <p:cNvSpPr txBox="1"/>
          <p:nvPr/>
        </p:nvSpPr>
        <p:spPr>
          <a:xfrm>
            <a:off x="3566160" y="2834640"/>
            <a:ext cx="2240280" cy="914400"/>
          </a:xfrm>
          <a:prstGeom prst="rect">
            <a:avLst/>
          </a:prstGeom>
          <a:noFill/>
          <a:ln/>
        </p:spPr>
        <p:txBody>
          <a:bodyPr wrap="square" lIns="0" tIns="0" rIns="0" bIns="0" rtlCol="0" anchor="ctr"/>
          <a:lstStyle/>
          <a:p>
            <a:pPr algn="ctr" indent="0" marL="0">
              <a:lnSpc>
                <a:spcPct val="120000"/>
              </a:lnSpc>
              <a:buNone/>
            </a:pPr>
            <a:r>
              <a:rPr lang="en-US" sz="1250" dirty="0">
                <a:solidFill>
                  <a:srgbClr val="D8CFC9"/>
                </a:solidFill>
                <a:latin typeface="Calibri" pitchFamily="34" charset="0"/>
                <a:ea typeface="Calibri" pitchFamily="34" charset="-122"/>
                <a:cs typeface="Calibri" pitchFamily="34" charset="-120"/>
              </a:rPr>
              <a:t>ensemble F1-score on production test split</a:t>
            </a:r>
            <a:endParaRPr lang="en-US" sz="1250" dirty="0"/>
          </a:p>
        </p:txBody>
      </p:sp>
      <p:sp>
        <p:nvSpPr>
          <p:cNvPr id="9" name="Shape 7"/>
          <p:cNvSpPr/>
          <p:nvPr/>
        </p:nvSpPr>
        <p:spPr>
          <a:xfrm>
            <a:off x="6217920" y="1737360"/>
            <a:ext cx="2606040" cy="2103120"/>
          </a:xfrm>
          <a:prstGeom prst="roundRect">
            <a:avLst>
              <a:gd name="adj" fmla="val 3478"/>
            </a:avLst>
          </a:prstGeom>
          <a:solidFill>
            <a:srgbClr val="3A2F2A"/>
          </a:solidFill>
          <a:ln/>
        </p:spPr>
      </p:sp>
      <p:sp>
        <p:nvSpPr>
          <p:cNvPr id="10" name="Text 8"/>
          <p:cNvSpPr txBox="1"/>
          <p:nvPr/>
        </p:nvSpPr>
        <p:spPr>
          <a:xfrm>
            <a:off x="6355080" y="1965960"/>
            <a:ext cx="2331720" cy="822960"/>
          </a:xfrm>
          <a:prstGeom prst="rect">
            <a:avLst/>
          </a:prstGeom>
          <a:noFill/>
          <a:ln/>
        </p:spPr>
        <p:txBody>
          <a:bodyPr wrap="square" lIns="0" tIns="0" rIns="0" bIns="0" rtlCol="0" anchor="ctr"/>
          <a:lstStyle/>
          <a:p>
            <a:pPr algn="ctr" indent="0" marL="0">
              <a:buNone/>
            </a:pPr>
            <a:r>
              <a:rPr lang="en-US" sz="3400" b="1" dirty="0">
                <a:solidFill>
                  <a:srgbClr val="B85042"/>
                </a:solidFill>
                <a:latin typeface="Cambria" pitchFamily="34" charset="0"/>
                <a:ea typeface="Cambria" pitchFamily="34" charset="-122"/>
                <a:cs typeface="Cambria" pitchFamily="34" charset="-120"/>
              </a:rPr>
              <a:t>8</a:t>
            </a:r>
            <a:endParaRPr lang="en-US" sz="3400" dirty="0"/>
          </a:p>
        </p:txBody>
      </p:sp>
      <p:sp>
        <p:nvSpPr>
          <p:cNvPr id="11" name="Text 9"/>
          <p:cNvSpPr txBox="1"/>
          <p:nvPr/>
        </p:nvSpPr>
        <p:spPr>
          <a:xfrm>
            <a:off x="6400800" y="2834640"/>
            <a:ext cx="2240280" cy="914400"/>
          </a:xfrm>
          <a:prstGeom prst="rect">
            <a:avLst/>
          </a:prstGeom>
          <a:noFill/>
          <a:ln/>
        </p:spPr>
        <p:txBody>
          <a:bodyPr wrap="square" lIns="0" tIns="0" rIns="0" bIns="0" rtlCol="0" anchor="ctr"/>
          <a:lstStyle/>
          <a:p>
            <a:pPr algn="ctr" indent="0" marL="0">
              <a:lnSpc>
                <a:spcPct val="120000"/>
              </a:lnSpc>
              <a:buNone/>
            </a:pPr>
            <a:r>
              <a:rPr lang="en-US" sz="1250" dirty="0">
                <a:solidFill>
                  <a:srgbClr val="D8CFC9"/>
                </a:solidFill>
                <a:latin typeface="Calibri" pitchFamily="34" charset="0"/>
                <a:ea typeface="Calibri" pitchFamily="34" charset="-122"/>
                <a:cs typeface="Calibri" pitchFamily="34" charset="-120"/>
              </a:rPr>
              <a:t>NE Indian states covered end-to-end</a:t>
            </a:r>
            <a:endParaRPr lang="en-US" sz="1250" dirty="0"/>
          </a:p>
        </p:txBody>
      </p:sp>
      <p:sp>
        <p:nvSpPr>
          <p:cNvPr id="12" name="Shape 10"/>
          <p:cNvSpPr/>
          <p:nvPr/>
        </p:nvSpPr>
        <p:spPr>
          <a:xfrm>
            <a:off x="9052560" y="1737360"/>
            <a:ext cx="2606040" cy="2103120"/>
          </a:xfrm>
          <a:prstGeom prst="roundRect">
            <a:avLst>
              <a:gd name="adj" fmla="val 3478"/>
            </a:avLst>
          </a:prstGeom>
          <a:solidFill>
            <a:srgbClr val="3A2F2A"/>
          </a:solidFill>
          <a:ln/>
        </p:spPr>
      </p:sp>
      <p:sp>
        <p:nvSpPr>
          <p:cNvPr id="13" name="Text 11"/>
          <p:cNvSpPr txBox="1"/>
          <p:nvPr/>
        </p:nvSpPr>
        <p:spPr>
          <a:xfrm>
            <a:off x="9189720" y="1965960"/>
            <a:ext cx="2331720" cy="822960"/>
          </a:xfrm>
          <a:prstGeom prst="rect">
            <a:avLst/>
          </a:prstGeom>
          <a:noFill/>
          <a:ln/>
        </p:spPr>
        <p:txBody>
          <a:bodyPr wrap="square" lIns="0" tIns="0" rIns="0" bIns="0" rtlCol="0" anchor="ctr"/>
          <a:lstStyle/>
          <a:p>
            <a:pPr algn="ctr" indent="0" marL="0">
              <a:buNone/>
            </a:pPr>
            <a:r>
              <a:rPr lang="en-US" sz="3400" b="1" dirty="0">
                <a:solidFill>
                  <a:srgbClr val="B85042"/>
                </a:solidFill>
                <a:latin typeface="Cambria" pitchFamily="34" charset="0"/>
                <a:ea typeface="Cambria" pitchFamily="34" charset="-122"/>
                <a:cs typeface="Cambria" pitchFamily="34" charset="-120"/>
              </a:rPr>
              <a:t>100%</a:t>
            </a:r>
            <a:endParaRPr lang="en-US" sz="3400" dirty="0"/>
          </a:p>
        </p:txBody>
      </p:sp>
      <p:sp>
        <p:nvSpPr>
          <p:cNvPr id="14" name="Text 12"/>
          <p:cNvSpPr txBox="1"/>
          <p:nvPr/>
        </p:nvSpPr>
        <p:spPr>
          <a:xfrm>
            <a:off x="9235440" y="2834640"/>
            <a:ext cx="2240280" cy="914400"/>
          </a:xfrm>
          <a:prstGeom prst="rect">
            <a:avLst/>
          </a:prstGeom>
          <a:noFill/>
          <a:ln/>
        </p:spPr>
        <p:txBody>
          <a:bodyPr wrap="square" lIns="0" tIns="0" rIns="0" bIns="0" rtlCol="0" anchor="ctr"/>
          <a:lstStyle/>
          <a:p>
            <a:pPr algn="ctr" indent="0" marL="0">
              <a:lnSpc>
                <a:spcPct val="120000"/>
              </a:lnSpc>
              <a:buNone/>
            </a:pPr>
            <a:r>
              <a:rPr lang="en-US" sz="1250" dirty="0">
                <a:solidFill>
                  <a:srgbClr val="D8CFC9"/>
                </a:solidFill>
                <a:latin typeface="Calibri" pitchFamily="34" charset="0"/>
                <a:ea typeface="Calibri" pitchFamily="34" charset="-122"/>
                <a:cs typeface="Calibri" pitchFamily="34" charset="-120"/>
              </a:rPr>
              <a:t>real satellite &amp; reanalysis data — zero synthetic inputs</a:t>
            </a:r>
            <a:endParaRPr lang="en-US" sz="1250" dirty="0"/>
          </a:p>
        </p:txBody>
      </p:sp>
      <p:sp>
        <p:nvSpPr>
          <p:cNvPr id="15" name="Shape 13"/>
          <p:cNvSpPr/>
          <p:nvPr/>
        </p:nvSpPr>
        <p:spPr>
          <a:xfrm>
            <a:off x="548640" y="4206240"/>
            <a:ext cx="11109960" cy="1920240"/>
          </a:xfrm>
          <a:prstGeom prst="roundRect">
            <a:avLst>
              <a:gd name="adj" fmla="val 3810"/>
            </a:avLst>
          </a:prstGeom>
          <a:solidFill>
            <a:srgbClr val="3A2F2A"/>
          </a:solidFill>
          <a:ln/>
        </p:spPr>
      </p:sp>
      <p:sp>
        <p:nvSpPr>
          <p:cNvPr id="16" name="Text 14"/>
          <p:cNvSpPr txBox="1"/>
          <p:nvPr/>
        </p:nvSpPr>
        <p:spPr>
          <a:xfrm>
            <a:off x="822960" y="4389120"/>
            <a:ext cx="457200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Beyond the numbers</a:t>
            </a:r>
            <a:endParaRPr lang="en-US" sz="1500" dirty="0"/>
          </a:p>
        </p:txBody>
      </p:sp>
      <p:sp>
        <p:nvSpPr>
          <p:cNvPr id="17" name="Text 15"/>
          <p:cNvSpPr txBox="1"/>
          <p:nvPr/>
        </p:nvSpPr>
        <p:spPr>
          <a:xfrm>
            <a:off x="822960" y="4800600"/>
            <a:ext cx="10424160" cy="1188720"/>
          </a:xfrm>
          <a:prstGeom prst="rect">
            <a:avLst/>
          </a:prstGeom>
          <a:noFill/>
          <a:ln/>
        </p:spPr>
        <p:txBody>
          <a:bodyPr wrap="square" lIns="0" tIns="0" rIns="0" bIns="0" rtlCol="0" anchor="ctr"/>
          <a:lstStyle/>
          <a:p>
            <a:pPr indent="0" marL="0">
              <a:lnSpc>
                <a:spcPct val="125000"/>
              </a:lnSpc>
              <a:buNone/>
            </a:pPr>
            <a:r>
              <a:rPr lang="en-US" sz="1350" dirty="0">
                <a:solidFill>
                  <a:srgbClr val="D8CFC9"/>
                </a:solidFill>
                <a:latin typeface="Calibri" pitchFamily="34" charset="0"/>
                <a:ea typeface="Calibri" pitchFamily="34" charset="-122"/>
                <a:cs typeface="Calibri" pitchFamily="34" charset="-120"/>
              </a:rPr>
              <a:t>LITHOS gives disaster-management authorities (NDMA, GSI, BRO) a defensible, physics-grounded tool that goes beyond a risk map — it names the failure mode, cites the applicable Indian Standard, and points field teams to exactly where they should look next.</a:t>
            </a:r>
            <a:endParaRPr lang="en-US" sz="1350" dirty="0"/>
          </a:p>
        </p:txBody>
      </p:sp>
      <p:sp>
        <p:nvSpPr>
          <p:cNvPr id="18" name="Text 16"/>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C9BEB8"/>
                </a:solidFill>
                <a:latin typeface="Calibri" pitchFamily="34" charset="0"/>
                <a:ea typeface="Calibri" pitchFamily="34" charset="-122"/>
                <a:cs typeface="Calibri" pitchFamily="34" charset="-120"/>
              </a:rPr>
              <a:t>LITHOS — Smart India Hackathon 2026</a:t>
            </a:r>
            <a:endParaRPr lang="en-US" sz="1000" dirty="0"/>
          </a:p>
        </p:txBody>
      </p:sp>
      <p:sp>
        <p:nvSpPr>
          <p:cNvPr id="19" name="Text 17"/>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C9BEB8"/>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3000" b="1" dirty="0">
                <a:solidFill>
                  <a:srgbClr val="2B2320"/>
                </a:solidFill>
                <a:latin typeface="Cambria" pitchFamily="34" charset="0"/>
                <a:ea typeface="Cambria" pitchFamily="34" charset="-122"/>
                <a:cs typeface="Cambria" pitchFamily="34" charset="-120"/>
              </a:rPr>
              <a:t>Where LITHOS Goes Next</a:t>
            </a:r>
            <a:endParaRPr lang="en-US" sz="3000" dirty="0"/>
          </a:p>
        </p:txBody>
      </p:sp>
      <p:sp>
        <p:nvSpPr>
          <p:cNvPr id="3" name="Shape 1"/>
          <p:cNvSpPr/>
          <p:nvPr/>
        </p:nvSpPr>
        <p:spPr>
          <a:xfrm>
            <a:off x="548640" y="1554480"/>
            <a:ext cx="594360" cy="594360"/>
          </a:xfrm>
          <a:prstGeom prst="ellipse">
            <a:avLst/>
          </a:prstGeom>
          <a:solidFill>
            <a:srgbClr val="B85042"/>
          </a:solidFill>
          <a:ln/>
        </p:spPr>
      </p:sp>
      <p:pic>
        <p:nvPicPr>
          <p:cNvPr id="4" name="Image 0" descr="assets/seedling_white.png">    </p:cNvPr>
          <p:cNvPicPr>
            <a:picLocks noChangeAspect="1"/>
          </p:cNvPicPr>
          <p:nvPr/>
        </p:nvPicPr>
        <p:blipFill>
          <a:blip r:embed="rId1"/>
          <a:stretch>
            <a:fillRect/>
          </a:stretch>
        </p:blipFill>
        <p:spPr>
          <a:xfrm>
            <a:off x="703174" y="1709014"/>
            <a:ext cx="285293" cy="285293"/>
          </a:xfrm>
          <a:prstGeom prst="rect">
            <a:avLst/>
          </a:prstGeom>
        </p:spPr>
      </p:pic>
      <p:sp>
        <p:nvSpPr>
          <p:cNvPr id="5" name="Text 2"/>
          <p:cNvSpPr txBox="1"/>
          <p:nvPr/>
        </p:nvSpPr>
        <p:spPr>
          <a:xfrm>
            <a:off x="1371600" y="1536192"/>
            <a:ext cx="10241280" cy="41148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More ground truth</a:t>
            </a:r>
            <a:endParaRPr lang="en-US" sz="1500" dirty="0"/>
          </a:p>
        </p:txBody>
      </p:sp>
      <p:sp>
        <p:nvSpPr>
          <p:cNvPr id="6" name="Text 3"/>
          <p:cNvSpPr txBox="1"/>
          <p:nvPr/>
        </p:nvSpPr>
        <p:spPr>
          <a:xfrm>
            <a:off x="1371600" y="1956816"/>
            <a:ext cx="10332720" cy="594360"/>
          </a:xfrm>
          <a:prstGeom prst="rect">
            <a:avLst/>
          </a:prstGeom>
          <a:noFill/>
          <a:ln/>
        </p:spPr>
        <p:txBody>
          <a:bodyPr wrap="square" lIns="0" tIns="0" rIns="0" bIns="0" rtlCol="0" anchor="ctr"/>
          <a:lstStyle/>
          <a:p>
            <a:pPr indent="0" marL="0">
              <a:lnSpc>
                <a:spcPct val="115000"/>
              </a:lnSpc>
              <a:buNone/>
            </a:pPr>
            <a:r>
              <a:rPr lang="en-US" sz="1250" dirty="0">
                <a:solidFill>
                  <a:srgbClr val="5C5450"/>
                </a:solidFill>
                <a:latin typeface="Calibri" pitchFamily="34" charset="0"/>
                <a:ea typeface="Calibri" pitchFamily="34" charset="-122"/>
                <a:cs typeface="Calibri" pitchFamily="34" charset="-120"/>
              </a:rPr>
              <a:t>Expand the historical event catalog with state disaster-management department records to sharpen the rare-class signal further.</a:t>
            </a:r>
            <a:endParaRPr lang="en-US" sz="1250" dirty="0"/>
          </a:p>
        </p:txBody>
      </p:sp>
      <p:sp>
        <p:nvSpPr>
          <p:cNvPr id="7" name="Shape 4"/>
          <p:cNvSpPr/>
          <p:nvPr/>
        </p:nvSpPr>
        <p:spPr>
          <a:xfrm>
            <a:off x="548640" y="2724912"/>
            <a:ext cx="594360" cy="594360"/>
          </a:xfrm>
          <a:prstGeom prst="ellipse">
            <a:avLst/>
          </a:prstGeom>
          <a:solidFill>
            <a:srgbClr val="4A5D5E"/>
          </a:solidFill>
          <a:ln/>
        </p:spPr>
      </p:sp>
      <p:pic>
        <p:nvPicPr>
          <p:cNvPr id="8" name="Image 1" descr="assets/wave_white.png">    </p:cNvPr>
          <p:cNvPicPr>
            <a:picLocks noChangeAspect="1"/>
          </p:cNvPicPr>
          <p:nvPr/>
        </p:nvPicPr>
        <p:blipFill>
          <a:blip r:embed="rId2"/>
          <a:stretch>
            <a:fillRect/>
          </a:stretch>
        </p:blipFill>
        <p:spPr>
          <a:xfrm>
            <a:off x="703174" y="2879446"/>
            <a:ext cx="285293" cy="285293"/>
          </a:xfrm>
          <a:prstGeom prst="rect">
            <a:avLst/>
          </a:prstGeom>
        </p:spPr>
      </p:pic>
      <p:sp>
        <p:nvSpPr>
          <p:cNvPr id="9" name="Text 5"/>
          <p:cNvSpPr txBox="1"/>
          <p:nvPr/>
        </p:nvSpPr>
        <p:spPr>
          <a:xfrm>
            <a:off x="1371600" y="2706624"/>
            <a:ext cx="10241280" cy="41148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Real-time triggering</a:t>
            </a:r>
            <a:endParaRPr lang="en-US" sz="1500" dirty="0"/>
          </a:p>
        </p:txBody>
      </p:sp>
      <p:sp>
        <p:nvSpPr>
          <p:cNvPr id="10" name="Text 6"/>
          <p:cNvSpPr txBox="1"/>
          <p:nvPr/>
        </p:nvSpPr>
        <p:spPr>
          <a:xfrm>
            <a:off x="1371600" y="3127248"/>
            <a:ext cx="10332720" cy="594360"/>
          </a:xfrm>
          <a:prstGeom prst="rect">
            <a:avLst/>
          </a:prstGeom>
          <a:noFill/>
          <a:ln/>
        </p:spPr>
        <p:txBody>
          <a:bodyPr wrap="square" lIns="0" tIns="0" rIns="0" bIns="0" rtlCol="0" anchor="ctr"/>
          <a:lstStyle/>
          <a:p>
            <a:pPr indent="0" marL="0">
              <a:lnSpc>
                <a:spcPct val="115000"/>
              </a:lnSpc>
              <a:buNone/>
            </a:pPr>
            <a:r>
              <a:rPr lang="en-US" sz="1250" dirty="0">
                <a:solidFill>
                  <a:srgbClr val="5C5450"/>
                </a:solidFill>
                <a:latin typeface="Calibri" pitchFamily="34" charset="0"/>
                <a:ea typeface="Calibri" pitchFamily="34" charset="-122"/>
                <a:cs typeface="Calibri" pitchFamily="34" charset="-120"/>
              </a:rPr>
              <a:t>Move from climatological rainfall to live monsoon nowcasts, enabling short-term (24-72h) dynamic risk alerts, not just static susceptibility.</a:t>
            </a:r>
            <a:endParaRPr lang="en-US" sz="1250" dirty="0"/>
          </a:p>
        </p:txBody>
      </p:sp>
      <p:sp>
        <p:nvSpPr>
          <p:cNvPr id="11" name="Shape 7"/>
          <p:cNvSpPr/>
          <p:nvPr/>
        </p:nvSpPr>
        <p:spPr>
          <a:xfrm>
            <a:off x="548640" y="3895344"/>
            <a:ext cx="594360" cy="594360"/>
          </a:xfrm>
          <a:prstGeom prst="ellipse">
            <a:avLst/>
          </a:prstGeom>
          <a:solidFill>
            <a:srgbClr val="B85042"/>
          </a:solidFill>
          <a:ln/>
        </p:spPr>
      </p:sp>
      <p:pic>
        <p:nvPicPr>
          <p:cNvPr id="12" name="Image 2" descr="assets/users_white.png">    </p:cNvPr>
          <p:cNvPicPr>
            <a:picLocks noChangeAspect="1"/>
          </p:cNvPicPr>
          <p:nvPr/>
        </p:nvPicPr>
        <p:blipFill>
          <a:blip r:embed="rId3"/>
          <a:stretch>
            <a:fillRect/>
          </a:stretch>
        </p:blipFill>
        <p:spPr>
          <a:xfrm>
            <a:off x="703174" y="4049878"/>
            <a:ext cx="285293" cy="285293"/>
          </a:xfrm>
          <a:prstGeom prst="rect">
            <a:avLst/>
          </a:prstGeom>
        </p:spPr>
      </p:pic>
      <p:sp>
        <p:nvSpPr>
          <p:cNvPr id="13" name="Text 8"/>
          <p:cNvSpPr txBox="1"/>
          <p:nvPr/>
        </p:nvSpPr>
        <p:spPr>
          <a:xfrm>
            <a:off x="1371600" y="3877056"/>
            <a:ext cx="10241280" cy="41148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Field pilot with a state authority</a:t>
            </a:r>
            <a:endParaRPr lang="en-US" sz="1500" dirty="0"/>
          </a:p>
        </p:txBody>
      </p:sp>
      <p:sp>
        <p:nvSpPr>
          <p:cNvPr id="14" name="Text 9"/>
          <p:cNvSpPr txBox="1"/>
          <p:nvPr/>
        </p:nvSpPr>
        <p:spPr>
          <a:xfrm>
            <a:off x="1371600" y="4297680"/>
            <a:ext cx="10332720" cy="594360"/>
          </a:xfrm>
          <a:prstGeom prst="rect">
            <a:avLst/>
          </a:prstGeom>
          <a:noFill/>
          <a:ln/>
        </p:spPr>
        <p:txBody>
          <a:bodyPr wrap="square" lIns="0" tIns="0" rIns="0" bIns="0" rtlCol="0" anchor="ctr"/>
          <a:lstStyle/>
          <a:p>
            <a:pPr indent="0" marL="0">
              <a:lnSpc>
                <a:spcPct val="115000"/>
              </a:lnSpc>
              <a:buNone/>
            </a:pPr>
            <a:r>
              <a:rPr lang="en-US" sz="1250" dirty="0">
                <a:solidFill>
                  <a:srgbClr val="5C5450"/>
                </a:solidFill>
                <a:latin typeface="Calibri" pitchFamily="34" charset="0"/>
                <a:ea typeface="Calibri" pitchFamily="34" charset="-122"/>
                <a:cs typeface="Calibri" pitchFamily="34" charset="-120"/>
              </a:rPr>
              <a:t>Deploy the priority-survey workflow with one state disaster management authority to validate top sites against real drone/borehole surveys.</a:t>
            </a:r>
            <a:endParaRPr lang="en-US" sz="1250" dirty="0"/>
          </a:p>
        </p:txBody>
      </p:sp>
      <p:sp>
        <p:nvSpPr>
          <p:cNvPr id="15" name="Shape 10"/>
          <p:cNvSpPr/>
          <p:nvPr/>
        </p:nvSpPr>
        <p:spPr>
          <a:xfrm>
            <a:off x="548640" y="5065776"/>
            <a:ext cx="594360" cy="594360"/>
          </a:xfrm>
          <a:prstGeom prst="ellipse">
            <a:avLst/>
          </a:prstGeom>
          <a:solidFill>
            <a:srgbClr val="4A5D5E"/>
          </a:solidFill>
          <a:ln/>
        </p:spPr>
      </p:sp>
      <p:pic>
        <p:nvPicPr>
          <p:cNvPr id="16" name="Image 3" descr="assets/flag_white.png">    </p:cNvPr>
          <p:cNvPicPr>
            <a:picLocks noChangeAspect="1"/>
          </p:cNvPicPr>
          <p:nvPr/>
        </p:nvPicPr>
        <p:blipFill>
          <a:blip r:embed="rId4"/>
          <a:stretch>
            <a:fillRect/>
          </a:stretch>
        </p:blipFill>
        <p:spPr>
          <a:xfrm>
            <a:off x="703174" y="5220310"/>
            <a:ext cx="285293" cy="285293"/>
          </a:xfrm>
          <a:prstGeom prst="rect">
            <a:avLst/>
          </a:prstGeom>
        </p:spPr>
      </p:pic>
      <p:sp>
        <p:nvSpPr>
          <p:cNvPr id="17" name="Text 11"/>
          <p:cNvSpPr txBox="1"/>
          <p:nvPr/>
        </p:nvSpPr>
        <p:spPr>
          <a:xfrm>
            <a:off x="1371600" y="5047488"/>
            <a:ext cx="10241280" cy="41148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National scale-up</a:t>
            </a:r>
            <a:endParaRPr lang="en-US" sz="1500" dirty="0"/>
          </a:p>
        </p:txBody>
      </p:sp>
      <p:sp>
        <p:nvSpPr>
          <p:cNvPr id="18" name="Text 12"/>
          <p:cNvSpPr txBox="1"/>
          <p:nvPr/>
        </p:nvSpPr>
        <p:spPr>
          <a:xfrm>
            <a:off x="1371600" y="5468112"/>
            <a:ext cx="10332720" cy="594360"/>
          </a:xfrm>
          <a:prstGeom prst="rect">
            <a:avLst/>
          </a:prstGeom>
          <a:noFill/>
          <a:ln/>
        </p:spPr>
        <p:txBody>
          <a:bodyPr wrap="square" lIns="0" tIns="0" rIns="0" bIns="0" rtlCol="0" anchor="ctr"/>
          <a:lstStyle/>
          <a:p>
            <a:pPr indent="0" marL="0">
              <a:lnSpc>
                <a:spcPct val="115000"/>
              </a:lnSpc>
              <a:buNone/>
            </a:pPr>
            <a:r>
              <a:rPr lang="en-US" sz="1250" dirty="0">
                <a:solidFill>
                  <a:srgbClr val="5C5450"/>
                </a:solidFill>
                <a:latin typeface="Calibri" pitchFamily="34" charset="0"/>
                <a:ea typeface="Calibri" pitchFamily="34" charset="-122"/>
                <a:cs typeface="Calibri" pitchFamily="34" charset="-120"/>
              </a:rPr>
              <a:t>Extend the same slope-unit + PINN framework beyond the Northeast to the Western Ghats and Himalayan belt.</a:t>
            </a:r>
            <a:endParaRPr lang="en-US" sz="1250" dirty="0"/>
          </a:p>
        </p:txBody>
      </p:sp>
      <p:sp>
        <p:nvSpPr>
          <p:cNvPr id="19" name="Text 13"/>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20" name="Text 14"/>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B2320"/>
        </a:solidFill>
      </p:bgPr>
    </p:bg>
    <p:spTree>
      <p:nvGrpSpPr>
        <p:cNvPr id="1" name=""/>
        <p:cNvGrpSpPr/>
        <p:nvPr/>
      </p:nvGrpSpPr>
      <p:grpSpPr>
        <a:xfrm>
          <a:off x="0" y="0"/>
          <a:ext cx="0" cy="0"/>
          <a:chOff x="0" y="0"/>
          <a:chExt cx="0" cy="0"/>
        </a:xfrm>
      </p:grpSpPr>
      <p:sp>
        <p:nvSpPr>
          <p:cNvPr id="2" name="Shape 0"/>
          <p:cNvSpPr/>
          <p:nvPr/>
        </p:nvSpPr>
        <p:spPr>
          <a:xfrm>
            <a:off x="822960" y="822960"/>
            <a:ext cx="777240" cy="777240"/>
          </a:xfrm>
          <a:prstGeom prst="ellipse">
            <a:avLst/>
          </a:prstGeom>
          <a:solidFill>
            <a:srgbClr val="B85042"/>
          </a:solidFill>
          <a:ln/>
        </p:spPr>
      </p:sp>
      <p:pic>
        <p:nvPicPr>
          <p:cNvPr id="3" name="Image 0" descr="assets/mountain_white.png">    </p:cNvPr>
          <p:cNvPicPr>
            <a:picLocks noChangeAspect="1"/>
          </p:cNvPicPr>
          <p:nvPr/>
        </p:nvPicPr>
        <p:blipFill>
          <a:blip r:embed="rId1"/>
          <a:stretch>
            <a:fillRect/>
          </a:stretch>
        </p:blipFill>
        <p:spPr>
          <a:xfrm>
            <a:off x="1025042" y="1025042"/>
            <a:ext cx="373075" cy="373075"/>
          </a:xfrm>
          <a:prstGeom prst="rect">
            <a:avLst/>
          </a:prstGeom>
        </p:spPr>
      </p:pic>
      <p:sp>
        <p:nvSpPr>
          <p:cNvPr id="4" name="Text 1"/>
          <p:cNvSpPr txBox="1"/>
          <p:nvPr/>
        </p:nvSpPr>
        <p:spPr>
          <a:xfrm>
            <a:off x="1828800" y="91440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5" name="Text 2"/>
          <p:cNvSpPr txBox="1"/>
          <p:nvPr/>
        </p:nvSpPr>
        <p:spPr>
          <a:xfrm>
            <a:off x="822960" y="1965960"/>
            <a:ext cx="10424160" cy="822960"/>
          </a:xfrm>
          <a:prstGeom prst="rect">
            <a:avLst/>
          </a:prstGeom>
          <a:noFill/>
          <a:ln/>
        </p:spPr>
        <p:txBody>
          <a:bodyPr wrap="square" lIns="0" tIns="0" rIns="0" bIns="0" rtlCol="0" anchor="ctr"/>
          <a:lstStyle/>
          <a:p>
            <a:pPr indent="0" marL="0">
              <a:lnSpc>
                <a:spcPct val="130000"/>
              </a:lnSpc>
              <a:buNone/>
            </a:pPr>
            <a:r>
              <a:rPr lang="en-US" sz="1700" b="1" dirty="0">
                <a:solidFill>
                  <a:srgbClr val="FFFFFF"/>
                </a:solidFill>
                <a:latin typeface="Calibri" pitchFamily="34" charset="0"/>
                <a:ea typeface="Calibri" pitchFamily="34" charset="-122"/>
                <a:cs typeface="Calibri" pitchFamily="34" charset="-120"/>
              </a:rPr>
              <a:t>LITHOS proves that physics-informed machine learning is a practical, defensible middle ground</a:t>
            </a:r>
            <a:endParaRPr lang="en-US" sz="1700" dirty="0"/>
          </a:p>
          <a:p>
            <a:pPr indent="0" marL="0">
              <a:lnSpc>
                <a:spcPct val="130000"/>
              </a:lnSpc>
              <a:buNone/>
            </a:pPr>
            <a:r>
              <a:rPr lang="en-US" sz="1700" dirty="0">
                <a:solidFill>
                  <a:srgbClr val="A7BEAE"/>
                </a:solidFill>
                <a:latin typeface="Calibri" pitchFamily="34" charset="0"/>
                <a:ea typeface="Calibri" pitchFamily="34" charset="-122"/>
                <a:cs typeface="Calibri" pitchFamily="34" charset="-120"/>
              </a:rPr>
              <a:t>between pure empirical data-fitting and rigid limit-equilibrium calculations.</a:t>
            </a:r>
            <a:endParaRPr lang="en-US" sz="1700" dirty="0"/>
          </a:p>
        </p:txBody>
      </p:sp>
      <p:sp>
        <p:nvSpPr>
          <p:cNvPr id="6" name="Shape 3"/>
          <p:cNvSpPr/>
          <p:nvPr/>
        </p:nvSpPr>
        <p:spPr>
          <a:xfrm>
            <a:off x="822960" y="3108960"/>
            <a:ext cx="502920" cy="502920"/>
          </a:xfrm>
          <a:prstGeom prst="ellipse">
            <a:avLst/>
          </a:prstGeom>
          <a:solidFill>
            <a:srgbClr val="B85042"/>
          </a:solidFill>
          <a:ln/>
        </p:spPr>
      </p:sp>
      <p:pic>
        <p:nvPicPr>
          <p:cNvPr id="7" name="Image 1" descr="assets/checkCircle_white.png">    </p:cNvPr>
          <p:cNvPicPr>
            <a:picLocks noChangeAspect="1"/>
          </p:cNvPicPr>
          <p:nvPr/>
        </p:nvPicPr>
        <p:blipFill>
          <a:blip r:embed="rId2"/>
          <a:stretch>
            <a:fillRect/>
          </a:stretch>
        </p:blipFill>
        <p:spPr>
          <a:xfrm>
            <a:off x="953719" y="3239719"/>
            <a:ext cx="241402" cy="241402"/>
          </a:xfrm>
          <a:prstGeom prst="rect">
            <a:avLst/>
          </a:prstGeom>
        </p:spPr>
      </p:pic>
      <p:sp>
        <p:nvSpPr>
          <p:cNvPr id="8" name="Text 4"/>
          <p:cNvSpPr txBox="1"/>
          <p:nvPr/>
        </p:nvSpPr>
        <p:spPr>
          <a:xfrm>
            <a:off x="1508760" y="3127248"/>
            <a:ext cx="9692640" cy="4572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Scientific validity: 0.9862 ensemble ROC-AUC, 0.8788 mean spatial LOSO AUC, real ground truth</a:t>
            </a:r>
            <a:endParaRPr lang="en-US" sz="1450" dirty="0"/>
          </a:p>
        </p:txBody>
      </p:sp>
      <p:sp>
        <p:nvSpPr>
          <p:cNvPr id="9" name="Shape 5"/>
          <p:cNvSpPr/>
          <p:nvPr/>
        </p:nvSpPr>
        <p:spPr>
          <a:xfrm>
            <a:off x="822960" y="3886200"/>
            <a:ext cx="502920" cy="502920"/>
          </a:xfrm>
          <a:prstGeom prst="ellipse">
            <a:avLst/>
          </a:prstGeom>
          <a:solidFill>
            <a:srgbClr val="B85042"/>
          </a:solidFill>
          <a:ln/>
        </p:spPr>
      </p:sp>
      <p:pic>
        <p:nvPicPr>
          <p:cNvPr id="10" name="Image 2" descr="assets/shieldHalved_white.png">    </p:cNvPr>
          <p:cNvPicPr>
            <a:picLocks noChangeAspect="1"/>
          </p:cNvPicPr>
          <p:nvPr/>
        </p:nvPicPr>
        <p:blipFill>
          <a:blip r:embed="rId3"/>
          <a:stretch>
            <a:fillRect/>
          </a:stretch>
        </p:blipFill>
        <p:spPr>
          <a:xfrm>
            <a:off x="953719" y="4016959"/>
            <a:ext cx="241402" cy="241402"/>
          </a:xfrm>
          <a:prstGeom prst="rect">
            <a:avLst/>
          </a:prstGeom>
        </p:spPr>
      </p:pic>
      <p:sp>
        <p:nvSpPr>
          <p:cNvPr id="11" name="Text 6"/>
          <p:cNvSpPr txBox="1"/>
          <p:nvPr/>
        </p:nvSpPr>
        <p:spPr>
          <a:xfrm>
            <a:off x="1508760" y="3904488"/>
            <a:ext cx="9692640" cy="4572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Standards compliance: IS 14680:1999 and IS 1892 fully integrated</a:t>
            </a:r>
            <a:endParaRPr lang="en-US" sz="1450" dirty="0"/>
          </a:p>
        </p:txBody>
      </p:sp>
      <p:sp>
        <p:nvSpPr>
          <p:cNvPr id="12" name="Shape 7"/>
          <p:cNvSpPr/>
          <p:nvPr/>
        </p:nvSpPr>
        <p:spPr>
          <a:xfrm>
            <a:off x="822960" y="4663440"/>
            <a:ext cx="502920" cy="502920"/>
          </a:xfrm>
          <a:prstGeom prst="ellipse">
            <a:avLst/>
          </a:prstGeom>
          <a:solidFill>
            <a:srgbClr val="B85042"/>
          </a:solidFill>
          <a:ln/>
        </p:spPr>
      </p:sp>
      <p:pic>
        <p:nvPicPr>
          <p:cNvPr id="13" name="Image 3" descr="assets/globe_white.png">    </p:cNvPr>
          <p:cNvPicPr>
            <a:picLocks noChangeAspect="1"/>
          </p:cNvPicPr>
          <p:nvPr/>
        </p:nvPicPr>
        <p:blipFill>
          <a:blip r:embed="rId4"/>
          <a:stretch>
            <a:fillRect/>
          </a:stretch>
        </p:blipFill>
        <p:spPr>
          <a:xfrm>
            <a:off x="953719" y="4794199"/>
            <a:ext cx="241402" cy="241402"/>
          </a:xfrm>
          <a:prstGeom prst="rect">
            <a:avLst/>
          </a:prstGeom>
        </p:spPr>
      </p:pic>
      <p:sp>
        <p:nvSpPr>
          <p:cNvPr id="14" name="Text 8"/>
          <p:cNvSpPr txBox="1"/>
          <p:nvPr/>
        </p:nvSpPr>
        <p:spPr>
          <a:xfrm>
            <a:off x="1508760" y="4681728"/>
            <a:ext cx="9692640" cy="4572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Operational readiness: a live 3D platform with GPS tracking and evacuation routing</a:t>
            </a:r>
            <a:endParaRPr lang="en-US" sz="1450" dirty="0"/>
          </a:p>
        </p:txBody>
      </p:sp>
      <p:sp>
        <p:nvSpPr>
          <p:cNvPr id="15" name="Shape 9"/>
          <p:cNvSpPr/>
          <p:nvPr/>
        </p:nvSpPr>
        <p:spPr>
          <a:xfrm>
            <a:off x="822960" y="5623560"/>
            <a:ext cx="10424160" cy="0"/>
          </a:xfrm>
          <a:prstGeom prst="line">
            <a:avLst/>
          </a:prstGeom>
          <a:noFill/>
          <a:ln w="9525">
            <a:solidFill>
              <a:srgbClr val="A7BEAE"/>
            </a:solidFill>
            <a:prstDash val="solid"/>
          </a:ln>
        </p:spPr>
      </p:sp>
      <p:sp>
        <p:nvSpPr>
          <p:cNvPr id="16" name="Text 10"/>
          <p:cNvSpPr txBox="1"/>
          <p:nvPr/>
        </p:nvSpPr>
        <p:spPr>
          <a:xfrm>
            <a:off x="822960" y="5852160"/>
            <a:ext cx="7315200" cy="54864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Thank you  —  Questions welcome</a:t>
            </a:r>
            <a:endParaRPr lang="en-US" sz="2000" dirty="0"/>
          </a:p>
        </p:txBody>
      </p:sp>
      <p:sp>
        <p:nvSpPr>
          <p:cNvPr id="17" name="Text 11"/>
          <p:cNvSpPr txBox="1"/>
          <p:nvPr/>
        </p:nvSpPr>
        <p:spPr>
          <a:xfrm>
            <a:off x="822960" y="6355080"/>
            <a:ext cx="9144000" cy="365760"/>
          </a:xfrm>
          <a:prstGeom prst="rect">
            <a:avLst/>
          </a:prstGeom>
          <a:noFill/>
          <a:ln/>
        </p:spPr>
        <p:txBody>
          <a:bodyPr wrap="square" lIns="0" tIns="0" rIns="0" bIns="0" rtlCol="0" anchor="ctr"/>
          <a:lstStyle/>
          <a:p>
            <a:pPr indent="0" marL="0">
              <a:buNone/>
            </a:pPr>
            <a:r>
              <a:rPr lang="en-US" sz="1200" dirty="0">
                <a:solidFill>
                  <a:srgbClr val="C9BEB8"/>
                </a:solidFill>
                <a:latin typeface="Calibri" pitchFamily="34" charset="0"/>
                <a:ea typeface="Calibri" pitchFamily="34" charset="-122"/>
                <a:cs typeface="Calibri" pitchFamily="34" charset="-120"/>
              </a:rPr>
              <a:t>Sougata  |  Civil Engineering, Guru Ghasidas Vishwavidyalaya  |  SIH 2026</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3000" b="1" dirty="0">
                <a:solidFill>
                  <a:srgbClr val="2B2320"/>
                </a:solidFill>
                <a:latin typeface="Cambria" pitchFamily="34" charset="0"/>
                <a:ea typeface="Cambria" pitchFamily="34" charset="-122"/>
                <a:cs typeface="Cambria" pitchFamily="34" charset="-120"/>
              </a:rPr>
              <a:t>Jargon, Decoded — Part 1</a:t>
            </a:r>
            <a:endParaRPr lang="en-US" sz="3000" dirty="0"/>
          </a:p>
        </p:txBody>
      </p:sp>
      <p:sp>
        <p:nvSpPr>
          <p:cNvPr id="3" name="Text 1"/>
          <p:cNvSpPr txBox="1"/>
          <p:nvPr/>
        </p:nvSpPr>
        <p:spPr>
          <a:xfrm>
            <a:off x="548640" y="1051560"/>
            <a:ext cx="10058400" cy="36576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Plain-English meanings for the model terms used on the last few slides</a:t>
            </a:r>
            <a:endParaRPr lang="en-US" sz="1300" dirty="0"/>
          </a:p>
        </p:txBody>
      </p:sp>
      <p:sp>
        <p:nvSpPr>
          <p:cNvPr id="4" name="Shape 2"/>
          <p:cNvSpPr/>
          <p:nvPr/>
        </p:nvSpPr>
        <p:spPr>
          <a:xfrm>
            <a:off x="548640" y="1691640"/>
            <a:ext cx="594360" cy="594360"/>
          </a:xfrm>
          <a:prstGeom prst="ellipse">
            <a:avLst/>
          </a:prstGeom>
          <a:solidFill>
            <a:srgbClr val="B85042"/>
          </a:solidFill>
          <a:ln/>
        </p:spPr>
      </p:sp>
      <p:pic>
        <p:nvPicPr>
          <p:cNvPr id="5" name="Image 0" descr="assets/triangleExclamation_white.png">    </p:cNvPr>
          <p:cNvPicPr>
            <a:picLocks noChangeAspect="1"/>
          </p:cNvPicPr>
          <p:nvPr/>
        </p:nvPicPr>
        <p:blipFill>
          <a:blip r:embed="rId1"/>
          <a:stretch>
            <a:fillRect/>
          </a:stretch>
        </p:blipFill>
        <p:spPr>
          <a:xfrm>
            <a:off x="703174" y="1846174"/>
            <a:ext cx="285293" cy="285293"/>
          </a:xfrm>
          <a:prstGeom prst="rect">
            <a:avLst/>
          </a:prstGeom>
        </p:spPr>
      </p:pic>
      <p:sp>
        <p:nvSpPr>
          <p:cNvPr id="6" name="Text 3"/>
          <p:cNvSpPr txBox="1"/>
          <p:nvPr/>
        </p:nvSpPr>
        <p:spPr>
          <a:xfrm>
            <a:off x="1371600" y="1673352"/>
            <a:ext cx="10241280" cy="45720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PINN — Physics-Informed Neural Network</a:t>
            </a:r>
            <a:endParaRPr lang="en-US" sz="1450" dirty="0"/>
          </a:p>
        </p:txBody>
      </p:sp>
      <p:sp>
        <p:nvSpPr>
          <p:cNvPr id="7" name="Text 4"/>
          <p:cNvSpPr txBox="1"/>
          <p:nvPr/>
        </p:nvSpPr>
        <p:spPr>
          <a:xfrm>
            <a:off x="1371600" y="2112264"/>
            <a:ext cx="10332720" cy="594360"/>
          </a:xfrm>
          <a:prstGeom prst="rect">
            <a:avLst/>
          </a:prstGeom>
          <a:noFill/>
          <a:ln/>
        </p:spPr>
        <p:txBody>
          <a:bodyPr wrap="square" lIns="0" tIns="0" rIns="0" bIns="0" rtlCol="0" anchor="ctr"/>
          <a:lstStyle/>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A neural network trained on real data AND the laws of geomechanics at the same time. It is penalized not only for a wrong answer, but for an answer that breaks physics — e.g. calling a slope “safe” when its Factor of Safety says otherwise.</a:t>
            </a:r>
            <a:endParaRPr lang="en-US" sz="1200" dirty="0"/>
          </a:p>
        </p:txBody>
      </p:sp>
      <p:sp>
        <p:nvSpPr>
          <p:cNvPr id="8" name="Shape 5"/>
          <p:cNvSpPr/>
          <p:nvPr/>
        </p:nvSpPr>
        <p:spPr>
          <a:xfrm>
            <a:off x="548640" y="2862072"/>
            <a:ext cx="594360" cy="594360"/>
          </a:xfrm>
          <a:prstGeom prst="ellipse">
            <a:avLst/>
          </a:prstGeom>
          <a:solidFill>
            <a:srgbClr val="B85042"/>
          </a:solidFill>
          <a:ln/>
        </p:spPr>
      </p:sp>
      <p:pic>
        <p:nvPicPr>
          <p:cNvPr id="9" name="Image 1" descr="assets/gauge_white.png">    </p:cNvPr>
          <p:cNvPicPr>
            <a:picLocks noChangeAspect="1"/>
          </p:cNvPicPr>
          <p:nvPr/>
        </p:nvPicPr>
        <p:blipFill>
          <a:blip r:embed="rId2"/>
          <a:stretch>
            <a:fillRect/>
          </a:stretch>
        </p:blipFill>
        <p:spPr>
          <a:xfrm>
            <a:off x="703174" y="3016606"/>
            <a:ext cx="285293" cy="285293"/>
          </a:xfrm>
          <a:prstGeom prst="rect">
            <a:avLst/>
          </a:prstGeom>
        </p:spPr>
      </p:pic>
      <p:sp>
        <p:nvSpPr>
          <p:cNvPr id="10" name="Text 6"/>
          <p:cNvSpPr txBox="1"/>
          <p:nvPr/>
        </p:nvSpPr>
        <p:spPr>
          <a:xfrm>
            <a:off x="1371600" y="2843784"/>
            <a:ext cx="10241280" cy="45720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Backbone</a:t>
            </a:r>
            <a:endParaRPr lang="en-US" sz="1450" dirty="0"/>
          </a:p>
        </p:txBody>
      </p:sp>
      <p:sp>
        <p:nvSpPr>
          <p:cNvPr id="11" name="Text 7"/>
          <p:cNvSpPr txBox="1"/>
          <p:nvPr/>
        </p:nvSpPr>
        <p:spPr>
          <a:xfrm>
            <a:off x="1371600" y="3282696"/>
            <a:ext cx="10332720" cy="594360"/>
          </a:xfrm>
          <a:prstGeom prst="rect">
            <a:avLst/>
          </a:prstGeom>
          <a:noFill/>
          <a:ln/>
        </p:spPr>
        <p:txBody>
          <a:bodyPr wrap="square" lIns="0" tIns="0" rIns="0" bIns="0" rtlCol="0" anchor="ctr"/>
          <a:lstStyle/>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The core repeating block that does the network’s heavy lifting: turning the 9 input features into learned patterns before a final layer converts that into a risk score. LITHOS’s backbone is built from ResNet blocks (next term).</a:t>
            </a:r>
            <a:endParaRPr lang="en-US" sz="1200" dirty="0"/>
          </a:p>
        </p:txBody>
      </p:sp>
      <p:sp>
        <p:nvSpPr>
          <p:cNvPr id="12" name="Shape 8"/>
          <p:cNvSpPr/>
          <p:nvPr/>
        </p:nvSpPr>
        <p:spPr>
          <a:xfrm>
            <a:off x="548640" y="4032504"/>
            <a:ext cx="594360" cy="594360"/>
          </a:xfrm>
          <a:prstGeom prst="ellipse">
            <a:avLst/>
          </a:prstGeom>
          <a:solidFill>
            <a:srgbClr val="B85042"/>
          </a:solidFill>
          <a:ln/>
        </p:spPr>
      </p:sp>
      <p:pic>
        <p:nvPicPr>
          <p:cNvPr id="13" name="Image 2" descr="assets/database_white.png">    </p:cNvPr>
          <p:cNvPicPr>
            <a:picLocks noChangeAspect="1"/>
          </p:cNvPicPr>
          <p:nvPr/>
        </p:nvPicPr>
        <p:blipFill>
          <a:blip r:embed="rId3"/>
          <a:stretch>
            <a:fillRect/>
          </a:stretch>
        </p:blipFill>
        <p:spPr>
          <a:xfrm>
            <a:off x="703174" y="4187038"/>
            <a:ext cx="285293" cy="285293"/>
          </a:xfrm>
          <a:prstGeom prst="rect">
            <a:avLst/>
          </a:prstGeom>
        </p:spPr>
      </p:pic>
      <p:sp>
        <p:nvSpPr>
          <p:cNvPr id="14" name="Text 9"/>
          <p:cNvSpPr txBox="1"/>
          <p:nvPr/>
        </p:nvSpPr>
        <p:spPr>
          <a:xfrm>
            <a:off x="1371600" y="4014216"/>
            <a:ext cx="10241280" cy="45720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ResNet Block &amp; Skip Connection</a:t>
            </a:r>
            <a:endParaRPr lang="en-US" sz="1450" dirty="0"/>
          </a:p>
        </p:txBody>
      </p:sp>
      <p:sp>
        <p:nvSpPr>
          <p:cNvPr id="15" name="Text 10"/>
          <p:cNvSpPr txBox="1"/>
          <p:nvPr/>
        </p:nvSpPr>
        <p:spPr>
          <a:xfrm>
            <a:off x="1371600" y="4453128"/>
            <a:ext cx="10332720" cy="594360"/>
          </a:xfrm>
          <a:prstGeom prst="rect">
            <a:avLst/>
          </a:prstGeom>
          <a:noFill/>
          <a:ln/>
        </p:spPr>
        <p:txBody>
          <a:bodyPr wrap="square" lIns="0" tIns="0" rIns="0" bIns="0" rtlCol="0" anchor="ctr"/>
          <a:lstStyle/>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A “skip connection” lets a block’s input jump forward and add directly to its output, bypassing the layers in between. This keeps useful signal from fading as the network goes deeper, so training stays stable.</a:t>
            </a:r>
            <a:endParaRPr lang="en-US" sz="1200" dirty="0"/>
          </a:p>
        </p:txBody>
      </p:sp>
      <p:sp>
        <p:nvSpPr>
          <p:cNvPr id="16" name="Shape 11"/>
          <p:cNvSpPr/>
          <p:nvPr/>
        </p:nvSpPr>
        <p:spPr>
          <a:xfrm>
            <a:off x="548640" y="5202936"/>
            <a:ext cx="594360" cy="594360"/>
          </a:xfrm>
          <a:prstGeom prst="ellipse">
            <a:avLst/>
          </a:prstGeom>
          <a:solidFill>
            <a:srgbClr val="B85042"/>
          </a:solidFill>
          <a:ln/>
        </p:spPr>
      </p:sp>
      <p:pic>
        <p:nvPicPr>
          <p:cNvPr id="17" name="Image 3" descr="assets/brain_white.png">    </p:cNvPr>
          <p:cNvPicPr>
            <a:picLocks noChangeAspect="1"/>
          </p:cNvPicPr>
          <p:nvPr/>
        </p:nvPicPr>
        <p:blipFill>
          <a:blip r:embed="rId4"/>
          <a:stretch>
            <a:fillRect/>
          </a:stretch>
        </p:blipFill>
        <p:spPr>
          <a:xfrm>
            <a:off x="703174" y="5357470"/>
            <a:ext cx="285293" cy="285293"/>
          </a:xfrm>
          <a:prstGeom prst="rect">
            <a:avLst/>
          </a:prstGeom>
        </p:spPr>
      </p:pic>
      <p:sp>
        <p:nvSpPr>
          <p:cNvPr id="18" name="Text 12"/>
          <p:cNvSpPr txBox="1"/>
          <p:nvPr/>
        </p:nvSpPr>
        <p:spPr>
          <a:xfrm>
            <a:off x="1371600" y="5184648"/>
            <a:ext cx="10241280" cy="45720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Dropout</a:t>
            </a:r>
            <a:endParaRPr lang="en-US" sz="1450" dirty="0"/>
          </a:p>
        </p:txBody>
      </p:sp>
      <p:sp>
        <p:nvSpPr>
          <p:cNvPr id="19" name="Text 13"/>
          <p:cNvSpPr txBox="1"/>
          <p:nvPr/>
        </p:nvSpPr>
        <p:spPr>
          <a:xfrm>
            <a:off x="1371600" y="5623560"/>
            <a:ext cx="10332720" cy="594360"/>
          </a:xfrm>
          <a:prstGeom prst="rect">
            <a:avLst/>
          </a:prstGeom>
          <a:noFill/>
          <a:ln/>
        </p:spPr>
        <p:txBody>
          <a:bodyPr wrap="square" lIns="0" tIns="0" rIns="0" bIns="0" rtlCol="0" anchor="ctr"/>
          <a:lstStyle/>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During training, a random 20% of neurons are switched off in every forward pass. This stops the network from memorizing the training data and forces it to learn patterns that generalize to new slopes.</a:t>
            </a:r>
            <a:endParaRPr lang="en-US" sz="1200" dirty="0"/>
          </a:p>
        </p:txBody>
      </p:sp>
      <p:sp>
        <p:nvSpPr>
          <p:cNvPr id="20" name="Text 14"/>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21" name="Text 15"/>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3000" b="1" dirty="0">
                <a:solidFill>
                  <a:srgbClr val="2B2320"/>
                </a:solidFill>
                <a:latin typeface="Cambria" pitchFamily="34" charset="0"/>
                <a:ea typeface="Cambria" pitchFamily="34" charset="-122"/>
                <a:cs typeface="Cambria" pitchFamily="34" charset="-120"/>
              </a:rPr>
              <a:t>Jargon, Decoded — Part 2</a:t>
            </a:r>
            <a:endParaRPr lang="en-US" sz="3000" dirty="0"/>
          </a:p>
        </p:txBody>
      </p:sp>
      <p:sp>
        <p:nvSpPr>
          <p:cNvPr id="3" name="Text 1"/>
          <p:cNvSpPr txBox="1"/>
          <p:nvPr/>
        </p:nvSpPr>
        <p:spPr>
          <a:xfrm>
            <a:off x="548640" y="1051560"/>
            <a:ext cx="10058400" cy="36576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Plain-English meanings for the uncertainty and data terms used in this section</a:t>
            </a:r>
            <a:endParaRPr lang="en-US" sz="1300" dirty="0"/>
          </a:p>
        </p:txBody>
      </p:sp>
      <p:sp>
        <p:nvSpPr>
          <p:cNvPr id="4" name="Shape 2"/>
          <p:cNvSpPr/>
          <p:nvPr/>
        </p:nvSpPr>
        <p:spPr>
          <a:xfrm>
            <a:off x="548640" y="1691640"/>
            <a:ext cx="594360" cy="594360"/>
          </a:xfrm>
          <a:prstGeom prst="ellipse">
            <a:avLst/>
          </a:prstGeom>
          <a:solidFill>
            <a:srgbClr val="B85042"/>
          </a:solidFill>
          <a:ln/>
        </p:spPr>
      </p:sp>
      <p:pic>
        <p:nvPicPr>
          <p:cNvPr id="5" name="Image 0" descr="assets/triangleExclamation_white.png">    </p:cNvPr>
          <p:cNvPicPr>
            <a:picLocks noChangeAspect="1"/>
          </p:cNvPicPr>
          <p:nvPr/>
        </p:nvPicPr>
        <p:blipFill>
          <a:blip r:embed="rId1"/>
          <a:stretch>
            <a:fillRect/>
          </a:stretch>
        </p:blipFill>
        <p:spPr>
          <a:xfrm>
            <a:off x="703174" y="1846174"/>
            <a:ext cx="285293" cy="285293"/>
          </a:xfrm>
          <a:prstGeom prst="rect">
            <a:avLst/>
          </a:prstGeom>
        </p:spPr>
      </p:pic>
      <p:sp>
        <p:nvSpPr>
          <p:cNvPr id="6" name="Text 3"/>
          <p:cNvSpPr txBox="1"/>
          <p:nvPr/>
        </p:nvSpPr>
        <p:spPr>
          <a:xfrm>
            <a:off x="1371600" y="1673352"/>
            <a:ext cx="10241280" cy="45720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MC Dropout — Monte Carlo Dropout</a:t>
            </a:r>
            <a:endParaRPr lang="en-US" sz="1450" dirty="0"/>
          </a:p>
        </p:txBody>
      </p:sp>
      <p:sp>
        <p:nvSpPr>
          <p:cNvPr id="7" name="Text 4"/>
          <p:cNvSpPr txBox="1"/>
          <p:nvPr/>
        </p:nvSpPr>
        <p:spPr>
          <a:xfrm>
            <a:off x="1371600" y="2112264"/>
            <a:ext cx="10332720" cy="594360"/>
          </a:xfrm>
          <a:prstGeom prst="rect">
            <a:avLst/>
          </a:prstGeom>
          <a:noFill/>
          <a:ln/>
        </p:spPr>
        <p:txBody>
          <a:bodyPr wrap="square" lIns="0" tIns="0" rIns="0" bIns="0" rtlCol="0" anchor="ctr"/>
          <a:lstStyle/>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Normally dropout (see Part 1) is switched off once training ends. LITHOS keeps it ON at prediction time instead, and runs the same input through the network 150 times. Each pass randomly silences different neurons, so the 150 answers differ slightly — and that spread becomes a built-in confidence score.</a:t>
            </a:r>
            <a:endParaRPr lang="en-US" sz="1200" dirty="0"/>
          </a:p>
        </p:txBody>
      </p:sp>
      <p:sp>
        <p:nvSpPr>
          <p:cNvPr id="8" name="Shape 5"/>
          <p:cNvSpPr/>
          <p:nvPr/>
        </p:nvSpPr>
        <p:spPr>
          <a:xfrm>
            <a:off x="548640" y="2862072"/>
            <a:ext cx="594360" cy="594360"/>
          </a:xfrm>
          <a:prstGeom prst="ellipse">
            <a:avLst/>
          </a:prstGeom>
          <a:solidFill>
            <a:srgbClr val="B85042"/>
          </a:solidFill>
          <a:ln/>
        </p:spPr>
      </p:sp>
      <p:pic>
        <p:nvPicPr>
          <p:cNvPr id="9" name="Image 1" descr="assets/gauge_white.png">    </p:cNvPr>
          <p:cNvPicPr>
            <a:picLocks noChangeAspect="1"/>
          </p:cNvPicPr>
          <p:nvPr/>
        </p:nvPicPr>
        <p:blipFill>
          <a:blip r:embed="rId2"/>
          <a:stretch>
            <a:fillRect/>
          </a:stretch>
        </p:blipFill>
        <p:spPr>
          <a:xfrm>
            <a:off x="703174" y="3016606"/>
            <a:ext cx="285293" cy="285293"/>
          </a:xfrm>
          <a:prstGeom prst="rect">
            <a:avLst/>
          </a:prstGeom>
        </p:spPr>
      </p:pic>
      <p:sp>
        <p:nvSpPr>
          <p:cNvPr id="10" name="Text 6"/>
          <p:cNvSpPr txBox="1"/>
          <p:nvPr/>
        </p:nvSpPr>
        <p:spPr>
          <a:xfrm>
            <a:off x="1371600" y="2843784"/>
            <a:ext cx="10241280" cy="45720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Epistemic Uncertainty (σ)</a:t>
            </a:r>
            <a:endParaRPr lang="en-US" sz="1450" dirty="0"/>
          </a:p>
        </p:txBody>
      </p:sp>
      <p:sp>
        <p:nvSpPr>
          <p:cNvPr id="11" name="Text 7"/>
          <p:cNvSpPr txBox="1"/>
          <p:nvPr/>
        </p:nvSpPr>
        <p:spPr>
          <a:xfrm>
            <a:off x="1371600" y="3282696"/>
            <a:ext cx="10332720" cy="594360"/>
          </a:xfrm>
          <a:prstGeom prst="rect">
            <a:avLst/>
          </a:prstGeom>
          <a:noFill/>
          <a:ln/>
        </p:spPr>
        <p:txBody>
          <a:bodyPr wrap="square" lIns="0" tIns="0" rIns="0" bIns="0" rtlCol="0" anchor="ctr"/>
          <a:lstStyle/>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The model’s own honest doubt — how unsure it is because a slope looks unlike anything it saw during training. Measured as the standard deviation across the 150 MC Dropout passes. High σ means “verify this one in the field.”</a:t>
            </a:r>
            <a:endParaRPr lang="en-US" sz="1200" dirty="0"/>
          </a:p>
        </p:txBody>
      </p:sp>
      <p:sp>
        <p:nvSpPr>
          <p:cNvPr id="12" name="Shape 8"/>
          <p:cNvSpPr/>
          <p:nvPr/>
        </p:nvSpPr>
        <p:spPr>
          <a:xfrm>
            <a:off x="548640" y="4032504"/>
            <a:ext cx="594360" cy="594360"/>
          </a:xfrm>
          <a:prstGeom prst="ellipse">
            <a:avLst/>
          </a:prstGeom>
          <a:solidFill>
            <a:srgbClr val="B85042"/>
          </a:solidFill>
          <a:ln/>
        </p:spPr>
      </p:sp>
      <p:pic>
        <p:nvPicPr>
          <p:cNvPr id="13" name="Image 2" descr="assets/database_white.png">    </p:cNvPr>
          <p:cNvPicPr>
            <a:picLocks noChangeAspect="1"/>
          </p:cNvPicPr>
          <p:nvPr/>
        </p:nvPicPr>
        <p:blipFill>
          <a:blip r:embed="rId3"/>
          <a:stretch>
            <a:fillRect/>
          </a:stretch>
        </p:blipFill>
        <p:spPr>
          <a:xfrm>
            <a:off x="703174" y="4187038"/>
            <a:ext cx="285293" cy="285293"/>
          </a:xfrm>
          <a:prstGeom prst="rect">
            <a:avLst/>
          </a:prstGeom>
        </p:spPr>
      </p:pic>
      <p:sp>
        <p:nvSpPr>
          <p:cNvPr id="14" name="Text 9"/>
          <p:cNvSpPr txBox="1"/>
          <p:nvPr/>
        </p:nvSpPr>
        <p:spPr>
          <a:xfrm>
            <a:off x="1371600" y="4014216"/>
            <a:ext cx="10241280" cy="45720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KD-Tree</a:t>
            </a:r>
            <a:endParaRPr lang="en-US" sz="1450" dirty="0"/>
          </a:p>
        </p:txBody>
      </p:sp>
      <p:sp>
        <p:nvSpPr>
          <p:cNvPr id="15" name="Text 10"/>
          <p:cNvSpPr txBox="1"/>
          <p:nvPr/>
        </p:nvSpPr>
        <p:spPr>
          <a:xfrm>
            <a:off x="1371600" y="4453128"/>
            <a:ext cx="10332720" cy="594360"/>
          </a:xfrm>
          <a:prstGeom prst="rect">
            <a:avLst/>
          </a:prstGeom>
          <a:noFill/>
          <a:ln/>
        </p:spPr>
        <p:txBody>
          <a:bodyPr wrap="square" lIns="0" tIns="0" rIns="0" bIns="0" rtlCol="0" anchor="ctr"/>
          <a:lstStyle/>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A data structure that organizes locations in space so the nearest match is found almost instantly, instead of checking distance one-by-one against all 580,508 slope units. Used to match historical landslide events to the slope unit they occurred in.</a:t>
            </a:r>
            <a:endParaRPr lang="en-US" sz="1200" dirty="0"/>
          </a:p>
        </p:txBody>
      </p:sp>
      <p:sp>
        <p:nvSpPr>
          <p:cNvPr id="16" name="Shape 11"/>
          <p:cNvSpPr/>
          <p:nvPr/>
        </p:nvSpPr>
        <p:spPr>
          <a:xfrm>
            <a:off x="548640" y="5202936"/>
            <a:ext cx="594360" cy="594360"/>
          </a:xfrm>
          <a:prstGeom prst="ellipse">
            <a:avLst/>
          </a:prstGeom>
          <a:solidFill>
            <a:srgbClr val="B85042"/>
          </a:solidFill>
          <a:ln/>
        </p:spPr>
      </p:sp>
      <p:pic>
        <p:nvPicPr>
          <p:cNvPr id="17" name="Image 3" descr="assets/brain_white.png">    </p:cNvPr>
          <p:cNvPicPr>
            <a:picLocks noChangeAspect="1"/>
          </p:cNvPicPr>
          <p:nvPr/>
        </p:nvPicPr>
        <p:blipFill>
          <a:blip r:embed="rId4"/>
          <a:stretch>
            <a:fillRect/>
          </a:stretch>
        </p:blipFill>
        <p:spPr>
          <a:xfrm>
            <a:off x="703174" y="5357470"/>
            <a:ext cx="285293" cy="285293"/>
          </a:xfrm>
          <a:prstGeom prst="rect">
            <a:avLst/>
          </a:prstGeom>
        </p:spPr>
      </p:pic>
      <p:sp>
        <p:nvSpPr>
          <p:cNvPr id="18" name="Text 12"/>
          <p:cNvSpPr txBox="1"/>
          <p:nvPr/>
        </p:nvSpPr>
        <p:spPr>
          <a:xfrm>
            <a:off x="1371600" y="5184648"/>
            <a:ext cx="10241280" cy="45720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Watershed-Aware Partitioning</a:t>
            </a:r>
            <a:endParaRPr lang="en-US" sz="1450" dirty="0"/>
          </a:p>
        </p:txBody>
      </p:sp>
      <p:sp>
        <p:nvSpPr>
          <p:cNvPr id="19" name="Text 13"/>
          <p:cNvSpPr txBox="1"/>
          <p:nvPr/>
        </p:nvSpPr>
        <p:spPr>
          <a:xfrm>
            <a:off x="1371600" y="5623560"/>
            <a:ext cx="10332720" cy="594360"/>
          </a:xfrm>
          <a:prstGeom prst="rect">
            <a:avLst/>
          </a:prstGeom>
          <a:noFill/>
          <a:ln/>
        </p:spPr>
        <p:txBody>
          <a:bodyPr wrap="square" lIns="0" tIns="0" rIns="0" bIns="0" rtlCol="0" anchor="ctr"/>
          <a:lstStyle/>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Splitting data into training and test sets along natural drainage divides, not randomly. This stops a slope from being tested right next to one the model trained on — a fairer, harder measure of true generalization.</a:t>
            </a:r>
            <a:endParaRPr lang="en-US" sz="1200" dirty="0"/>
          </a:p>
        </p:txBody>
      </p:sp>
      <p:sp>
        <p:nvSpPr>
          <p:cNvPr id="20" name="Text 14"/>
          <p:cNvSpPr txBox="1"/>
          <p:nvPr/>
        </p:nvSpPr>
        <p:spPr>
          <a:xfrm>
            <a:off x="457200" y="6446520"/>
            <a:ext cx="7315200" cy="274320"/>
          </a:xfrm>
          <a:prstGeom prst="rect">
            <a:avLst/>
          </a:prstGeom>
          <a:noFill/>
          <a:ln/>
        </p:spPr>
        <p:txBody>
          <a:bodyPr wrap="square" lIns="0" tIns="0" rIns="0" bIns="0"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21" name="Text 15"/>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320040"/>
            <a:ext cx="11338560" cy="54864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Validated, Not Just Trained</a:t>
            </a:r>
            <a:endParaRPr lang="en-US" sz="2700" dirty="0"/>
          </a:p>
        </p:txBody>
      </p:sp>
      <p:sp>
        <p:nvSpPr>
          <p:cNvPr id="3" name="Text 1"/>
          <p:cNvSpPr/>
          <p:nvPr/>
        </p:nvSpPr>
        <p:spPr>
          <a:xfrm>
            <a:off x="411480" y="804672"/>
            <a:ext cx="11338560" cy="32004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24/24 automated integrity checks — zero label leakage, zero physics-boundary violations</a:t>
            </a:r>
            <a:endParaRPr lang="en-US" sz="1300" dirty="0"/>
          </a:p>
        </p:txBody>
      </p:sp>
      <p:sp>
        <p:nvSpPr>
          <p:cNvPr id="4" name="Shape 2"/>
          <p:cNvSpPr/>
          <p:nvPr/>
        </p:nvSpPr>
        <p:spPr>
          <a:xfrm>
            <a:off x="411480" y="1463040"/>
            <a:ext cx="457200" cy="457200"/>
          </a:xfrm>
          <a:prstGeom prst="ellipse">
            <a:avLst/>
          </a:prstGeom>
          <a:solidFill>
            <a:srgbClr val="5E7C5B"/>
          </a:solidFill>
          <a:ln/>
        </p:spPr>
      </p:sp>
      <p:pic>
        <p:nvPicPr>
          <p:cNvPr id="5" name="Image 0" descr="icons/shield.png">    </p:cNvPr>
          <p:cNvPicPr>
            <a:picLocks noChangeAspect="1"/>
          </p:cNvPicPr>
          <p:nvPr/>
        </p:nvPicPr>
        <p:blipFill>
          <a:blip r:embed="rId1"/>
          <a:stretch>
            <a:fillRect/>
          </a:stretch>
        </p:blipFill>
        <p:spPr>
          <a:xfrm>
            <a:off x="512064" y="1563624"/>
            <a:ext cx="256032" cy="256032"/>
          </a:xfrm>
          <a:prstGeom prst="rect">
            <a:avLst/>
          </a:prstGeom>
        </p:spPr>
      </p:pic>
      <p:sp>
        <p:nvSpPr>
          <p:cNvPr id="6" name="Text 3"/>
          <p:cNvSpPr/>
          <p:nvPr/>
        </p:nvSpPr>
        <p:spPr>
          <a:xfrm>
            <a:off x="1033272" y="1417320"/>
            <a:ext cx="4864608" cy="50292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Zero Circular Leakage</a:t>
            </a:r>
            <a:endParaRPr lang="en-US" sz="1450" dirty="0"/>
          </a:p>
        </p:txBody>
      </p:sp>
      <p:sp>
        <p:nvSpPr>
          <p:cNvPr id="7" name="Text 4"/>
          <p:cNvSpPr/>
          <p:nvPr/>
        </p:nvSpPr>
        <p:spPr>
          <a:xfrm>
            <a:off x="1033272" y="1947672"/>
            <a:ext cx="4864608" cy="1463040"/>
          </a:xfrm>
          <a:prstGeom prst="rect">
            <a:avLst/>
          </a:prstGeom>
          <a:noFill/>
          <a:ln/>
        </p:spPr>
        <p:txBody>
          <a:bodyPr wrap="square" lIns="0" tIns="0" rIns="0" bIns="0" rtlCol="0" anchor="ctr"/>
          <a:lstStyle/>
          <a:p>
            <a:pPr indent="0" marL="0">
              <a:lnSpc>
                <a:spcPct val="115000"/>
              </a:lnSpc>
              <a:buNone/>
            </a:pPr>
            <a:r>
              <a:rPr lang="en-US" sz="1100" dirty="0">
                <a:solidFill>
                  <a:srgbClr val="5C5450"/>
                </a:solidFill>
                <a:latin typeface="Calibri" pitchFamily="34" charset="0"/>
                <a:ea typeface="Calibri" pitchFamily="34" charset="-122"/>
                <a:cs typeface="Calibri" pitchFamily="34" charset="-120"/>
              </a:rPr>
              <a:t>FoS is used only inside the physics loss as a regularizer. Ground-truth labels come strictly from NASA GLC and GSI-cataloged rupture scars — verified independent of the FoS formula.</a:t>
            </a:r>
            <a:endParaRPr lang="en-US" sz="1100" dirty="0"/>
          </a:p>
        </p:txBody>
      </p:sp>
      <p:sp>
        <p:nvSpPr>
          <p:cNvPr id="8" name="Shape 5"/>
          <p:cNvSpPr/>
          <p:nvPr/>
        </p:nvSpPr>
        <p:spPr>
          <a:xfrm>
            <a:off x="6263640" y="1463040"/>
            <a:ext cx="457200" cy="457200"/>
          </a:xfrm>
          <a:prstGeom prst="ellipse">
            <a:avLst/>
          </a:prstGeom>
          <a:solidFill>
            <a:srgbClr val="5E7C5B"/>
          </a:solidFill>
          <a:ln/>
        </p:spPr>
      </p:sp>
      <p:pic>
        <p:nvPicPr>
          <p:cNvPr id="9" name="Image 1" descr="icons/layers.png">    </p:cNvPr>
          <p:cNvPicPr>
            <a:picLocks noChangeAspect="1"/>
          </p:cNvPicPr>
          <p:nvPr/>
        </p:nvPicPr>
        <p:blipFill>
          <a:blip r:embed="rId2"/>
          <a:stretch>
            <a:fillRect/>
          </a:stretch>
        </p:blipFill>
        <p:spPr>
          <a:xfrm>
            <a:off x="6364224" y="1563624"/>
            <a:ext cx="256032" cy="256032"/>
          </a:xfrm>
          <a:prstGeom prst="rect">
            <a:avLst/>
          </a:prstGeom>
        </p:spPr>
      </p:pic>
      <p:sp>
        <p:nvSpPr>
          <p:cNvPr id="10" name="Text 6"/>
          <p:cNvSpPr/>
          <p:nvPr/>
        </p:nvSpPr>
        <p:spPr>
          <a:xfrm>
            <a:off x="6885432" y="1417320"/>
            <a:ext cx="4864608" cy="50292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Geomorphometric Feature Suite</a:t>
            </a:r>
            <a:endParaRPr lang="en-US" sz="1450" dirty="0"/>
          </a:p>
        </p:txBody>
      </p:sp>
      <p:sp>
        <p:nvSpPr>
          <p:cNvPr id="11" name="Text 7"/>
          <p:cNvSpPr/>
          <p:nvPr/>
        </p:nvSpPr>
        <p:spPr>
          <a:xfrm>
            <a:off x="6885432" y="1947672"/>
            <a:ext cx="4864608" cy="1463040"/>
          </a:xfrm>
          <a:prstGeom prst="rect">
            <a:avLst/>
          </a:prstGeom>
          <a:noFill/>
          <a:ln/>
        </p:spPr>
        <p:txBody>
          <a:bodyPr wrap="square" lIns="0" tIns="0" rIns="0" bIns="0" rtlCol="0" anchor="ctr"/>
          <a:lstStyle/>
          <a:p>
            <a:pPr indent="0" marL="0">
              <a:lnSpc>
                <a:spcPct val="115000"/>
              </a:lnSpc>
              <a:buNone/>
            </a:pPr>
            <a:r>
              <a:rPr lang="en-US" sz="1100" dirty="0">
                <a:solidFill>
                  <a:srgbClr val="5C5450"/>
                </a:solidFill>
                <a:latin typeface="Calibri" pitchFamily="34" charset="0"/>
                <a:ea typeface="Calibri" pitchFamily="34" charset="-122"/>
                <a:cs typeface="Calibri" pitchFamily="34" charset="-120"/>
              </a:rPr>
              <a:t>TWI, TRI, and CTI covariates capture hydrological concentration mechanisms (wetness, curvature, cohesive shear interaction) that transfer across regions — from the Himalayas to Meghalaya's hills.</a:t>
            </a:r>
            <a:endParaRPr lang="en-US" sz="1100" dirty="0"/>
          </a:p>
        </p:txBody>
      </p:sp>
      <p:sp>
        <p:nvSpPr>
          <p:cNvPr id="12" name="Shape 8"/>
          <p:cNvSpPr/>
          <p:nvPr/>
        </p:nvSpPr>
        <p:spPr>
          <a:xfrm>
            <a:off x="411480" y="3703320"/>
            <a:ext cx="457200" cy="457200"/>
          </a:xfrm>
          <a:prstGeom prst="ellipse">
            <a:avLst/>
          </a:prstGeom>
          <a:solidFill>
            <a:srgbClr val="5E7C5B"/>
          </a:solidFill>
          <a:ln/>
        </p:spPr>
      </p:sp>
      <p:pic>
        <p:nvPicPr>
          <p:cNvPr id="13" name="Image 2" descr="icons/map.png">    </p:cNvPr>
          <p:cNvPicPr>
            <a:picLocks noChangeAspect="1"/>
          </p:cNvPicPr>
          <p:nvPr/>
        </p:nvPicPr>
        <p:blipFill>
          <a:blip r:embed="rId3"/>
          <a:stretch>
            <a:fillRect/>
          </a:stretch>
        </p:blipFill>
        <p:spPr>
          <a:xfrm>
            <a:off x="512064" y="3803904"/>
            <a:ext cx="256032" cy="256032"/>
          </a:xfrm>
          <a:prstGeom prst="rect">
            <a:avLst/>
          </a:prstGeom>
        </p:spPr>
      </p:pic>
      <p:sp>
        <p:nvSpPr>
          <p:cNvPr id="14" name="Text 9"/>
          <p:cNvSpPr/>
          <p:nvPr/>
        </p:nvSpPr>
        <p:spPr>
          <a:xfrm>
            <a:off x="1033272" y="3657600"/>
            <a:ext cx="4864608" cy="50292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Hard-Negative Mining</a:t>
            </a:r>
            <a:endParaRPr lang="en-US" sz="1450" dirty="0"/>
          </a:p>
        </p:txBody>
      </p:sp>
      <p:sp>
        <p:nvSpPr>
          <p:cNvPr id="15" name="Text 10"/>
          <p:cNvSpPr/>
          <p:nvPr/>
        </p:nvSpPr>
        <p:spPr>
          <a:xfrm>
            <a:off x="1033272" y="4187952"/>
            <a:ext cx="4864608" cy="1463040"/>
          </a:xfrm>
          <a:prstGeom prst="rect">
            <a:avLst/>
          </a:prstGeom>
          <a:noFill/>
          <a:ln/>
        </p:spPr>
        <p:txBody>
          <a:bodyPr wrap="square" lIns="0" tIns="0" rIns="0" bIns="0" rtlCol="0" anchor="ctr"/>
          <a:lstStyle/>
          <a:p>
            <a:pPr indent="0" marL="0">
              <a:lnSpc>
                <a:spcPct val="115000"/>
              </a:lnSpc>
              <a:buNone/>
            </a:pPr>
            <a:r>
              <a:rPr lang="en-US" sz="1100" dirty="0">
                <a:solidFill>
                  <a:srgbClr val="5C5450"/>
                </a:solidFill>
                <a:latin typeface="Calibri" pitchFamily="34" charset="0"/>
                <a:ea typeface="Calibri" pitchFamily="34" charset="-122"/>
                <a:cs typeface="Calibri" pitchFamily="34" charset="-120"/>
              </a:rPr>
              <a:t>Stable slopes near (~5 km) known ruptures, matching failure-like steepness and saturation, force the model to learn the subtle line between holding and failing — not just 'flat = safe.'</a:t>
            </a:r>
            <a:endParaRPr lang="en-US" sz="1100" dirty="0"/>
          </a:p>
        </p:txBody>
      </p:sp>
      <p:sp>
        <p:nvSpPr>
          <p:cNvPr id="16" name="Shape 11"/>
          <p:cNvSpPr/>
          <p:nvPr/>
        </p:nvSpPr>
        <p:spPr>
          <a:xfrm>
            <a:off x="6263640" y="3703320"/>
            <a:ext cx="457200" cy="457200"/>
          </a:xfrm>
          <a:prstGeom prst="ellipse">
            <a:avLst/>
          </a:prstGeom>
          <a:solidFill>
            <a:srgbClr val="5E7C5B"/>
          </a:solidFill>
          <a:ln/>
        </p:spPr>
      </p:sp>
      <p:pic>
        <p:nvPicPr>
          <p:cNvPr id="17" name="Image 3" descr="icons/trending.png">    </p:cNvPr>
          <p:cNvPicPr>
            <a:picLocks noChangeAspect="1"/>
          </p:cNvPicPr>
          <p:nvPr/>
        </p:nvPicPr>
        <p:blipFill>
          <a:blip r:embed="rId4"/>
          <a:stretch>
            <a:fillRect/>
          </a:stretch>
        </p:blipFill>
        <p:spPr>
          <a:xfrm>
            <a:off x="6364224" y="3803904"/>
            <a:ext cx="256032" cy="256032"/>
          </a:xfrm>
          <a:prstGeom prst="rect">
            <a:avLst/>
          </a:prstGeom>
        </p:spPr>
      </p:pic>
      <p:sp>
        <p:nvSpPr>
          <p:cNvPr id="18" name="Text 12"/>
          <p:cNvSpPr/>
          <p:nvPr/>
        </p:nvSpPr>
        <p:spPr>
          <a:xfrm>
            <a:off x="6885432" y="3657600"/>
            <a:ext cx="4864608" cy="502920"/>
          </a:xfrm>
          <a:prstGeom prst="rect">
            <a:avLst/>
          </a:prstGeom>
          <a:noFill/>
          <a:ln/>
        </p:spPr>
        <p:txBody>
          <a:bodyPr wrap="square" lIns="0" tIns="0" rIns="0" bIns="0" rtlCol="0" anchor="ctr"/>
          <a:lstStyle/>
          <a:p>
            <a:pPr indent="0" marL="0">
              <a:buNone/>
            </a:pPr>
            <a:r>
              <a:rPr lang="en-US" sz="1450" b="1" dirty="0">
                <a:solidFill>
                  <a:srgbClr val="2B2320"/>
                </a:solidFill>
                <a:latin typeface="Cambria" pitchFamily="34" charset="0"/>
                <a:ea typeface="Cambria" pitchFamily="34" charset="-122"/>
                <a:cs typeface="Cambria" pitchFamily="34" charset="-120"/>
              </a:rPr>
              <a:t>Two-Stage Deployment</a:t>
            </a:r>
            <a:endParaRPr lang="en-US" sz="1450" dirty="0"/>
          </a:p>
        </p:txBody>
      </p:sp>
      <p:sp>
        <p:nvSpPr>
          <p:cNvPr id="19" name="Text 13"/>
          <p:cNvSpPr/>
          <p:nvPr/>
        </p:nvSpPr>
        <p:spPr>
          <a:xfrm>
            <a:off x="6885432" y="4187952"/>
            <a:ext cx="4864608" cy="1463040"/>
          </a:xfrm>
          <a:prstGeom prst="rect">
            <a:avLst/>
          </a:prstGeom>
          <a:noFill/>
          <a:ln/>
        </p:spPr>
        <p:txBody>
          <a:bodyPr wrap="square" lIns="0" tIns="0" rIns="0" bIns="0" rtlCol="0" anchor="ctr"/>
          <a:lstStyle/>
          <a:p>
            <a:pPr indent="0" marL="0">
              <a:lnSpc>
                <a:spcPct val="115000"/>
              </a:lnSpc>
              <a:buNone/>
            </a:pPr>
            <a:r>
              <a:rPr lang="en-US" sz="1100" dirty="0">
                <a:solidFill>
                  <a:srgbClr val="5C5450"/>
                </a:solidFill>
                <a:latin typeface="Calibri" pitchFamily="34" charset="0"/>
                <a:ea typeface="Calibri" pitchFamily="34" charset="-122"/>
                <a:cs typeface="Calibri" pitchFamily="34" charset="-120"/>
              </a:rPr>
              <a:t>Offline hazard screening flags high-uncertainty sites for GSI field surveys; the calibrated PINN runs live on 72-hr IMD/ERA5 feeds, issuing tri-level alerts (Advisory ≥0.20, Watch ≥0.35, Evacuation ≥0.50).</a:t>
            </a:r>
            <a:endParaRPr lang="en-US" sz="1100" dirty="0"/>
          </a:p>
        </p:txBody>
      </p:sp>
      <p:sp>
        <p:nvSpPr>
          <p:cNvPr id="20" name="Text 14"/>
          <p:cNvSpPr/>
          <p:nvPr/>
        </p:nvSpPr>
        <p:spPr>
          <a:xfrm>
            <a:off x="411480" y="6537960"/>
            <a:ext cx="5486400" cy="274320"/>
          </a:xfrm>
          <a:prstGeom prst="rect">
            <a:avLst/>
          </a:prstGeom>
          <a:noFill/>
          <a:ln/>
        </p:spPr>
        <p:txBody>
          <a:bodyPr wrap="square"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21" name="Text 15"/>
          <p:cNvSpPr/>
          <p:nvPr/>
        </p:nvSpPr>
        <p:spPr>
          <a:xfrm>
            <a:off x="11338560" y="6537960"/>
            <a:ext cx="457200" cy="274320"/>
          </a:xfrm>
          <a:prstGeom prst="rect">
            <a:avLst/>
          </a:prstGeom>
          <a:noFill/>
          <a:ln/>
        </p:spPr>
        <p:txBody>
          <a:bodyPr wrap="square"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320040"/>
            <a:ext cx="11338560" cy="54864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The Winning Architecture: Physics-Guided Stacking</a:t>
            </a:r>
            <a:endParaRPr lang="en-US" sz="2700" dirty="0"/>
          </a:p>
        </p:txBody>
      </p:sp>
      <p:sp>
        <p:nvSpPr>
          <p:cNvPr id="3" name="Text 1"/>
          <p:cNvSpPr/>
          <p:nvPr/>
        </p:nvSpPr>
        <p:spPr>
          <a:xfrm>
            <a:off x="411480" y="804672"/>
            <a:ext cx="11338560" cy="32004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A meta-learner combines four complementary signals for production-grade accuracy</a:t>
            </a:r>
            <a:endParaRPr lang="en-US" sz="1300" dirty="0"/>
          </a:p>
        </p:txBody>
      </p:sp>
      <p:sp>
        <p:nvSpPr>
          <p:cNvPr id="4" name="Shape 2"/>
          <p:cNvSpPr/>
          <p:nvPr/>
        </p:nvSpPr>
        <p:spPr>
          <a:xfrm>
            <a:off x="411480" y="1371600"/>
            <a:ext cx="11338560" cy="777240"/>
          </a:xfrm>
          <a:prstGeom prst="roundRect">
            <a:avLst>
              <a:gd name="adj" fmla="val 7059"/>
            </a:avLst>
          </a:prstGeom>
          <a:solidFill>
            <a:srgbClr val="F2EEE8"/>
          </a:solidFill>
          <a:ln/>
        </p:spPr>
      </p:sp>
      <p:sp>
        <p:nvSpPr>
          <p:cNvPr id="5" name="Text 3"/>
          <p:cNvSpPr/>
          <p:nvPr/>
        </p:nvSpPr>
        <p:spPr>
          <a:xfrm>
            <a:off x="685800" y="1371600"/>
            <a:ext cx="10881360" cy="777240"/>
          </a:xfrm>
          <a:prstGeom prst="rect">
            <a:avLst/>
          </a:prstGeom>
          <a:noFill/>
          <a:ln/>
        </p:spPr>
        <p:txBody>
          <a:bodyPr wrap="square" lIns="0" tIns="0" rIns="0" bIns="0" rtlCol="0" anchor="ctr"/>
          <a:lstStyle/>
          <a:p>
            <a:pPr algn="ctr" indent="0" marL="0">
              <a:buNone/>
            </a:pPr>
            <a:r>
              <a:rPr lang="en-US" sz="1700" b="1" dirty="0">
                <a:solidFill>
                  <a:srgbClr val="2B2320"/>
                </a:solidFill>
                <a:latin typeface="Cambria" pitchFamily="34" charset="0"/>
                <a:ea typeface="Cambria" pitchFamily="34" charset="-122"/>
                <a:cs typeface="Cambria" pitchFamily="34" charset="-120"/>
              </a:rPr>
              <a:t>Logit  =  w₁·P_PINN  +  w₂·σ_MC  +  w₃·(1/FoS)  +  w₄·P_HGB</a:t>
            </a:r>
            <a:endParaRPr lang="en-US" sz="1700" dirty="0"/>
          </a:p>
        </p:txBody>
      </p:sp>
      <p:sp>
        <p:nvSpPr>
          <p:cNvPr id="6" name="Shape 4"/>
          <p:cNvSpPr/>
          <p:nvPr/>
        </p:nvSpPr>
        <p:spPr>
          <a:xfrm>
            <a:off x="411480" y="2423160"/>
            <a:ext cx="2651760" cy="1920240"/>
          </a:xfrm>
          <a:prstGeom prst="roundRect">
            <a:avLst>
              <a:gd name="adj" fmla="val 2857"/>
            </a:avLst>
          </a:prstGeom>
          <a:solidFill>
            <a:srgbClr val="FFFFFF"/>
          </a:solidFill>
          <a:ln w="12700">
            <a:solidFill>
              <a:srgbClr val="E2DCD4"/>
            </a:solidFill>
            <a:prstDash val="solid"/>
          </a:ln>
        </p:spPr>
      </p:sp>
      <p:sp>
        <p:nvSpPr>
          <p:cNvPr id="7" name="Text 5"/>
          <p:cNvSpPr/>
          <p:nvPr/>
        </p:nvSpPr>
        <p:spPr>
          <a:xfrm>
            <a:off x="594360" y="2560320"/>
            <a:ext cx="2286000" cy="411480"/>
          </a:xfrm>
          <a:prstGeom prst="rect">
            <a:avLst/>
          </a:prstGeom>
          <a:noFill/>
          <a:ln/>
        </p:spPr>
        <p:txBody>
          <a:bodyPr wrap="square" lIns="0" tIns="0" rIns="0" bIns="0" rtlCol="0" anchor="ctr"/>
          <a:lstStyle/>
          <a:p>
            <a:pPr indent="0" marL="0">
              <a:buNone/>
            </a:pPr>
            <a:r>
              <a:rPr lang="en-US" sz="1600" b="1" dirty="0">
                <a:solidFill>
                  <a:srgbClr val="2B2320"/>
                </a:solidFill>
                <a:latin typeface="Cambria" pitchFamily="34" charset="0"/>
                <a:ea typeface="Cambria" pitchFamily="34" charset="-122"/>
                <a:cs typeface="Cambria" pitchFamily="34" charset="-120"/>
              </a:rPr>
              <a:t>P_HGB</a:t>
            </a:r>
            <a:endParaRPr lang="en-US" sz="1600" dirty="0"/>
          </a:p>
        </p:txBody>
      </p:sp>
      <p:sp>
        <p:nvSpPr>
          <p:cNvPr id="8" name="Text 6"/>
          <p:cNvSpPr/>
          <p:nvPr/>
        </p:nvSpPr>
        <p:spPr>
          <a:xfrm>
            <a:off x="594360" y="2926080"/>
            <a:ext cx="2286000" cy="457200"/>
          </a:xfrm>
          <a:prstGeom prst="rect">
            <a:avLst/>
          </a:prstGeom>
          <a:noFill/>
          <a:ln/>
        </p:spPr>
        <p:txBody>
          <a:bodyPr wrap="square" lIns="0" tIns="0" rIns="0" bIns="0" rtlCol="0" anchor="ctr"/>
          <a:lstStyle/>
          <a:p>
            <a:pPr indent="0" marL="0">
              <a:buNone/>
            </a:pPr>
            <a:r>
              <a:rPr lang="en-US" sz="2200" b="1" dirty="0">
                <a:solidFill>
                  <a:srgbClr val="5E7C5B"/>
                </a:solidFill>
                <a:latin typeface="Cambria" pitchFamily="34" charset="0"/>
                <a:ea typeface="Cambria" pitchFamily="34" charset="-122"/>
                <a:cs typeface="Cambria" pitchFamily="34" charset="-120"/>
              </a:rPr>
              <a:t>+10.25</a:t>
            </a:r>
            <a:endParaRPr lang="en-US" sz="2200" dirty="0"/>
          </a:p>
        </p:txBody>
      </p:sp>
      <p:sp>
        <p:nvSpPr>
          <p:cNvPr id="9" name="Text 7"/>
          <p:cNvSpPr/>
          <p:nvPr/>
        </p:nvSpPr>
        <p:spPr>
          <a:xfrm>
            <a:off x="594360" y="3429000"/>
            <a:ext cx="2286000" cy="822960"/>
          </a:xfrm>
          <a:prstGeom prst="rect">
            <a:avLst/>
          </a:prstGeom>
          <a:noFill/>
          <a:ln/>
        </p:spPr>
        <p:txBody>
          <a:bodyPr wrap="square" lIns="0" tIns="0" rIns="0" bIns="0" rtlCol="0" anchor="ctr"/>
          <a:lstStyle/>
          <a:p>
            <a:pPr indent="0" marL="0">
              <a:lnSpc>
                <a:spcPct val="110000"/>
              </a:lnSpc>
              <a:buNone/>
            </a:pPr>
            <a:r>
              <a:rPr lang="en-US" sz="1050" dirty="0">
                <a:solidFill>
                  <a:srgbClr val="5C5450"/>
                </a:solidFill>
                <a:latin typeface="Calibri" pitchFamily="34" charset="0"/>
                <a:ea typeface="Calibri" pitchFamily="34" charset="-122"/>
                <a:cs typeface="Calibri" pitchFamily="34" charset="-120"/>
              </a:rPr>
              <a:t>High-capacity gradient-boosted</a:t>
            </a:r>
            <a:endParaRPr lang="en-US" sz="1050" dirty="0"/>
          </a:p>
          <a:p>
            <a:pPr indent="0" marL="0">
              <a:lnSpc>
                <a:spcPct val="110000"/>
              </a:lnSpc>
              <a:buNone/>
            </a:pPr>
            <a:r>
              <a:rPr lang="en-US" sz="1050" dirty="0">
                <a:solidFill>
                  <a:srgbClr val="5C5450"/>
                </a:solidFill>
                <a:latin typeface="Calibri" pitchFamily="34" charset="0"/>
                <a:ea typeface="Calibri" pitchFamily="34" charset="-122"/>
                <a:cs typeface="Calibri" pitchFamily="34" charset="-120"/>
              </a:rPr>
              <a:t>feature-interaction signal</a:t>
            </a:r>
            <a:endParaRPr lang="en-US" sz="1050" dirty="0"/>
          </a:p>
        </p:txBody>
      </p:sp>
      <p:sp>
        <p:nvSpPr>
          <p:cNvPr id="10" name="Shape 8"/>
          <p:cNvSpPr/>
          <p:nvPr/>
        </p:nvSpPr>
        <p:spPr>
          <a:xfrm>
            <a:off x="3282696" y="2423160"/>
            <a:ext cx="2651760" cy="1920240"/>
          </a:xfrm>
          <a:prstGeom prst="roundRect">
            <a:avLst>
              <a:gd name="adj" fmla="val 2857"/>
            </a:avLst>
          </a:prstGeom>
          <a:solidFill>
            <a:srgbClr val="FFFFFF"/>
          </a:solidFill>
          <a:ln w="12700">
            <a:solidFill>
              <a:srgbClr val="E2DCD4"/>
            </a:solidFill>
            <a:prstDash val="solid"/>
          </a:ln>
        </p:spPr>
      </p:sp>
      <p:sp>
        <p:nvSpPr>
          <p:cNvPr id="11" name="Text 9"/>
          <p:cNvSpPr/>
          <p:nvPr/>
        </p:nvSpPr>
        <p:spPr>
          <a:xfrm>
            <a:off x="3465576" y="2560320"/>
            <a:ext cx="2286000" cy="411480"/>
          </a:xfrm>
          <a:prstGeom prst="rect">
            <a:avLst/>
          </a:prstGeom>
          <a:noFill/>
          <a:ln/>
        </p:spPr>
        <p:txBody>
          <a:bodyPr wrap="square" lIns="0" tIns="0" rIns="0" bIns="0" rtlCol="0" anchor="ctr"/>
          <a:lstStyle/>
          <a:p>
            <a:pPr indent="0" marL="0">
              <a:buNone/>
            </a:pPr>
            <a:r>
              <a:rPr lang="en-US" sz="1600" b="1" dirty="0">
                <a:solidFill>
                  <a:srgbClr val="2B2320"/>
                </a:solidFill>
                <a:latin typeface="Cambria" pitchFamily="34" charset="0"/>
                <a:ea typeface="Cambria" pitchFamily="34" charset="-122"/>
                <a:cs typeface="Cambria" pitchFamily="34" charset="-120"/>
              </a:rPr>
              <a:t>P_PINN</a:t>
            </a:r>
            <a:endParaRPr lang="en-US" sz="1600" dirty="0"/>
          </a:p>
        </p:txBody>
      </p:sp>
      <p:sp>
        <p:nvSpPr>
          <p:cNvPr id="12" name="Text 10"/>
          <p:cNvSpPr/>
          <p:nvPr/>
        </p:nvSpPr>
        <p:spPr>
          <a:xfrm>
            <a:off x="3465576" y="2926080"/>
            <a:ext cx="2286000" cy="457200"/>
          </a:xfrm>
          <a:prstGeom prst="rect">
            <a:avLst/>
          </a:prstGeom>
          <a:noFill/>
          <a:ln/>
        </p:spPr>
        <p:txBody>
          <a:bodyPr wrap="square" lIns="0" tIns="0" rIns="0" bIns="0" rtlCol="0" anchor="ctr"/>
          <a:lstStyle/>
          <a:p>
            <a:pPr indent="0" marL="0">
              <a:buNone/>
            </a:pPr>
            <a:r>
              <a:rPr lang="en-US" sz="2200" b="1" dirty="0">
                <a:solidFill>
                  <a:srgbClr val="5E7C5B"/>
                </a:solidFill>
                <a:latin typeface="Cambria" pitchFamily="34" charset="0"/>
                <a:ea typeface="Cambria" pitchFamily="34" charset="-122"/>
                <a:cs typeface="Cambria" pitchFamily="34" charset="-120"/>
              </a:rPr>
              <a:t>+0.014</a:t>
            </a:r>
            <a:endParaRPr lang="en-US" sz="2200" dirty="0"/>
          </a:p>
        </p:txBody>
      </p:sp>
      <p:sp>
        <p:nvSpPr>
          <p:cNvPr id="13" name="Text 11"/>
          <p:cNvSpPr/>
          <p:nvPr/>
        </p:nvSpPr>
        <p:spPr>
          <a:xfrm>
            <a:off x="3465576" y="3429000"/>
            <a:ext cx="2286000" cy="822960"/>
          </a:xfrm>
          <a:prstGeom prst="rect">
            <a:avLst/>
          </a:prstGeom>
          <a:noFill/>
          <a:ln/>
        </p:spPr>
        <p:txBody>
          <a:bodyPr wrap="square" lIns="0" tIns="0" rIns="0" bIns="0" rtlCol="0" anchor="ctr"/>
          <a:lstStyle/>
          <a:p>
            <a:pPr indent="0" marL="0">
              <a:lnSpc>
                <a:spcPct val="110000"/>
              </a:lnSpc>
              <a:buNone/>
            </a:pPr>
            <a:r>
              <a:rPr lang="en-US" sz="1050" dirty="0">
                <a:solidFill>
                  <a:srgbClr val="5C5450"/>
                </a:solidFill>
                <a:latin typeface="Calibri" pitchFamily="34" charset="0"/>
                <a:ea typeface="Calibri" pitchFamily="34" charset="-122"/>
                <a:cs typeface="Calibri" pitchFamily="34" charset="-120"/>
              </a:rPr>
              <a:t>Physics-regularized baseline</a:t>
            </a:r>
            <a:endParaRPr lang="en-US" sz="1050" dirty="0"/>
          </a:p>
          <a:p>
            <a:pPr indent="0" marL="0">
              <a:lnSpc>
                <a:spcPct val="110000"/>
              </a:lnSpc>
              <a:buNone/>
            </a:pPr>
            <a:r>
              <a:rPr lang="en-US" sz="1050" dirty="0">
                <a:solidFill>
                  <a:srgbClr val="5C5450"/>
                </a:solidFill>
                <a:latin typeface="Calibri" pitchFamily="34" charset="0"/>
                <a:ea typeface="Calibri" pitchFamily="34" charset="-122"/>
                <a:cs typeface="Calibri" pitchFamily="34" charset="-120"/>
              </a:rPr>
              <a:t>probability</a:t>
            </a:r>
            <a:endParaRPr lang="en-US" sz="1050" dirty="0"/>
          </a:p>
        </p:txBody>
      </p:sp>
      <p:sp>
        <p:nvSpPr>
          <p:cNvPr id="14" name="Shape 12"/>
          <p:cNvSpPr/>
          <p:nvPr/>
        </p:nvSpPr>
        <p:spPr>
          <a:xfrm>
            <a:off x="6153912" y="2423160"/>
            <a:ext cx="2651760" cy="1920240"/>
          </a:xfrm>
          <a:prstGeom prst="roundRect">
            <a:avLst>
              <a:gd name="adj" fmla="val 2857"/>
            </a:avLst>
          </a:prstGeom>
          <a:solidFill>
            <a:srgbClr val="FFFFFF"/>
          </a:solidFill>
          <a:ln w="12700">
            <a:solidFill>
              <a:srgbClr val="E2DCD4"/>
            </a:solidFill>
            <a:prstDash val="solid"/>
          </a:ln>
        </p:spPr>
      </p:sp>
      <p:sp>
        <p:nvSpPr>
          <p:cNvPr id="15" name="Text 13"/>
          <p:cNvSpPr/>
          <p:nvPr/>
        </p:nvSpPr>
        <p:spPr>
          <a:xfrm>
            <a:off x="6336792" y="2560320"/>
            <a:ext cx="2286000" cy="411480"/>
          </a:xfrm>
          <a:prstGeom prst="rect">
            <a:avLst/>
          </a:prstGeom>
          <a:noFill/>
          <a:ln/>
        </p:spPr>
        <p:txBody>
          <a:bodyPr wrap="square" lIns="0" tIns="0" rIns="0" bIns="0" rtlCol="0" anchor="ctr"/>
          <a:lstStyle/>
          <a:p>
            <a:pPr indent="0" marL="0">
              <a:buNone/>
            </a:pPr>
            <a:r>
              <a:rPr lang="en-US" sz="1600" b="1" dirty="0">
                <a:solidFill>
                  <a:srgbClr val="2B2320"/>
                </a:solidFill>
                <a:latin typeface="Cambria" pitchFamily="34" charset="0"/>
                <a:ea typeface="Cambria" pitchFamily="34" charset="-122"/>
                <a:cs typeface="Cambria" pitchFamily="34" charset="-120"/>
              </a:rPr>
              <a:t>1 / FoS</a:t>
            </a:r>
            <a:endParaRPr lang="en-US" sz="1600" dirty="0"/>
          </a:p>
        </p:txBody>
      </p:sp>
      <p:sp>
        <p:nvSpPr>
          <p:cNvPr id="16" name="Text 14"/>
          <p:cNvSpPr/>
          <p:nvPr/>
        </p:nvSpPr>
        <p:spPr>
          <a:xfrm>
            <a:off x="6336792" y="2926080"/>
            <a:ext cx="2286000" cy="457200"/>
          </a:xfrm>
          <a:prstGeom prst="rect">
            <a:avLst/>
          </a:prstGeom>
          <a:noFill/>
          <a:ln/>
        </p:spPr>
        <p:txBody>
          <a:bodyPr wrap="square" lIns="0" tIns="0" rIns="0" bIns="0" rtlCol="0" anchor="ctr"/>
          <a:lstStyle/>
          <a:p>
            <a:pPr indent="0" marL="0">
              <a:buNone/>
            </a:pPr>
            <a:r>
              <a:rPr lang="en-US" sz="2200" b="1" dirty="0">
                <a:solidFill>
                  <a:srgbClr val="5E7C5B"/>
                </a:solidFill>
                <a:latin typeface="Cambria" pitchFamily="34" charset="0"/>
                <a:ea typeface="Cambria" pitchFamily="34" charset="-122"/>
                <a:cs typeface="Cambria" pitchFamily="34" charset="-120"/>
              </a:rPr>
              <a:t>−1.45</a:t>
            </a:r>
            <a:endParaRPr lang="en-US" sz="2200" dirty="0"/>
          </a:p>
        </p:txBody>
      </p:sp>
      <p:sp>
        <p:nvSpPr>
          <p:cNvPr id="17" name="Text 15"/>
          <p:cNvSpPr/>
          <p:nvPr/>
        </p:nvSpPr>
        <p:spPr>
          <a:xfrm>
            <a:off x="6336792" y="3429000"/>
            <a:ext cx="2286000" cy="822960"/>
          </a:xfrm>
          <a:prstGeom prst="rect">
            <a:avLst/>
          </a:prstGeom>
          <a:noFill/>
          <a:ln/>
        </p:spPr>
        <p:txBody>
          <a:bodyPr wrap="square" lIns="0" tIns="0" rIns="0" bIns="0" rtlCol="0" anchor="ctr"/>
          <a:lstStyle/>
          <a:p>
            <a:pPr indent="0" marL="0">
              <a:lnSpc>
                <a:spcPct val="110000"/>
              </a:lnSpc>
              <a:buNone/>
            </a:pPr>
            <a:r>
              <a:rPr lang="en-US" sz="1050" dirty="0">
                <a:solidFill>
                  <a:srgbClr val="5C5450"/>
                </a:solidFill>
                <a:latin typeface="Calibri" pitchFamily="34" charset="0"/>
                <a:ea typeface="Calibri" pitchFamily="34" charset="-122"/>
                <a:cs typeface="Calibri" pitchFamily="34" charset="-120"/>
              </a:rPr>
              <a:t>Analytical limit-equilibrium</a:t>
            </a:r>
            <a:endParaRPr lang="en-US" sz="1050" dirty="0"/>
          </a:p>
          <a:p>
            <a:pPr indent="0" marL="0">
              <a:lnSpc>
                <a:spcPct val="110000"/>
              </a:lnSpc>
              <a:buNone/>
            </a:pPr>
            <a:r>
              <a:rPr lang="en-US" sz="1050" dirty="0">
                <a:solidFill>
                  <a:srgbClr val="5C5450"/>
                </a:solidFill>
                <a:latin typeface="Calibri" pitchFamily="34" charset="0"/>
                <a:ea typeface="Calibri" pitchFamily="34" charset="-122"/>
                <a:cs typeface="Calibri" pitchFamily="34" charset="-120"/>
              </a:rPr>
              <a:t>penalty term</a:t>
            </a:r>
            <a:endParaRPr lang="en-US" sz="1050" dirty="0"/>
          </a:p>
        </p:txBody>
      </p:sp>
      <p:sp>
        <p:nvSpPr>
          <p:cNvPr id="18" name="Shape 16"/>
          <p:cNvSpPr/>
          <p:nvPr/>
        </p:nvSpPr>
        <p:spPr>
          <a:xfrm>
            <a:off x="9025128" y="2423160"/>
            <a:ext cx="2651760" cy="1920240"/>
          </a:xfrm>
          <a:prstGeom prst="roundRect">
            <a:avLst>
              <a:gd name="adj" fmla="val 2857"/>
            </a:avLst>
          </a:prstGeom>
          <a:solidFill>
            <a:srgbClr val="FFFFFF"/>
          </a:solidFill>
          <a:ln w="12700">
            <a:solidFill>
              <a:srgbClr val="E2DCD4"/>
            </a:solidFill>
            <a:prstDash val="solid"/>
          </a:ln>
        </p:spPr>
      </p:sp>
      <p:sp>
        <p:nvSpPr>
          <p:cNvPr id="19" name="Text 17"/>
          <p:cNvSpPr/>
          <p:nvPr/>
        </p:nvSpPr>
        <p:spPr>
          <a:xfrm>
            <a:off x="9208008" y="2560320"/>
            <a:ext cx="2286000" cy="411480"/>
          </a:xfrm>
          <a:prstGeom prst="rect">
            <a:avLst/>
          </a:prstGeom>
          <a:noFill/>
          <a:ln/>
        </p:spPr>
        <p:txBody>
          <a:bodyPr wrap="square" lIns="0" tIns="0" rIns="0" bIns="0" rtlCol="0" anchor="ctr"/>
          <a:lstStyle/>
          <a:p>
            <a:pPr indent="0" marL="0">
              <a:buNone/>
            </a:pPr>
            <a:r>
              <a:rPr lang="en-US" sz="1600" b="1" dirty="0">
                <a:solidFill>
                  <a:srgbClr val="2B2320"/>
                </a:solidFill>
                <a:latin typeface="Cambria" pitchFamily="34" charset="0"/>
                <a:ea typeface="Cambria" pitchFamily="34" charset="-122"/>
                <a:cs typeface="Cambria" pitchFamily="34" charset="-120"/>
              </a:rPr>
              <a:t>σ_MC</a:t>
            </a:r>
            <a:endParaRPr lang="en-US" sz="1600" dirty="0"/>
          </a:p>
        </p:txBody>
      </p:sp>
      <p:sp>
        <p:nvSpPr>
          <p:cNvPr id="20" name="Text 18"/>
          <p:cNvSpPr/>
          <p:nvPr/>
        </p:nvSpPr>
        <p:spPr>
          <a:xfrm>
            <a:off x="9208008" y="2926080"/>
            <a:ext cx="2286000" cy="457200"/>
          </a:xfrm>
          <a:prstGeom prst="rect">
            <a:avLst/>
          </a:prstGeom>
          <a:noFill/>
          <a:ln/>
        </p:spPr>
        <p:txBody>
          <a:bodyPr wrap="square" lIns="0" tIns="0" rIns="0" bIns="0" rtlCol="0" anchor="ctr"/>
          <a:lstStyle/>
          <a:p>
            <a:pPr indent="0" marL="0">
              <a:buNone/>
            </a:pPr>
            <a:r>
              <a:rPr lang="en-US" sz="2200" b="1" dirty="0">
                <a:solidFill>
                  <a:srgbClr val="5E7C5B"/>
                </a:solidFill>
                <a:latin typeface="Cambria" pitchFamily="34" charset="0"/>
                <a:ea typeface="Cambria" pitchFamily="34" charset="-122"/>
                <a:cs typeface="Cambria" pitchFamily="34" charset="-120"/>
              </a:rPr>
              <a:t>+0.28</a:t>
            </a:r>
            <a:endParaRPr lang="en-US" sz="2200" dirty="0"/>
          </a:p>
        </p:txBody>
      </p:sp>
      <p:sp>
        <p:nvSpPr>
          <p:cNvPr id="21" name="Text 19"/>
          <p:cNvSpPr/>
          <p:nvPr/>
        </p:nvSpPr>
        <p:spPr>
          <a:xfrm>
            <a:off x="9208008" y="3429000"/>
            <a:ext cx="2286000" cy="822960"/>
          </a:xfrm>
          <a:prstGeom prst="rect">
            <a:avLst/>
          </a:prstGeom>
          <a:noFill/>
          <a:ln/>
        </p:spPr>
        <p:txBody>
          <a:bodyPr wrap="square" lIns="0" tIns="0" rIns="0" bIns="0" rtlCol="0" anchor="ctr"/>
          <a:lstStyle/>
          <a:p>
            <a:pPr indent="0" marL="0">
              <a:lnSpc>
                <a:spcPct val="110000"/>
              </a:lnSpc>
              <a:buNone/>
            </a:pPr>
            <a:r>
              <a:rPr lang="en-US" sz="1050" dirty="0">
                <a:solidFill>
                  <a:srgbClr val="5C5450"/>
                </a:solidFill>
                <a:latin typeface="Calibri" pitchFamily="34" charset="0"/>
                <a:ea typeface="Calibri" pitchFamily="34" charset="-122"/>
                <a:cs typeface="Calibri" pitchFamily="34" charset="-120"/>
              </a:rPr>
              <a:t>Epistemic dispersion</a:t>
            </a:r>
            <a:endParaRPr lang="en-US" sz="1050" dirty="0"/>
          </a:p>
          <a:p>
            <a:pPr indent="0" marL="0">
              <a:lnSpc>
                <a:spcPct val="110000"/>
              </a:lnSpc>
              <a:buNone/>
            </a:pPr>
            <a:r>
              <a:rPr lang="en-US" sz="1050" dirty="0">
                <a:solidFill>
                  <a:srgbClr val="5C5450"/>
                </a:solidFill>
                <a:latin typeface="Calibri" pitchFamily="34" charset="0"/>
                <a:ea typeface="Calibri" pitchFamily="34" charset="-122"/>
                <a:cs typeface="Calibri" pitchFamily="34" charset="-120"/>
              </a:rPr>
              <a:t>modulator</a:t>
            </a:r>
            <a:endParaRPr lang="en-US" sz="1050" dirty="0"/>
          </a:p>
        </p:txBody>
      </p:sp>
      <p:sp>
        <p:nvSpPr>
          <p:cNvPr id="22" name="Shape 20"/>
          <p:cNvSpPr/>
          <p:nvPr/>
        </p:nvSpPr>
        <p:spPr>
          <a:xfrm>
            <a:off x="411480" y="4617720"/>
            <a:ext cx="11338560" cy="1691640"/>
          </a:xfrm>
          <a:prstGeom prst="roundRect">
            <a:avLst>
              <a:gd name="adj" fmla="val 3243"/>
            </a:avLst>
          </a:prstGeom>
          <a:solidFill>
            <a:srgbClr val="FBEDEA"/>
          </a:solidFill>
          <a:ln/>
        </p:spPr>
      </p:sp>
      <p:sp>
        <p:nvSpPr>
          <p:cNvPr id="23" name="Text 21"/>
          <p:cNvSpPr/>
          <p:nvPr/>
        </p:nvSpPr>
        <p:spPr>
          <a:xfrm>
            <a:off x="685800" y="4754880"/>
            <a:ext cx="10881360" cy="50292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0.9862 ROC-AUC  ·  0.9273 PR-AUC  ·  0.8755 F1</a:t>
            </a:r>
            <a:endParaRPr lang="en-US" sz="2000" dirty="0"/>
          </a:p>
        </p:txBody>
      </p:sp>
      <p:sp>
        <p:nvSpPr>
          <p:cNvPr id="24" name="Text 22"/>
          <p:cNvSpPr/>
          <p:nvPr/>
        </p:nvSpPr>
        <p:spPr>
          <a:xfrm>
            <a:off x="685800" y="5257800"/>
            <a:ext cx="10881360" cy="960120"/>
          </a:xfrm>
          <a:prstGeom prst="rect">
            <a:avLst/>
          </a:prstGeom>
          <a:noFill/>
          <a:ln/>
        </p:spPr>
        <p:txBody>
          <a:bodyPr wrap="square" lIns="0" tIns="0" rIns="0" bIns="0" rtlCol="0" anchor="ctr"/>
          <a:lstStyle/>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on the random test split — combining the raw classification power of gradient-boosted trees with the physical bounds of the PINN. HGB captures complex empirical interactions; the PINN guards physical plausibility under conditions never seen in training.</a:t>
            </a:r>
            <a:endParaRPr lang="en-US" sz="1200" dirty="0"/>
          </a:p>
        </p:txBody>
      </p:sp>
      <p:sp>
        <p:nvSpPr>
          <p:cNvPr id="25" name="Text 23"/>
          <p:cNvSpPr/>
          <p:nvPr/>
        </p:nvSpPr>
        <p:spPr>
          <a:xfrm>
            <a:off x="411480" y="6537960"/>
            <a:ext cx="5486400" cy="274320"/>
          </a:xfrm>
          <a:prstGeom prst="rect">
            <a:avLst/>
          </a:prstGeom>
          <a:noFill/>
          <a:ln/>
        </p:spPr>
        <p:txBody>
          <a:bodyPr wrap="square"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26" name="Text 24"/>
          <p:cNvSpPr/>
          <p:nvPr/>
        </p:nvSpPr>
        <p:spPr>
          <a:xfrm>
            <a:off x="11338560" y="6537960"/>
            <a:ext cx="457200" cy="274320"/>
          </a:xfrm>
          <a:prstGeom prst="rect">
            <a:avLst/>
          </a:prstGeom>
          <a:noFill/>
          <a:ln/>
        </p:spPr>
        <p:txBody>
          <a:bodyPr wrap="square"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320040"/>
            <a:ext cx="11338560" cy="54864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Trustworthy Probabilities: Calibration &amp; Uncertainty</a:t>
            </a:r>
            <a:endParaRPr lang="en-US" sz="2700" dirty="0"/>
          </a:p>
        </p:txBody>
      </p:sp>
      <p:sp>
        <p:nvSpPr>
          <p:cNvPr id="3" name="Text 1"/>
          <p:cNvSpPr/>
          <p:nvPr/>
        </p:nvSpPr>
        <p:spPr>
          <a:xfrm>
            <a:off x="411480" y="804672"/>
            <a:ext cx="11338560" cy="32004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A risk score is only useful in disaster response if it means what it says</a:t>
            </a:r>
            <a:endParaRPr lang="en-US" sz="1300" dirty="0"/>
          </a:p>
        </p:txBody>
      </p:sp>
      <p:sp>
        <p:nvSpPr>
          <p:cNvPr id="4" name="Shape 2"/>
          <p:cNvSpPr/>
          <p:nvPr/>
        </p:nvSpPr>
        <p:spPr>
          <a:xfrm>
            <a:off x="411480" y="1371600"/>
            <a:ext cx="5486400" cy="4572000"/>
          </a:xfrm>
          <a:prstGeom prst="roundRect">
            <a:avLst>
              <a:gd name="adj" fmla="val 1200"/>
            </a:avLst>
          </a:prstGeom>
          <a:solidFill>
            <a:srgbClr val="F2EEE8"/>
          </a:solidFill>
          <a:ln/>
        </p:spPr>
      </p:sp>
      <p:sp>
        <p:nvSpPr>
          <p:cNvPr id="5" name="Shape 3"/>
          <p:cNvSpPr/>
          <p:nvPr/>
        </p:nvSpPr>
        <p:spPr>
          <a:xfrm>
            <a:off x="685800" y="1600200"/>
            <a:ext cx="502920" cy="502920"/>
          </a:xfrm>
          <a:prstGeom prst="ellipse">
            <a:avLst/>
          </a:prstGeom>
          <a:solidFill>
            <a:srgbClr val="5E7C5B"/>
          </a:solidFill>
          <a:ln/>
        </p:spPr>
      </p:sp>
      <p:pic>
        <p:nvPicPr>
          <p:cNvPr id="6" name="Image 0" descr="icons/target.png">    </p:cNvPr>
          <p:cNvPicPr>
            <a:picLocks noChangeAspect="1"/>
          </p:cNvPicPr>
          <p:nvPr/>
        </p:nvPicPr>
        <p:blipFill>
          <a:blip r:embed="rId1"/>
          <a:stretch>
            <a:fillRect/>
          </a:stretch>
        </p:blipFill>
        <p:spPr>
          <a:xfrm>
            <a:off x="795528" y="1709928"/>
            <a:ext cx="283464" cy="283464"/>
          </a:xfrm>
          <a:prstGeom prst="rect">
            <a:avLst/>
          </a:prstGeom>
        </p:spPr>
      </p:pic>
      <p:sp>
        <p:nvSpPr>
          <p:cNvPr id="7" name="Text 4"/>
          <p:cNvSpPr/>
          <p:nvPr/>
        </p:nvSpPr>
        <p:spPr>
          <a:xfrm>
            <a:off x="1371600" y="1627632"/>
            <a:ext cx="4297680" cy="45720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Post-Hoc Temperature Scaling</a:t>
            </a:r>
            <a:endParaRPr lang="en-US" sz="1500" dirty="0"/>
          </a:p>
        </p:txBody>
      </p:sp>
      <p:sp>
        <p:nvSpPr>
          <p:cNvPr id="8" name="Text 5"/>
          <p:cNvSpPr/>
          <p:nvPr/>
        </p:nvSpPr>
        <p:spPr>
          <a:xfrm>
            <a:off x="685800" y="2286000"/>
            <a:ext cx="4937760" cy="502920"/>
          </a:xfrm>
          <a:prstGeom prst="rect">
            <a:avLst/>
          </a:prstGeom>
          <a:noFill/>
          <a:ln/>
        </p:spPr>
        <p:txBody>
          <a:bodyPr wrap="square" lIns="0" tIns="0" rIns="0" bIns="0" rtlCol="0" anchor="ctr"/>
          <a:lstStyle/>
          <a:p>
            <a:pPr indent="0" marL="0">
              <a:buNone/>
            </a:pPr>
            <a:r>
              <a:rPr lang="en-US" sz="2600" b="1" dirty="0">
                <a:solidFill>
                  <a:srgbClr val="5E7C5B"/>
                </a:solidFill>
                <a:latin typeface="Cambria" pitchFamily="34" charset="0"/>
                <a:ea typeface="Cambria" pitchFamily="34" charset="-122"/>
                <a:cs typeface="Cambria" pitchFamily="34" charset="-120"/>
              </a:rPr>
              <a:t>T = 1.0804</a:t>
            </a:r>
            <a:pPr indent="0" marL="0">
              <a:buNone/>
            </a:pPr>
            <a:r>
              <a:rPr lang="en-US" sz="1300" i="1" dirty="0">
                <a:solidFill>
                  <a:srgbClr val="5C5450"/>
                </a:solidFill>
                <a:latin typeface="Calibri" pitchFamily="34" charset="0"/>
                <a:ea typeface="Calibri" pitchFamily="34" charset="-122"/>
                <a:cs typeface="Calibri" pitchFamily="34" charset="-120"/>
              </a:rPr>
              <a:t>  (near-optimal)</a:t>
            </a:r>
            <a:endParaRPr lang="en-US" sz="2600" dirty="0"/>
          </a:p>
        </p:txBody>
      </p:sp>
      <p:sp>
        <p:nvSpPr>
          <p:cNvPr id="9" name="Text 6"/>
          <p:cNvSpPr/>
          <p:nvPr/>
        </p:nvSpPr>
        <p:spPr>
          <a:xfrm>
            <a:off x="685800" y="2880360"/>
            <a:ext cx="4937760" cy="2743200"/>
          </a:xfrm>
          <a:prstGeom prst="rect">
            <a:avLst/>
          </a:prstGeom>
          <a:noFill/>
          <a:ln/>
        </p:spPr>
        <p:txBody>
          <a:bodyPr wrap="square" lIns="0" tIns="0" rIns="0" bIns="0" rtlCol="0" anchor="t"/>
          <a:lstStyle/>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Raw network logits are rescaled by a single learned scalar T, optimized on held-out data to minimize negative log-likelihood — network weights are untouched.
</a:t>
            </a:r>
            <a:endParaRPr lang="en-US" sz="1200" dirty="0"/>
          </a:p>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T &gt; 1.0 confirms the raw network was overconfident. Dividing by 1.0804 softens extreme probabilities (e.g. 0.999 → 0.940), verified against actual empirical frequency via reliability diagrams.</a:t>
            </a:r>
            <a:endParaRPr lang="en-US" sz="1200" dirty="0"/>
          </a:p>
        </p:txBody>
      </p:sp>
      <p:sp>
        <p:nvSpPr>
          <p:cNvPr id="10" name="Shape 7"/>
          <p:cNvSpPr/>
          <p:nvPr/>
        </p:nvSpPr>
        <p:spPr>
          <a:xfrm>
            <a:off x="6172200" y="1371600"/>
            <a:ext cx="5577840" cy="4572000"/>
          </a:xfrm>
          <a:prstGeom prst="roundRect">
            <a:avLst>
              <a:gd name="adj" fmla="val 1200"/>
            </a:avLst>
          </a:prstGeom>
          <a:solidFill>
            <a:srgbClr val="F2EEE8"/>
          </a:solidFill>
          <a:ln/>
        </p:spPr>
      </p:sp>
      <p:sp>
        <p:nvSpPr>
          <p:cNvPr id="11" name="Shape 8"/>
          <p:cNvSpPr/>
          <p:nvPr/>
        </p:nvSpPr>
        <p:spPr>
          <a:xfrm>
            <a:off x="6446520" y="1600200"/>
            <a:ext cx="502920" cy="502920"/>
          </a:xfrm>
          <a:prstGeom prst="ellipse">
            <a:avLst/>
          </a:prstGeom>
          <a:solidFill>
            <a:srgbClr val="5E7C5B"/>
          </a:solidFill>
          <a:ln/>
        </p:spPr>
      </p:sp>
      <p:pic>
        <p:nvPicPr>
          <p:cNvPr id="12" name="Image 1" descr="icons/activity.png">    </p:cNvPr>
          <p:cNvPicPr>
            <a:picLocks noChangeAspect="1"/>
          </p:cNvPicPr>
          <p:nvPr/>
        </p:nvPicPr>
        <p:blipFill>
          <a:blip r:embed="rId2"/>
          <a:stretch>
            <a:fillRect/>
          </a:stretch>
        </p:blipFill>
        <p:spPr>
          <a:xfrm>
            <a:off x="6556248" y="1709928"/>
            <a:ext cx="283464" cy="283464"/>
          </a:xfrm>
          <a:prstGeom prst="rect">
            <a:avLst/>
          </a:prstGeom>
        </p:spPr>
      </p:pic>
      <p:sp>
        <p:nvSpPr>
          <p:cNvPr id="13" name="Text 9"/>
          <p:cNvSpPr/>
          <p:nvPr/>
        </p:nvSpPr>
        <p:spPr>
          <a:xfrm>
            <a:off x="7132320" y="1627632"/>
            <a:ext cx="4480560" cy="45720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Epistemic Uncertainty via MC Dropout</a:t>
            </a:r>
            <a:endParaRPr lang="en-US" sz="1500" dirty="0"/>
          </a:p>
        </p:txBody>
      </p:sp>
      <p:sp>
        <p:nvSpPr>
          <p:cNvPr id="14" name="Text 10"/>
          <p:cNvSpPr/>
          <p:nvPr/>
        </p:nvSpPr>
        <p:spPr>
          <a:xfrm>
            <a:off x="6446520" y="2286000"/>
            <a:ext cx="5029200" cy="502920"/>
          </a:xfrm>
          <a:prstGeom prst="rect">
            <a:avLst/>
          </a:prstGeom>
          <a:noFill/>
          <a:ln/>
        </p:spPr>
        <p:txBody>
          <a:bodyPr wrap="square" lIns="0" tIns="0" rIns="0" bIns="0" rtlCol="0" anchor="ctr"/>
          <a:lstStyle/>
          <a:p>
            <a:pPr indent="0" marL="0">
              <a:buNone/>
            </a:pPr>
            <a:r>
              <a:rPr lang="en-US" sz="2600" b="1" dirty="0">
                <a:solidFill>
                  <a:srgbClr val="5E7C5B"/>
                </a:solidFill>
                <a:latin typeface="Cambria" pitchFamily="34" charset="0"/>
                <a:ea typeface="Cambria" pitchFamily="34" charset="-122"/>
                <a:cs typeface="Cambria" pitchFamily="34" charset="-120"/>
              </a:rPr>
              <a:t>N = 50</a:t>
            </a:r>
            <a:pPr indent="0" marL="0">
              <a:buNone/>
            </a:pPr>
            <a:r>
              <a:rPr lang="en-US" sz="1300" i="1" dirty="0">
                <a:solidFill>
                  <a:srgbClr val="5C5450"/>
                </a:solidFill>
                <a:latin typeface="Calibri" pitchFamily="34" charset="0"/>
                <a:ea typeface="Calibri" pitchFamily="34" charset="-122"/>
                <a:cs typeface="Calibri" pitchFamily="34" charset="-120"/>
              </a:rPr>
              <a:t>  stochastic forward passes</a:t>
            </a:r>
            <a:endParaRPr lang="en-US" sz="2600" dirty="0"/>
          </a:p>
        </p:txBody>
      </p:sp>
      <p:sp>
        <p:nvSpPr>
          <p:cNvPr id="15" name="Text 11"/>
          <p:cNvSpPr/>
          <p:nvPr/>
        </p:nvSpPr>
        <p:spPr>
          <a:xfrm>
            <a:off x="6446520" y="2880360"/>
            <a:ext cx="5029200" cy="2743200"/>
          </a:xfrm>
          <a:prstGeom prst="rect">
            <a:avLst/>
          </a:prstGeom>
          <a:noFill/>
          <a:ln/>
        </p:spPr>
        <p:txBody>
          <a:bodyPr wrap="square" lIns="0" tIns="0" rIns="0" bIns="0" rtlCol="0" anchor="t"/>
          <a:lstStyle/>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Dropout (p = 0.10) stays active at inference. The mean (μ) across passes gives the consensus failure probability; the standard deviation (σ) is the model's uncertainty about its own parameters.
</a:t>
            </a:r>
            <a:endParaRPr lang="en-US" sz="1200" dirty="0"/>
          </a:p>
          <a:p>
            <a:pPr indent="0" marL="0">
              <a:lnSpc>
                <a:spcPct val="115000"/>
              </a:lnSpc>
              <a:buNone/>
            </a:pPr>
            <a:r>
              <a:rPr lang="en-US" sz="1200" b="1" dirty="0">
                <a:solidFill>
                  <a:srgbClr val="2B2320"/>
                </a:solidFill>
                <a:latin typeface="Calibri" pitchFamily="34" charset="0"/>
                <a:ea typeface="Calibri" pitchFamily="34" charset="-122"/>
                <a:cs typeface="Calibri" pitchFamily="34" charset="-120"/>
              </a:rPr>
              <a:t>Familiar terrain: </a:t>
            </a:r>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P = 0.52, σ = 0.03  ·  </a:t>
            </a:r>
            <a:pPr indent="0" marL="0">
              <a:lnSpc>
                <a:spcPct val="115000"/>
              </a:lnSpc>
              <a:buNone/>
            </a:pPr>
            <a:r>
              <a:rPr lang="en-US" sz="1200" b="1" dirty="0">
                <a:solidFill>
                  <a:srgbClr val="2B2320"/>
                </a:solidFill>
                <a:latin typeface="Calibri" pitchFamily="34" charset="0"/>
                <a:ea typeface="Calibri" pitchFamily="34" charset="-122"/>
                <a:cs typeface="Calibri" pitchFamily="34" charset="-120"/>
              </a:rPr>
              <a:t>Unfamiliar terrain: </a:t>
            </a:r>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P = 0.52, σ = 0.28
</a:t>
            </a:r>
            <a:endParaRPr lang="en-US" sz="1200" dirty="0"/>
          </a:p>
          <a:p>
            <a:pPr indent="0" marL="0">
              <a:lnSpc>
                <a:spcPct val="115000"/>
              </a:lnSpc>
              <a:buNone/>
            </a:pPr>
            <a:r>
              <a:rPr lang="en-US" sz="1200" dirty="0">
                <a:solidFill>
                  <a:srgbClr val="5C5450"/>
                </a:solidFill>
                <a:latin typeface="Calibri" pitchFamily="34" charset="0"/>
                <a:ea typeface="Calibri" pitchFamily="34" charset="-122"/>
                <a:cs typeface="Calibri" pitchFamily="34" charset="-120"/>
              </a:rPr>
              <a:t>High-σ slopes route automatically to the Targeted Geotechnical Site Survey Protocol.</a:t>
            </a:r>
            <a:endParaRPr lang="en-US" sz="1200" dirty="0"/>
          </a:p>
        </p:txBody>
      </p:sp>
      <p:sp>
        <p:nvSpPr>
          <p:cNvPr id="16" name="Text 12"/>
          <p:cNvSpPr/>
          <p:nvPr/>
        </p:nvSpPr>
        <p:spPr>
          <a:xfrm>
            <a:off x="411480" y="6537960"/>
            <a:ext cx="5486400" cy="274320"/>
          </a:xfrm>
          <a:prstGeom prst="rect">
            <a:avLst/>
          </a:prstGeom>
          <a:noFill/>
          <a:ln/>
        </p:spPr>
        <p:txBody>
          <a:bodyPr wrap="square"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17" name="Text 13"/>
          <p:cNvSpPr/>
          <p:nvPr/>
        </p:nvSpPr>
        <p:spPr>
          <a:xfrm>
            <a:off x="11338560" y="6537960"/>
            <a:ext cx="457200" cy="274320"/>
          </a:xfrm>
          <a:prstGeom prst="rect">
            <a:avLst/>
          </a:prstGeom>
          <a:noFill/>
          <a:ln/>
        </p:spPr>
        <p:txBody>
          <a:bodyPr wrap="square"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320040"/>
            <a:ext cx="11338560" cy="54864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Proving Genuine Generalization: 8-State LOSO</a:t>
            </a:r>
            <a:endParaRPr lang="en-US" sz="2700" dirty="0"/>
          </a:p>
        </p:txBody>
      </p:sp>
      <p:sp>
        <p:nvSpPr>
          <p:cNvPr id="3" name="Text 1"/>
          <p:cNvSpPr/>
          <p:nvPr/>
        </p:nvSpPr>
        <p:spPr>
          <a:xfrm>
            <a:off x="411480" y="804672"/>
            <a:ext cx="11338560" cy="32004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Leave-One-State-Out cross-validation — the model never sees the test state during training</a:t>
            </a:r>
            <a:endParaRPr lang="en-US" sz="1300" dirty="0"/>
          </a:p>
        </p:txBody>
      </p:sp>
      <p:sp>
        <p:nvSpPr>
          <p:cNvPr id="4" name="Text 2"/>
          <p:cNvSpPr/>
          <p:nvPr/>
        </p:nvSpPr>
        <p:spPr>
          <a:xfrm>
            <a:off x="411480" y="1325880"/>
            <a:ext cx="11338560" cy="777240"/>
          </a:xfrm>
          <a:prstGeom prst="rect">
            <a:avLst/>
          </a:prstGeom>
          <a:noFill/>
          <a:ln/>
        </p:spPr>
        <p:txBody>
          <a:bodyPr wrap="square" lIns="0" tIns="0" rIns="0" bIns="0" rtlCol="0" anchor="t"/>
          <a:lstStyle/>
          <a:p>
            <a:pPr indent="0" marL="0">
              <a:lnSpc>
                <a:spcPct val="115000"/>
              </a:lnSpc>
              <a:buNone/>
            </a:pPr>
            <a:r>
              <a:rPr lang="en-US" sz="1250" b="1" dirty="0">
                <a:solidFill>
                  <a:srgbClr val="2B2320"/>
                </a:solidFill>
                <a:latin typeface="Calibri" pitchFamily="34" charset="0"/>
                <a:ea typeface="Calibri" pitchFamily="34" charset="-122"/>
                <a:cs typeface="Calibri" pitchFamily="34" charset="-120"/>
              </a:rPr>
              <a:t>Why LOSO, not a random split: </a:t>
            </a:r>
            <a:pPr indent="0" marL="0">
              <a:lnSpc>
                <a:spcPct val="115000"/>
              </a:lnSpc>
              <a:buNone/>
            </a:pPr>
            <a:r>
              <a:rPr lang="en-US" sz="1250" dirty="0">
                <a:solidFill>
                  <a:srgbClr val="5C5450"/>
                </a:solidFill>
                <a:latin typeface="Calibri" pitchFamily="34" charset="0"/>
                <a:ea typeface="Calibri" pitchFamily="34" charset="-122"/>
                <a:cs typeface="Calibri" pitchFamily="34" charset="-120"/>
              </a:rPr>
              <a:t>adjacent slope units share the same ridge, rainfall system, and lithology. A random 80/20 split leaks spatial information, inflating scores (e.g. 0.98 AUC) that collapse in real deployment on unseen terrain.</a:t>
            </a:r>
            <a:endParaRPr lang="en-US" sz="1250" dirty="0"/>
          </a:p>
        </p:txBody>
      </p:sp>
      <p:sp>
        <p:nvSpPr>
          <p:cNvPr id="5" name="Shape 3"/>
          <p:cNvSpPr/>
          <p:nvPr/>
        </p:nvSpPr>
        <p:spPr>
          <a:xfrm>
            <a:off x="411480" y="2286000"/>
            <a:ext cx="3611880" cy="1737360"/>
          </a:xfrm>
          <a:prstGeom prst="roundRect">
            <a:avLst>
              <a:gd name="adj" fmla="val 3158"/>
            </a:avLst>
          </a:prstGeom>
          <a:solidFill>
            <a:srgbClr val="F2EEE8"/>
          </a:solidFill>
          <a:ln/>
        </p:spPr>
      </p:sp>
      <p:sp>
        <p:nvSpPr>
          <p:cNvPr id="6" name="Text 4"/>
          <p:cNvSpPr/>
          <p:nvPr/>
        </p:nvSpPr>
        <p:spPr>
          <a:xfrm>
            <a:off x="640080" y="2423160"/>
            <a:ext cx="3154680" cy="685800"/>
          </a:xfrm>
          <a:prstGeom prst="rect">
            <a:avLst/>
          </a:prstGeom>
          <a:noFill/>
          <a:ln/>
        </p:spPr>
        <p:txBody>
          <a:bodyPr wrap="square" lIns="0" tIns="0" rIns="0" bIns="0" rtlCol="0" anchor="ctr"/>
          <a:lstStyle/>
          <a:p>
            <a:pPr indent="0" marL="0">
              <a:buNone/>
            </a:pPr>
            <a:r>
              <a:rPr lang="en-US" sz="3400" b="1" dirty="0">
                <a:solidFill>
                  <a:srgbClr val="5E7C5B"/>
                </a:solidFill>
                <a:latin typeface="Cambria" pitchFamily="34" charset="0"/>
                <a:ea typeface="Cambria" pitchFamily="34" charset="-122"/>
                <a:cs typeface="Cambria" pitchFamily="34" charset="-120"/>
              </a:rPr>
              <a:t>0.8788</a:t>
            </a:r>
            <a:endParaRPr lang="en-US" sz="3400" dirty="0"/>
          </a:p>
        </p:txBody>
      </p:sp>
      <p:sp>
        <p:nvSpPr>
          <p:cNvPr id="7" name="Text 5"/>
          <p:cNvSpPr/>
          <p:nvPr/>
        </p:nvSpPr>
        <p:spPr>
          <a:xfrm>
            <a:off x="640080" y="3108960"/>
            <a:ext cx="3154680" cy="365760"/>
          </a:xfrm>
          <a:prstGeom prst="rect">
            <a:avLst/>
          </a:prstGeom>
          <a:noFill/>
          <a:ln/>
        </p:spPr>
        <p:txBody>
          <a:bodyPr wrap="square" lIns="0" tIns="0" rIns="0" bIns="0" rtlCol="0" anchor="ctr"/>
          <a:lstStyle/>
          <a:p>
            <a:pPr indent="0" marL="0">
              <a:buNone/>
            </a:pPr>
            <a:r>
              <a:rPr lang="en-US" sz="1250" b="1" dirty="0">
                <a:solidFill>
                  <a:srgbClr val="2B2320"/>
                </a:solidFill>
                <a:latin typeface="Calibri" pitchFamily="34" charset="0"/>
                <a:ea typeface="Calibri" pitchFamily="34" charset="-122"/>
                <a:cs typeface="Calibri" pitchFamily="34" charset="-120"/>
              </a:rPr>
              <a:t>Mean LOSO ROC-AUC</a:t>
            </a:r>
            <a:endParaRPr lang="en-US" sz="1250" dirty="0"/>
          </a:p>
        </p:txBody>
      </p:sp>
      <p:sp>
        <p:nvSpPr>
          <p:cNvPr id="8" name="Text 6"/>
          <p:cNvSpPr/>
          <p:nvPr/>
        </p:nvSpPr>
        <p:spPr>
          <a:xfrm>
            <a:off x="640080" y="3429000"/>
            <a:ext cx="3154680" cy="502920"/>
          </a:xfrm>
          <a:prstGeom prst="rect">
            <a:avLst/>
          </a:prstGeom>
          <a:noFill/>
          <a:ln/>
        </p:spPr>
        <p:txBody>
          <a:bodyPr wrap="square" lIns="0" tIns="0" rIns="0" bIns="0" rtlCol="0" anchor="ctr"/>
          <a:lstStyle/>
          <a:p>
            <a:pPr indent="0" marL="0">
              <a:buNone/>
            </a:pPr>
            <a:r>
              <a:rPr lang="en-US" sz="1050" i="1" dirty="0">
                <a:solidFill>
                  <a:srgbClr val="5C5450"/>
                </a:solidFill>
                <a:latin typeface="Calibri" pitchFamily="34" charset="0"/>
                <a:ea typeface="Calibri" pitchFamily="34" charset="-122"/>
                <a:cs typeface="Calibri" pitchFamily="34" charset="-120"/>
              </a:rPr>
              <a:t>across all 8 held-out states</a:t>
            </a:r>
            <a:endParaRPr lang="en-US" sz="1050" dirty="0"/>
          </a:p>
        </p:txBody>
      </p:sp>
      <p:sp>
        <p:nvSpPr>
          <p:cNvPr id="9" name="Shape 7"/>
          <p:cNvSpPr/>
          <p:nvPr/>
        </p:nvSpPr>
        <p:spPr>
          <a:xfrm>
            <a:off x="4279392" y="2286000"/>
            <a:ext cx="3611880" cy="1737360"/>
          </a:xfrm>
          <a:prstGeom prst="roundRect">
            <a:avLst>
              <a:gd name="adj" fmla="val 3158"/>
            </a:avLst>
          </a:prstGeom>
          <a:solidFill>
            <a:srgbClr val="F2EEE8"/>
          </a:solidFill>
          <a:ln/>
        </p:spPr>
      </p:sp>
      <p:sp>
        <p:nvSpPr>
          <p:cNvPr id="10" name="Text 8"/>
          <p:cNvSpPr/>
          <p:nvPr/>
        </p:nvSpPr>
        <p:spPr>
          <a:xfrm>
            <a:off x="4507992" y="2423160"/>
            <a:ext cx="3154680" cy="685800"/>
          </a:xfrm>
          <a:prstGeom prst="rect">
            <a:avLst/>
          </a:prstGeom>
          <a:noFill/>
          <a:ln/>
        </p:spPr>
        <p:txBody>
          <a:bodyPr wrap="square" lIns="0" tIns="0" rIns="0" bIns="0" rtlCol="0" anchor="ctr"/>
          <a:lstStyle/>
          <a:p>
            <a:pPr indent="0" marL="0">
              <a:buNone/>
            </a:pPr>
            <a:r>
              <a:rPr lang="en-US" sz="3400" b="1" dirty="0">
                <a:solidFill>
                  <a:srgbClr val="5E7C5B"/>
                </a:solidFill>
                <a:latin typeface="Cambria" pitchFamily="34" charset="0"/>
                <a:ea typeface="Cambria" pitchFamily="34" charset="-122"/>
                <a:cs typeface="Cambria" pitchFamily="34" charset="-120"/>
              </a:rPr>
              <a:t>0.7417</a:t>
            </a:r>
            <a:endParaRPr lang="en-US" sz="3400" dirty="0"/>
          </a:p>
        </p:txBody>
      </p:sp>
      <p:sp>
        <p:nvSpPr>
          <p:cNvPr id="11" name="Text 9"/>
          <p:cNvSpPr/>
          <p:nvPr/>
        </p:nvSpPr>
        <p:spPr>
          <a:xfrm>
            <a:off x="4507992" y="3108960"/>
            <a:ext cx="3154680" cy="365760"/>
          </a:xfrm>
          <a:prstGeom prst="rect">
            <a:avLst/>
          </a:prstGeom>
          <a:noFill/>
          <a:ln/>
        </p:spPr>
        <p:txBody>
          <a:bodyPr wrap="square" lIns="0" tIns="0" rIns="0" bIns="0" rtlCol="0" anchor="ctr"/>
          <a:lstStyle/>
          <a:p>
            <a:pPr indent="0" marL="0">
              <a:buNone/>
            </a:pPr>
            <a:r>
              <a:rPr lang="en-US" sz="1250" b="1" dirty="0">
                <a:solidFill>
                  <a:srgbClr val="2B2320"/>
                </a:solidFill>
                <a:latin typeface="Calibri" pitchFamily="34" charset="0"/>
                <a:ea typeface="Calibri" pitchFamily="34" charset="-122"/>
                <a:cs typeface="Calibri" pitchFamily="34" charset="-120"/>
              </a:rPr>
              <a:t>Mean LOSO PR-AUC</a:t>
            </a:r>
            <a:endParaRPr lang="en-US" sz="1250" dirty="0"/>
          </a:p>
        </p:txBody>
      </p:sp>
      <p:sp>
        <p:nvSpPr>
          <p:cNvPr id="12" name="Text 10"/>
          <p:cNvSpPr/>
          <p:nvPr/>
        </p:nvSpPr>
        <p:spPr>
          <a:xfrm>
            <a:off x="4507992" y="3429000"/>
            <a:ext cx="3154680" cy="502920"/>
          </a:xfrm>
          <a:prstGeom prst="rect">
            <a:avLst/>
          </a:prstGeom>
          <a:noFill/>
          <a:ln/>
        </p:spPr>
        <p:txBody>
          <a:bodyPr wrap="square" lIns="0" tIns="0" rIns="0" bIns="0" rtlCol="0" anchor="ctr"/>
          <a:lstStyle/>
          <a:p>
            <a:pPr indent="0" marL="0">
              <a:buNone/>
            </a:pPr>
            <a:r>
              <a:rPr lang="en-US" sz="1050" i="1" dirty="0">
                <a:solidFill>
                  <a:srgbClr val="5C5450"/>
                </a:solidFill>
                <a:latin typeface="Calibri" pitchFamily="34" charset="0"/>
                <a:ea typeface="Calibri" pitchFamily="34" charset="-122"/>
                <a:cs typeface="Calibri" pitchFamily="34" charset="-120"/>
              </a:rPr>
              <a:t>under severe class imbalance</a:t>
            </a:r>
            <a:endParaRPr lang="en-US" sz="1050" dirty="0"/>
          </a:p>
        </p:txBody>
      </p:sp>
      <p:sp>
        <p:nvSpPr>
          <p:cNvPr id="13" name="Shape 11"/>
          <p:cNvSpPr/>
          <p:nvPr/>
        </p:nvSpPr>
        <p:spPr>
          <a:xfrm>
            <a:off x="8147304" y="2286000"/>
            <a:ext cx="3611880" cy="1737360"/>
          </a:xfrm>
          <a:prstGeom prst="roundRect">
            <a:avLst>
              <a:gd name="adj" fmla="val 3158"/>
            </a:avLst>
          </a:prstGeom>
          <a:solidFill>
            <a:srgbClr val="F2EEE8"/>
          </a:solidFill>
          <a:ln/>
        </p:spPr>
      </p:sp>
      <p:sp>
        <p:nvSpPr>
          <p:cNvPr id="14" name="Text 12"/>
          <p:cNvSpPr/>
          <p:nvPr/>
        </p:nvSpPr>
        <p:spPr>
          <a:xfrm>
            <a:off x="8375904" y="2423160"/>
            <a:ext cx="3154680" cy="685800"/>
          </a:xfrm>
          <a:prstGeom prst="rect">
            <a:avLst/>
          </a:prstGeom>
          <a:noFill/>
          <a:ln/>
        </p:spPr>
        <p:txBody>
          <a:bodyPr wrap="square" lIns="0" tIns="0" rIns="0" bIns="0" rtlCol="0" anchor="ctr"/>
          <a:lstStyle/>
          <a:p>
            <a:pPr indent="0" marL="0">
              <a:buNone/>
            </a:pPr>
            <a:r>
              <a:rPr lang="en-US" sz="3400" b="1" dirty="0">
                <a:solidFill>
                  <a:srgbClr val="5E7C5B"/>
                </a:solidFill>
                <a:latin typeface="Cambria" pitchFamily="34" charset="0"/>
                <a:ea typeface="Cambria" pitchFamily="34" charset="-122"/>
                <a:cs typeface="Cambria" pitchFamily="34" charset="-120"/>
              </a:rPr>
              <a:t>0.9817</a:t>
            </a:r>
            <a:endParaRPr lang="en-US" sz="3400" dirty="0"/>
          </a:p>
        </p:txBody>
      </p:sp>
      <p:sp>
        <p:nvSpPr>
          <p:cNvPr id="15" name="Text 13"/>
          <p:cNvSpPr/>
          <p:nvPr/>
        </p:nvSpPr>
        <p:spPr>
          <a:xfrm>
            <a:off x="8375904" y="3108960"/>
            <a:ext cx="3154680" cy="365760"/>
          </a:xfrm>
          <a:prstGeom prst="rect">
            <a:avLst/>
          </a:prstGeom>
          <a:noFill/>
          <a:ln/>
        </p:spPr>
        <p:txBody>
          <a:bodyPr wrap="square" lIns="0" tIns="0" rIns="0" bIns="0" rtlCol="0" anchor="ctr"/>
          <a:lstStyle/>
          <a:p>
            <a:pPr indent="0" marL="0">
              <a:buNone/>
            </a:pPr>
            <a:r>
              <a:rPr lang="en-US" sz="1250" b="1" dirty="0">
                <a:solidFill>
                  <a:srgbClr val="2B2320"/>
                </a:solidFill>
                <a:latin typeface="Calibri" pitchFamily="34" charset="0"/>
                <a:ea typeface="Calibri" pitchFamily="34" charset="-122"/>
                <a:cs typeface="Calibri" pitchFamily="34" charset="-120"/>
              </a:rPr>
              <a:t>Best State (Assam)</a:t>
            </a:r>
            <a:endParaRPr lang="en-US" sz="1250" dirty="0"/>
          </a:p>
        </p:txBody>
      </p:sp>
      <p:sp>
        <p:nvSpPr>
          <p:cNvPr id="16" name="Text 14"/>
          <p:cNvSpPr/>
          <p:nvPr/>
        </p:nvSpPr>
        <p:spPr>
          <a:xfrm>
            <a:off x="8375904" y="3429000"/>
            <a:ext cx="3154680" cy="502920"/>
          </a:xfrm>
          <a:prstGeom prst="rect">
            <a:avLst/>
          </a:prstGeom>
          <a:noFill/>
          <a:ln/>
        </p:spPr>
        <p:txBody>
          <a:bodyPr wrap="square" lIns="0" tIns="0" rIns="0" bIns="0" rtlCol="0" anchor="ctr"/>
          <a:lstStyle/>
          <a:p>
            <a:pPr indent="0" marL="0">
              <a:buNone/>
            </a:pPr>
            <a:r>
              <a:rPr lang="en-US" sz="1050" i="1" dirty="0">
                <a:solidFill>
                  <a:srgbClr val="5C5450"/>
                </a:solidFill>
                <a:latin typeface="Calibri" pitchFamily="34" charset="0"/>
                <a:ea typeface="Calibri" pitchFamily="34" charset="-122"/>
                <a:cs typeface="Calibri" pitchFamily="34" charset="-120"/>
              </a:rPr>
              <a:t>ROC-AUC, fully unseen</a:t>
            </a:r>
            <a:endParaRPr lang="en-US" sz="1050" dirty="0"/>
          </a:p>
        </p:txBody>
      </p:sp>
      <p:sp>
        <p:nvSpPr>
          <p:cNvPr id="17" name="Text 15"/>
          <p:cNvSpPr/>
          <p:nvPr/>
        </p:nvSpPr>
        <p:spPr>
          <a:xfrm>
            <a:off x="411480" y="4343400"/>
            <a:ext cx="11338560" cy="1188720"/>
          </a:xfrm>
          <a:prstGeom prst="rect">
            <a:avLst/>
          </a:prstGeom>
          <a:noFill/>
          <a:ln/>
        </p:spPr>
        <p:txBody>
          <a:bodyPr wrap="square" lIns="0" tIns="0" rIns="0" bIns="0" rtlCol="0" anchor="t"/>
          <a:lstStyle/>
          <a:p>
            <a:pPr indent="0" marL="0">
              <a:lnSpc>
                <a:spcPct val="115000"/>
              </a:lnSpc>
              <a:buNone/>
            </a:pPr>
            <a:r>
              <a:rPr lang="en-US" sz="1250" b="1" dirty="0">
                <a:solidFill>
                  <a:srgbClr val="2B2320"/>
                </a:solidFill>
                <a:latin typeface="Calibri" pitchFamily="34" charset="0"/>
                <a:ea typeface="Calibri" pitchFamily="34" charset="-122"/>
                <a:cs typeface="Calibri" pitchFamily="34" charset="-120"/>
              </a:rPr>
              <a:t>Why PR-AUC is the operational metric: </a:t>
            </a:r>
            <a:pPr indent="0" marL="0">
              <a:lnSpc>
                <a:spcPct val="115000"/>
              </a:lnSpc>
              <a:buNone/>
            </a:pPr>
            <a:r>
              <a:rPr lang="en-US" sz="1250" dirty="0">
                <a:solidFill>
                  <a:srgbClr val="5C5450"/>
                </a:solidFill>
                <a:latin typeface="Calibri" pitchFamily="34" charset="0"/>
                <a:ea typeface="Calibri" pitchFamily="34" charset="-122"/>
                <a:cs typeface="Calibri" pitchFamily="34" charset="-120"/>
              </a:rPr>
              <a:t>stable slopes are &gt;96% of the landscape in NE India, so ROC-AUC can stay high even with many false alarms. PR-AUC has no true-negative term — it directly measures alert reliability, and LITHOS's 0.7417 mean LOSO PR-AUC (up from 0.2127) is the real evidence of field-deployable precision.</a:t>
            </a:r>
            <a:endParaRPr lang="en-US" sz="1250" dirty="0"/>
          </a:p>
        </p:txBody>
      </p:sp>
      <p:sp>
        <p:nvSpPr>
          <p:cNvPr id="18" name="Shape 16"/>
          <p:cNvSpPr/>
          <p:nvPr/>
        </p:nvSpPr>
        <p:spPr>
          <a:xfrm>
            <a:off x="411480" y="5623560"/>
            <a:ext cx="11338560" cy="685800"/>
          </a:xfrm>
          <a:prstGeom prst="roundRect">
            <a:avLst>
              <a:gd name="adj" fmla="val 8000"/>
            </a:avLst>
          </a:prstGeom>
          <a:solidFill>
            <a:srgbClr val="FBEDEA"/>
          </a:solidFill>
          <a:ln/>
        </p:spPr>
      </p:sp>
      <p:sp>
        <p:nvSpPr>
          <p:cNvPr id="19" name="Text 17"/>
          <p:cNvSpPr/>
          <p:nvPr/>
        </p:nvSpPr>
        <p:spPr>
          <a:xfrm>
            <a:off x="685800" y="5623560"/>
            <a:ext cx="10881360" cy="685800"/>
          </a:xfrm>
          <a:prstGeom prst="rect">
            <a:avLst/>
          </a:prstGeom>
          <a:noFill/>
          <a:ln/>
        </p:spPr>
        <p:txBody>
          <a:bodyPr wrap="square" lIns="0" tIns="0" rIns="0" bIns="0" rtlCol="0" anchor="ctr"/>
          <a:lstStyle/>
          <a:p>
            <a:pPr indent="0" marL="0">
              <a:buNone/>
            </a:pPr>
            <a:r>
              <a:rPr lang="en-US" sz="1150" b="1" dirty="0">
                <a:solidFill>
                  <a:srgbClr val="B85042"/>
                </a:solidFill>
                <a:latin typeface="Calibri" pitchFamily="34" charset="0"/>
                <a:ea typeface="Calibri" pitchFamily="34" charset="-122"/>
                <a:cs typeface="Calibri" pitchFamily="34" charset="-120"/>
              </a:rPr>
              <a:t>Tripura is the honest outlier (0.71 ROC-AUC): </a:t>
            </a:r>
            <a:pPr indent="0" marL="0">
              <a:buNone/>
            </a:pPr>
            <a:r>
              <a:rPr lang="en-US" sz="1150" dirty="0">
                <a:solidFill>
                  <a:srgbClr val="5C5450"/>
                </a:solidFill>
                <a:latin typeface="Calibri" pitchFamily="34" charset="0"/>
                <a:ea typeface="Calibri" pitchFamily="34" charset="-122"/>
                <a:cs typeface="Calibri" pitchFamily="34" charset="-120"/>
              </a:rPr>
              <a:t>its failures are riverbank scour on 4° alluvial plains, not hillslope shear — physically outside the infinite-slope model's domain. The model correctly treating them as low hillslope-hazard is evidence of physical grounding, not a bug.</a:t>
            </a:r>
            <a:endParaRPr lang="en-US" sz="1150" dirty="0"/>
          </a:p>
        </p:txBody>
      </p:sp>
      <p:sp>
        <p:nvSpPr>
          <p:cNvPr id="20" name="Text 18"/>
          <p:cNvSpPr/>
          <p:nvPr/>
        </p:nvSpPr>
        <p:spPr>
          <a:xfrm>
            <a:off x="411480" y="6537960"/>
            <a:ext cx="5486400" cy="274320"/>
          </a:xfrm>
          <a:prstGeom prst="rect">
            <a:avLst/>
          </a:prstGeom>
          <a:noFill/>
          <a:ln/>
        </p:spPr>
        <p:txBody>
          <a:bodyPr wrap="square"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21" name="Text 19"/>
          <p:cNvSpPr/>
          <p:nvPr/>
        </p:nvSpPr>
        <p:spPr>
          <a:xfrm>
            <a:off x="11338560" y="6537960"/>
            <a:ext cx="457200" cy="274320"/>
          </a:xfrm>
          <a:prstGeom prst="rect">
            <a:avLst/>
          </a:prstGeom>
          <a:noFill/>
          <a:ln/>
        </p:spPr>
        <p:txBody>
          <a:bodyPr wrap="square"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320040"/>
            <a:ext cx="11338560" cy="54864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Fixing the Assam Paradox</a:t>
            </a:r>
            <a:endParaRPr lang="en-US" sz="2700" dirty="0"/>
          </a:p>
        </p:txBody>
      </p:sp>
      <p:sp>
        <p:nvSpPr>
          <p:cNvPr id="3" name="Text 1"/>
          <p:cNvSpPr/>
          <p:nvPr/>
        </p:nvSpPr>
        <p:spPr>
          <a:xfrm>
            <a:off x="411480" y="804672"/>
            <a:ext cx="11338560" cy="32004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Per-state stratified sampling turned an inverted holdout into the model's strongest region</a:t>
            </a:r>
            <a:endParaRPr lang="en-US" sz="1300" dirty="0"/>
          </a:p>
        </p:txBody>
      </p:sp>
      <p:sp>
        <p:nvSpPr>
          <p:cNvPr id="4" name="Shape 2"/>
          <p:cNvSpPr/>
          <p:nvPr/>
        </p:nvSpPr>
        <p:spPr>
          <a:xfrm>
            <a:off x="411480" y="1371600"/>
            <a:ext cx="5440680" cy="4480560"/>
          </a:xfrm>
          <a:prstGeom prst="roundRect">
            <a:avLst>
              <a:gd name="adj" fmla="val 1224"/>
            </a:avLst>
          </a:prstGeom>
          <a:solidFill>
            <a:srgbClr val="FBEDEA"/>
          </a:solidFill>
          <a:ln/>
        </p:spPr>
      </p:sp>
      <p:sp>
        <p:nvSpPr>
          <p:cNvPr id="5" name="Text 3"/>
          <p:cNvSpPr/>
          <p:nvPr/>
        </p:nvSpPr>
        <p:spPr>
          <a:xfrm>
            <a:off x="685800" y="1554480"/>
            <a:ext cx="4937760" cy="365760"/>
          </a:xfrm>
          <a:prstGeom prst="rect">
            <a:avLst/>
          </a:prstGeom>
          <a:noFill/>
          <a:ln/>
        </p:spPr>
        <p:txBody>
          <a:bodyPr wrap="square" lIns="0" tIns="0" rIns="0" bIns="0" rtlCol="0" anchor="ctr"/>
          <a:lstStyle/>
          <a:p>
            <a:pPr indent="0" marL="0">
              <a:buNone/>
            </a:pPr>
            <a:r>
              <a:rPr lang="en-US" sz="1300" b="1" dirty="0">
                <a:solidFill>
                  <a:srgbClr val="B85042"/>
                </a:solidFill>
                <a:latin typeface="Calibri" pitchFamily="34" charset="0"/>
                <a:ea typeface="Calibri" pitchFamily="34" charset="-122"/>
                <a:cs typeface="Calibri" pitchFamily="34" charset="-120"/>
              </a:rPr>
              <a:t>BEFORE — Unstratified Sampling</a:t>
            </a:r>
            <a:endParaRPr lang="en-US" sz="1300" dirty="0"/>
          </a:p>
        </p:txBody>
      </p:sp>
      <p:sp>
        <p:nvSpPr>
          <p:cNvPr id="6" name="Text 4"/>
          <p:cNvSpPr/>
          <p:nvPr/>
        </p:nvSpPr>
        <p:spPr>
          <a:xfrm>
            <a:off x="685800" y="1965960"/>
            <a:ext cx="4937760" cy="594360"/>
          </a:xfrm>
          <a:prstGeom prst="rect">
            <a:avLst/>
          </a:prstGeom>
          <a:noFill/>
          <a:ln/>
        </p:spPr>
        <p:txBody>
          <a:bodyPr wrap="square" lIns="0" tIns="0" rIns="0" bIns="0" rtlCol="0" anchor="ctr"/>
          <a:lstStyle/>
          <a:p>
            <a:pPr indent="0" marL="0">
              <a:buNone/>
            </a:pPr>
            <a:r>
              <a:rPr lang="en-US" sz="3400" b="1" dirty="0">
                <a:solidFill>
                  <a:srgbClr val="B85042"/>
                </a:solidFill>
                <a:latin typeface="Cambria" pitchFamily="34" charset="0"/>
                <a:ea typeface="Cambria" pitchFamily="34" charset="-122"/>
                <a:cs typeface="Cambria" pitchFamily="34" charset="-120"/>
              </a:rPr>
              <a:t>0.4570 ROC-AUC</a:t>
            </a:r>
            <a:endParaRPr lang="en-US" sz="3400" dirty="0"/>
          </a:p>
        </p:txBody>
      </p:sp>
      <p:sp>
        <p:nvSpPr>
          <p:cNvPr id="7" name="Text 5"/>
          <p:cNvSpPr/>
          <p:nvPr/>
        </p:nvSpPr>
        <p:spPr>
          <a:xfrm>
            <a:off x="685800" y="2560320"/>
            <a:ext cx="4937760" cy="320040"/>
          </a:xfrm>
          <a:prstGeom prst="rect">
            <a:avLst/>
          </a:prstGeom>
          <a:noFill/>
          <a:ln/>
        </p:spPr>
        <p:txBody>
          <a:bodyPr wrap="square" lIns="0" tIns="0" rIns="0" bIns="0" rtlCol="0" anchor="ctr"/>
          <a:lstStyle/>
          <a:p>
            <a:pPr indent="0" marL="0">
              <a:buNone/>
            </a:pPr>
            <a:r>
              <a:rPr lang="en-US" sz="1150" i="1" dirty="0">
                <a:solidFill>
                  <a:srgbClr val="5C5450"/>
                </a:solidFill>
                <a:latin typeface="Calibri" pitchFamily="34" charset="0"/>
                <a:ea typeface="Calibri" pitchFamily="34" charset="-122"/>
                <a:cs typeface="Calibri" pitchFamily="34" charset="-120"/>
              </a:rPr>
              <a:t>Inverted rank order on Assam holdout</a:t>
            </a:r>
            <a:endParaRPr lang="en-US" sz="1150" dirty="0"/>
          </a:p>
        </p:txBody>
      </p:sp>
      <p:sp>
        <p:nvSpPr>
          <p:cNvPr id="8" name="Text 6"/>
          <p:cNvSpPr/>
          <p:nvPr/>
        </p:nvSpPr>
        <p:spPr>
          <a:xfrm>
            <a:off x="685800" y="2971800"/>
            <a:ext cx="4937760" cy="2743200"/>
          </a:xfrm>
          <a:prstGeom prst="rect">
            <a:avLst/>
          </a:prstGeom>
          <a:noFill/>
          <a:ln/>
        </p:spPr>
        <p:txBody>
          <a:bodyPr wrap="square" lIns="0" tIns="0" rIns="0" bIns="0" rtlCol="0" anchor="t"/>
          <a:lstStyle/>
          <a:p>
            <a:pPr indent="0" marL="0">
              <a:lnSpc>
                <a:spcPct val="115000"/>
              </a:lnSpc>
              <a:buNone/>
            </a:pPr>
            <a:r>
              <a:rPr lang="en-US" sz="1150" dirty="0">
                <a:solidFill>
                  <a:srgbClr val="5C5450"/>
                </a:solidFill>
                <a:latin typeface="Calibri" pitchFamily="34" charset="0"/>
                <a:ea typeface="Calibri" pitchFamily="34" charset="-122"/>
                <a:cs typeface="Calibri" pitchFamily="34" charset="-120"/>
              </a:rPr>
              <a:t>Assam holds 41% of all NE India slope units (242,000+), dominated by flat 2°–5° floodplain.
</a:t>
            </a:r>
            <a:endParaRPr lang="en-US" sz="1150" dirty="0"/>
          </a:p>
          <a:p>
            <a:pPr indent="0" marL="0">
              <a:lnSpc>
                <a:spcPct val="115000"/>
              </a:lnSpc>
              <a:buNone/>
            </a:pPr>
            <a:r>
              <a:rPr lang="en-US" sz="1150" dirty="0">
                <a:solidFill>
                  <a:srgbClr val="5C5450"/>
                </a:solidFill>
                <a:latin typeface="Calibri" pitchFamily="34" charset="0"/>
                <a:ea typeface="Calibri" pitchFamily="34" charset="-122"/>
                <a:cs typeface="Calibri" pitchFamily="34" charset="-120"/>
              </a:rPr>
              <a:t>Random negative sampling flooded training with flat, safe examples — the model learned </a:t>
            </a:r>
            <a:pPr indent="0" marL="0">
              <a:lnSpc>
                <a:spcPct val="115000"/>
              </a:lnSpc>
              <a:buNone/>
            </a:pPr>
            <a:r>
              <a:rPr lang="en-US" sz="1150" i="1" dirty="0">
                <a:solidFill>
                  <a:srgbClr val="2B2320"/>
                </a:solidFill>
                <a:latin typeface="Calibri" pitchFamily="34" charset="0"/>
                <a:ea typeface="Calibri" pitchFamily="34" charset="-122"/>
                <a:cs typeface="Calibri" pitchFamily="34" charset="-120"/>
              </a:rPr>
              <a:t>"slope &gt; 15° = dangerous."</a:t>
            </a:r>
            <a:pPr indent="0" marL="0">
              <a:lnSpc>
                <a:spcPct val="115000"/>
              </a:lnSpc>
              <a:buNone/>
            </a:pPr>
            <a:endParaRPr lang="en-US" sz="1150" dirty="0"/>
          </a:p>
          <a:p>
            <a:pPr indent="0" marL="0">
              <a:lnSpc>
                <a:spcPct val="115000"/>
              </a:lnSpc>
              <a:buNone/>
            </a:pPr>
            <a:endParaRPr lang="en-US" sz="1150" dirty="0"/>
          </a:p>
          <a:p>
            <a:pPr indent="0" marL="0">
              <a:lnSpc>
                <a:spcPct val="115000"/>
              </a:lnSpc>
              <a:buNone/>
            </a:pPr>
            <a:r>
              <a:rPr lang="en-US" sz="1150" dirty="0">
                <a:solidFill>
                  <a:srgbClr val="5C5450"/>
                </a:solidFill>
                <a:latin typeface="Calibri" pitchFamily="34" charset="0"/>
                <a:ea typeface="Calibri" pitchFamily="34" charset="-122"/>
                <a:cs typeface="Calibri" pitchFamily="34" charset="-120"/>
              </a:rPr>
              <a:t>Real Assam landslides occur on 15°–22° hill slopes (Dima Hasao, Karbi Anglong) — the model flagged stable ridges as high-risk and missed the real ones.</a:t>
            </a:r>
            <a:endParaRPr lang="en-US" sz="1150" dirty="0"/>
          </a:p>
        </p:txBody>
      </p:sp>
      <p:sp>
        <p:nvSpPr>
          <p:cNvPr id="9" name="Shape 7"/>
          <p:cNvSpPr/>
          <p:nvPr/>
        </p:nvSpPr>
        <p:spPr>
          <a:xfrm>
            <a:off x="6126480" y="1371600"/>
            <a:ext cx="5623560" cy="4480560"/>
          </a:xfrm>
          <a:prstGeom prst="roundRect">
            <a:avLst>
              <a:gd name="adj" fmla="val 1224"/>
            </a:avLst>
          </a:prstGeom>
          <a:solidFill>
            <a:srgbClr val="F2EEE8"/>
          </a:solidFill>
          <a:ln/>
        </p:spPr>
      </p:sp>
      <p:sp>
        <p:nvSpPr>
          <p:cNvPr id="10" name="Text 8"/>
          <p:cNvSpPr/>
          <p:nvPr/>
        </p:nvSpPr>
        <p:spPr>
          <a:xfrm>
            <a:off x="6400800" y="1554480"/>
            <a:ext cx="5120640" cy="365760"/>
          </a:xfrm>
          <a:prstGeom prst="rect">
            <a:avLst/>
          </a:prstGeom>
          <a:noFill/>
          <a:ln/>
        </p:spPr>
        <p:txBody>
          <a:bodyPr wrap="square" lIns="0" tIns="0" rIns="0" bIns="0" rtlCol="0" anchor="ctr"/>
          <a:lstStyle/>
          <a:p>
            <a:pPr indent="0" marL="0">
              <a:buNone/>
            </a:pPr>
            <a:r>
              <a:rPr lang="en-US" sz="1300" b="1" dirty="0">
                <a:solidFill>
                  <a:srgbClr val="5E7C5B"/>
                </a:solidFill>
                <a:latin typeface="Calibri" pitchFamily="34" charset="0"/>
                <a:ea typeface="Calibri" pitchFamily="34" charset="-122"/>
                <a:cs typeface="Calibri" pitchFamily="34" charset="-120"/>
              </a:rPr>
              <a:t>AFTER — Per-State 5:1 Stratified Sampling</a:t>
            </a:r>
            <a:endParaRPr lang="en-US" sz="1300" dirty="0"/>
          </a:p>
        </p:txBody>
      </p:sp>
      <p:sp>
        <p:nvSpPr>
          <p:cNvPr id="11" name="Text 9"/>
          <p:cNvSpPr/>
          <p:nvPr/>
        </p:nvSpPr>
        <p:spPr>
          <a:xfrm>
            <a:off x="6400800" y="1965960"/>
            <a:ext cx="5120640" cy="594360"/>
          </a:xfrm>
          <a:prstGeom prst="rect">
            <a:avLst/>
          </a:prstGeom>
          <a:noFill/>
          <a:ln/>
        </p:spPr>
        <p:txBody>
          <a:bodyPr wrap="square" lIns="0" tIns="0" rIns="0" bIns="0" rtlCol="0" anchor="ctr"/>
          <a:lstStyle/>
          <a:p>
            <a:pPr indent="0" marL="0">
              <a:buNone/>
            </a:pPr>
            <a:r>
              <a:rPr lang="en-US" sz="3400" b="1" dirty="0">
                <a:solidFill>
                  <a:srgbClr val="5E7C5B"/>
                </a:solidFill>
                <a:latin typeface="Cambria" pitchFamily="34" charset="0"/>
                <a:ea typeface="Cambria" pitchFamily="34" charset="-122"/>
                <a:cs typeface="Cambria" pitchFamily="34" charset="-120"/>
              </a:rPr>
              <a:t>0.9817 ROC-AUC</a:t>
            </a:r>
            <a:endParaRPr lang="en-US" sz="3400" dirty="0"/>
          </a:p>
        </p:txBody>
      </p:sp>
      <p:sp>
        <p:nvSpPr>
          <p:cNvPr id="12" name="Text 10"/>
          <p:cNvSpPr/>
          <p:nvPr/>
        </p:nvSpPr>
        <p:spPr>
          <a:xfrm>
            <a:off x="6400800" y="2560320"/>
            <a:ext cx="5120640" cy="320040"/>
          </a:xfrm>
          <a:prstGeom prst="rect">
            <a:avLst/>
          </a:prstGeom>
          <a:noFill/>
          <a:ln/>
        </p:spPr>
        <p:txBody>
          <a:bodyPr wrap="square" lIns="0" tIns="0" rIns="0" bIns="0" rtlCol="0" anchor="ctr"/>
          <a:lstStyle/>
          <a:p>
            <a:pPr indent="0" marL="0">
              <a:buNone/>
            </a:pPr>
            <a:r>
              <a:rPr lang="en-US" sz="1150" i="1" dirty="0">
                <a:solidFill>
                  <a:srgbClr val="5C5450"/>
                </a:solidFill>
                <a:latin typeface="Calibri" pitchFamily="34" charset="0"/>
                <a:ea typeface="Calibri" pitchFamily="34" charset="-122"/>
                <a:cs typeface="Calibri" pitchFamily="34" charset="-120"/>
              </a:rPr>
              <a:t>+ 0.9219 PR-AUC on the same Assam holdout</a:t>
            </a:r>
            <a:endParaRPr lang="en-US" sz="1150" dirty="0"/>
          </a:p>
        </p:txBody>
      </p:sp>
      <p:sp>
        <p:nvSpPr>
          <p:cNvPr id="13" name="Text 11"/>
          <p:cNvSpPr/>
          <p:nvPr/>
        </p:nvSpPr>
        <p:spPr>
          <a:xfrm>
            <a:off x="6400800" y="2971800"/>
            <a:ext cx="5120640" cy="2743200"/>
          </a:xfrm>
          <a:prstGeom prst="rect">
            <a:avLst/>
          </a:prstGeom>
          <a:noFill/>
          <a:ln/>
        </p:spPr>
        <p:txBody>
          <a:bodyPr wrap="square" lIns="0" tIns="0" rIns="0" bIns="0" rtlCol="0" anchor="t"/>
          <a:lstStyle/>
          <a:p>
            <a:pPr indent="0" marL="0">
              <a:lnSpc>
                <a:spcPct val="115000"/>
              </a:lnSpc>
              <a:buNone/>
            </a:pPr>
            <a:r>
              <a:rPr lang="en-US" sz="1150" dirty="0">
                <a:solidFill>
                  <a:srgbClr val="5C5450"/>
                </a:solidFill>
                <a:latin typeface="Calibri" pitchFamily="34" charset="0"/>
                <a:ea typeface="Calibri" pitchFamily="34" charset="-122"/>
                <a:cs typeface="Calibri" pitchFamily="34" charset="-120"/>
              </a:rPr>
              <a:t>Retained all 7,565 confirmed failure units nationwide (incl. all 2,654 in Assam).
</a:t>
            </a:r>
            <a:endParaRPr lang="en-US" sz="1150" dirty="0"/>
          </a:p>
          <a:p>
            <a:pPr indent="0" marL="0">
              <a:lnSpc>
                <a:spcPct val="115000"/>
              </a:lnSpc>
              <a:buNone/>
            </a:pPr>
            <a:r>
              <a:rPr lang="en-US" sz="1150" dirty="0">
                <a:solidFill>
                  <a:srgbClr val="5C5450"/>
                </a:solidFill>
                <a:latin typeface="Calibri" pitchFamily="34" charset="0"/>
                <a:ea typeface="Calibri" pitchFamily="34" charset="-122"/>
                <a:cs typeface="Calibri" pitchFamily="34" charset="-120"/>
              </a:rPr>
              <a:t>Sampled exactly 5 stable units per failure unit — </a:t>
            </a:r>
            <a:pPr indent="0" marL="0">
              <a:lnSpc>
                <a:spcPct val="115000"/>
              </a:lnSpc>
              <a:buNone/>
            </a:pPr>
            <a:r>
              <a:rPr lang="en-US" sz="1150" b="1" dirty="0">
                <a:solidFill>
                  <a:srgbClr val="2B2320"/>
                </a:solidFill>
                <a:latin typeface="Calibri" pitchFamily="34" charset="0"/>
                <a:ea typeface="Calibri" pitchFamily="34" charset="-122"/>
                <a:cs typeface="Calibri" pitchFamily="34" charset="-120"/>
              </a:rPr>
              <a:t>within each state individually</a:t>
            </a:r>
            <a:pPr indent="0" marL="0">
              <a:lnSpc>
                <a:spcPct val="115000"/>
              </a:lnSpc>
              <a:buNone/>
            </a:pPr>
            <a:r>
              <a:rPr lang="en-US" sz="1150" dirty="0">
                <a:solidFill>
                  <a:srgbClr val="5C5450"/>
                </a:solidFill>
                <a:latin typeface="Calibri" pitchFamily="34" charset="0"/>
                <a:ea typeface="Calibri" pitchFamily="34" charset="-122"/>
                <a:cs typeface="Calibri" pitchFamily="34" charset="-120"/>
              </a:rPr>
              <a:t> — for 45,390 total balanced units.
</a:t>
            </a:r>
            <a:endParaRPr lang="en-US" sz="1150" dirty="0"/>
          </a:p>
          <a:p>
            <a:pPr indent="0" marL="0">
              <a:lnSpc>
                <a:spcPct val="115000"/>
              </a:lnSpc>
              <a:buNone/>
            </a:pPr>
            <a:r>
              <a:rPr lang="en-US" sz="1150" dirty="0">
                <a:solidFill>
                  <a:srgbClr val="5C5450"/>
                </a:solidFill>
                <a:latin typeface="Calibri" pitchFamily="34" charset="0"/>
                <a:ea typeface="Calibri" pitchFamily="34" charset="-122"/>
                <a:cs typeface="Calibri" pitchFamily="34" charset="-120"/>
              </a:rPr>
              <a:t>Every state now learns its own internal slope contrast, undistorted by a neighbor's floodplain.</a:t>
            </a:r>
            <a:endParaRPr lang="en-US" sz="1150" dirty="0"/>
          </a:p>
        </p:txBody>
      </p:sp>
      <p:sp>
        <p:nvSpPr>
          <p:cNvPr id="14" name="Text 12"/>
          <p:cNvSpPr/>
          <p:nvPr/>
        </p:nvSpPr>
        <p:spPr>
          <a:xfrm>
            <a:off x="411480" y="6537960"/>
            <a:ext cx="5486400" cy="274320"/>
          </a:xfrm>
          <a:prstGeom prst="rect">
            <a:avLst/>
          </a:prstGeom>
          <a:noFill/>
          <a:ln/>
        </p:spPr>
        <p:txBody>
          <a:bodyPr wrap="square"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15" name="Text 13"/>
          <p:cNvSpPr/>
          <p:nvPr/>
        </p:nvSpPr>
        <p:spPr>
          <a:xfrm>
            <a:off x="11338560" y="6537960"/>
            <a:ext cx="457200" cy="274320"/>
          </a:xfrm>
          <a:prstGeom prst="rect">
            <a:avLst/>
          </a:prstGeom>
          <a:noFill/>
          <a:ln/>
        </p:spPr>
        <p:txBody>
          <a:bodyPr wrap="square"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320040"/>
            <a:ext cx="11338560" cy="548640"/>
          </a:xfrm>
          <a:prstGeom prst="rect">
            <a:avLst/>
          </a:prstGeom>
          <a:noFill/>
          <a:ln/>
        </p:spPr>
        <p:txBody>
          <a:bodyPr wrap="square" lIns="0" tIns="0" rIns="0" bIns="0" rtlCol="0" anchor="ctr"/>
          <a:lstStyle/>
          <a:p>
            <a:pPr indent="0" marL="0">
              <a:buNone/>
            </a:pPr>
            <a:r>
              <a:rPr lang="en-US" sz="2700" b="1" dirty="0">
                <a:solidFill>
                  <a:srgbClr val="2B2320"/>
                </a:solidFill>
                <a:latin typeface="Cambria" pitchFamily="34" charset="0"/>
                <a:ea typeface="Cambria" pitchFamily="34" charset="-122"/>
                <a:cs typeface="Cambria" pitchFamily="34" charset="-120"/>
              </a:rPr>
              <a:t>Phase 11 Results: The Performance Leap</a:t>
            </a:r>
            <a:endParaRPr lang="en-US" sz="2700" dirty="0"/>
          </a:p>
        </p:txBody>
      </p:sp>
      <p:sp>
        <p:nvSpPr>
          <p:cNvPr id="3" name="Text 1"/>
          <p:cNvSpPr/>
          <p:nvPr/>
        </p:nvSpPr>
        <p:spPr>
          <a:xfrm>
            <a:off x="411480" y="804672"/>
            <a:ext cx="11338560" cy="320040"/>
          </a:xfrm>
          <a:prstGeom prst="rect">
            <a:avLst/>
          </a:prstGeom>
          <a:noFill/>
          <a:ln/>
        </p:spPr>
        <p:txBody>
          <a:bodyPr wrap="square" lIns="0" tIns="0" rIns="0" bIns="0" rtlCol="0" anchor="ctr"/>
          <a:lstStyle/>
          <a:p>
            <a:pPr indent="0" marL="0">
              <a:buNone/>
            </a:pPr>
            <a:r>
              <a:rPr lang="en-US" sz="1300" i="1" dirty="0">
                <a:solidFill>
                  <a:srgbClr val="5C5450"/>
                </a:solidFill>
                <a:latin typeface="Calibri" pitchFamily="34" charset="0"/>
                <a:ea typeface="Calibri" pitchFamily="34" charset="-122"/>
                <a:cs typeface="Calibri" pitchFamily="34" charset="-120"/>
              </a:rPr>
              <a:t>From a single-split prototype to a peer-review-validated, 8-state system</a:t>
            </a:r>
            <a:endParaRPr lang="en-US" sz="13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11338560" cy="3977640"/>
        </p:xfrm>
        <a:graphic>
          <a:graphicData uri="http://schemas.openxmlformats.org/drawingml/2006/table">
            <a:tbl>
              <a:tblPr/>
              <a:tblGrid>
                <a:gridCol w="3931920"/>
                <a:gridCol w="2560320"/>
                <a:gridCol w="2560320"/>
                <a:gridCol w="2286000"/>
              </a:tblGrid>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4A5D5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Previous Prototype</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4A5D5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Phase 11 (Final)</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4A5D5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Gain</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4A5D5E"/>
                    </a:solidFill>
                  </a:tcPr>
                </a:tc>
              </a:tr>
              <a:tr h="566928">
                <a:tc>
                  <a:txBody>
                    <a:bodyPr/>
                    <a:lstStyle/>
                    <a:p>
                      <a:pPr indent="0" marL="0">
                        <a:buNone/>
                      </a:pPr>
                      <a:r>
                        <a:rPr lang="en-US" sz="1150" b="1" dirty="0">
                          <a:solidFill>
                            <a:srgbClr val="2B2320"/>
                          </a:solidFill>
                          <a:latin typeface="Calibri" pitchFamily="34" charset="0"/>
                          <a:ea typeface="Calibri" pitchFamily="34" charset="-122"/>
                          <a:cs typeface="Calibri" pitchFamily="34" charset="-120"/>
                        </a:rPr>
                        <a:t>Mean Spatial LOSO ROC-AUC</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B85042"/>
                          </a:solidFill>
                          <a:latin typeface="Calibri" pitchFamily="34" charset="0"/>
                          <a:ea typeface="Calibri" pitchFamily="34" charset="-122"/>
                          <a:cs typeface="Calibri" pitchFamily="34" charset="-120"/>
                        </a:rPr>
                        <a:t>0.5626</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b="1" dirty="0">
                          <a:solidFill>
                            <a:srgbClr val="5E7C5B"/>
                          </a:solidFill>
                          <a:latin typeface="Calibri" pitchFamily="34" charset="0"/>
                          <a:ea typeface="Calibri" pitchFamily="34" charset="-122"/>
                          <a:cs typeface="Calibri" pitchFamily="34" charset="-120"/>
                        </a:rPr>
                        <a:t>0.8788</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5C5450"/>
                          </a:solidFill>
                          <a:latin typeface="Calibri" pitchFamily="34" charset="0"/>
                          <a:ea typeface="Calibri" pitchFamily="34" charset="-122"/>
                          <a:cs typeface="Calibri" pitchFamily="34" charset="-120"/>
                        </a:rPr>
                        <a:t>+31.6 pts</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B2320"/>
                          </a:solidFill>
                          <a:latin typeface="Calibri" pitchFamily="34" charset="0"/>
                          <a:ea typeface="Calibri" pitchFamily="34" charset="-122"/>
                          <a:cs typeface="Calibri" pitchFamily="34" charset="-120"/>
                        </a:rPr>
                        <a:t>Mean Spatial LOSO PR-AUC</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B85042"/>
                          </a:solidFill>
                          <a:latin typeface="Calibri" pitchFamily="34" charset="0"/>
                          <a:ea typeface="Calibri" pitchFamily="34" charset="-122"/>
                          <a:cs typeface="Calibri" pitchFamily="34" charset="-120"/>
                        </a:rPr>
                        <a:t>0.2127</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b="1" dirty="0">
                          <a:solidFill>
                            <a:srgbClr val="5E7C5B"/>
                          </a:solidFill>
                          <a:latin typeface="Calibri" pitchFamily="34" charset="0"/>
                          <a:ea typeface="Calibri" pitchFamily="34" charset="-122"/>
                          <a:cs typeface="Calibri" pitchFamily="34" charset="-120"/>
                        </a:rPr>
                        <a:t>0.7417</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5C5450"/>
                          </a:solidFill>
                          <a:latin typeface="Calibri" pitchFamily="34" charset="0"/>
                          <a:ea typeface="Calibri" pitchFamily="34" charset="-122"/>
                          <a:cs typeface="Calibri" pitchFamily="34" charset="-120"/>
                        </a:rPr>
                        <a:t>+52.9 pts</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B2320"/>
                          </a:solidFill>
                          <a:latin typeface="Calibri" pitchFamily="34" charset="0"/>
                          <a:ea typeface="Calibri" pitchFamily="34" charset="-122"/>
                          <a:cs typeface="Calibri" pitchFamily="34" charset="-120"/>
                        </a:rPr>
                        <a:t>Assam Holdout ROC-AUC</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B85042"/>
                          </a:solidFill>
                          <a:latin typeface="Calibri" pitchFamily="34" charset="0"/>
                          <a:ea typeface="Calibri" pitchFamily="34" charset="-122"/>
                          <a:cs typeface="Calibri" pitchFamily="34" charset="-120"/>
                        </a:rPr>
                        <a:t>0.4570 (inverted)</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b="1" dirty="0">
                          <a:solidFill>
                            <a:srgbClr val="5E7C5B"/>
                          </a:solidFill>
                          <a:latin typeface="Calibri" pitchFamily="34" charset="0"/>
                          <a:ea typeface="Calibri" pitchFamily="34" charset="-122"/>
                          <a:cs typeface="Calibri" pitchFamily="34" charset="-120"/>
                        </a:rPr>
                        <a:t>0.9817</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5C5450"/>
                          </a:solidFill>
                          <a:latin typeface="Calibri" pitchFamily="34" charset="0"/>
                          <a:ea typeface="Calibri" pitchFamily="34" charset="-122"/>
                          <a:cs typeface="Calibri" pitchFamily="34" charset="-120"/>
                        </a:rPr>
                        <a:t>+52.5 pts</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B2320"/>
                          </a:solidFill>
                          <a:latin typeface="Calibri" pitchFamily="34" charset="0"/>
                          <a:ea typeface="Calibri" pitchFamily="34" charset="-122"/>
                          <a:cs typeface="Calibri" pitchFamily="34" charset="-120"/>
                        </a:rPr>
                        <a:t>Random-Test PR-AUC (Ensemble)</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B85042"/>
                          </a:solidFill>
                          <a:latin typeface="Calibri" pitchFamily="34" charset="0"/>
                          <a:ea typeface="Calibri" pitchFamily="34" charset="-122"/>
                          <a:cs typeface="Calibri" pitchFamily="34" charset="-120"/>
                        </a:rPr>
                        <a:t>0.4777</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b="1" dirty="0">
                          <a:solidFill>
                            <a:srgbClr val="5E7C5B"/>
                          </a:solidFill>
                          <a:latin typeface="Calibri" pitchFamily="34" charset="0"/>
                          <a:ea typeface="Calibri" pitchFamily="34" charset="-122"/>
                          <a:cs typeface="Calibri" pitchFamily="34" charset="-120"/>
                        </a:rPr>
                        <a:t>0.9273</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5C5450"/>
                          </a:solidFill>
                          <a:latin typeface="Calibri" pitchFamily="34" charset="0"/>
                          <a:ea typeface="Calibri" pitchFamily="34" charset="-122"/>
                          <a:cs typeface="Calibri" pitchFamily="34" charset="-120"/>
                        </a:rPr>
                        <a:t>+45.0 pts</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B2320"/>
                          </a:solidFill>
                          <a:latin typeface="Calibri" pitchFamily="34" charset="0"/>
                          <a:ea typeface="Calibri" pitchFamily="34" charset="-122"/>
                          <a:cs typeface="Calibri" pitchFamily="34" charset="-120"/>
                        </a:rPr>
                        <a:t>Best Test F1-Score (Ensemble)</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B85042"/>
                          </a:solidFill>
                          <a:latin typeface="Calibri" pitchFamily="34" charset="0"/>
                          <a:ea typeface="Calibri" pitchFamily="34" charset="-122"/>
                          <a:cs typeface="Calibri" pitchFamily="34" charset="-120"/>
                        </a:rPr>
                        <a:t>0.5480</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b="1" dirty="0">
                          <a:solidFill>
                            <a:srgbClr val="5E7C5B"/>
                          </a:solidFill>
                          <a:latin typeface="Calibri" pitchFamily="34" charset="0"/>
                          <a:ea typeface="Calibri" pitchFamily="34" charset="-122"/>
                          <a:cs typeface="Calibri" pitchFamily="34" charset="-120"/>
                        </a:rPr>
                        <a:t>0.8755</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5C5450"/>
                          </a:solidFill>
                          <a:latin typeface="Calibri" pitchFamily="34" charset="0"/>
                          <a:ea typeface="Calibri" pitchFamily="34" charset="-122"/>
                          <a:cs typeface="Calibri" pitchFamily="34" charset="-120"/>
                        </a:rPr>
                        <a:t>+32.8 pts</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B2320"/>
                          </a:solidFill>
                          <a:latin typeface="Calibri" pitchFamily="34" charset="0"/>
                          <a:ea typeface="Calibri" pitchFamily="34" charset="-122"/>
                          <a:cs typeface="Calibri" pitchFamily="34" charset="-120"/>
                        </a:rPr>
                        <a:t>Pipeline Integrity Assertions</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B85042"/>
                          </a:solidFill>
                          <a:latin typeface="Calibri" pitchFamily="34" charset="0"/>
                          <a:ea typeface="Calibri" pitchFamily="34" charset="-122"/>
                          <a:cs typeface="Calibri" pitchFamily="34" charset="-120"/>
                        </a:rPr>
                        <a:t>not codified</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b="1" dirty="0">
                          <a:solidFill>
                            <a:srgbClr val="5E7C5B"/>
                          </a:solidFill>
                          <a:latin typeface="Calibri" pitchFamily="34" charset="0"/>
                          <a:ea typeface="Calibri" pitchFamily="34" charset="-122"/>
                          <a:cs typeface="Calibri" pitchFamily="34" charset="-120"/>
                        </a:rPr>
                        <a:t>24 / 24 passed</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c>
                  <a:txBody>
                    <a:bodyPr/>
                    <a:lstStyle/>
                    <a:p>
                      <a:pPr indent="0" marL="0">
                        <a:buNone/>
                      </a:pPr>
                      <a:r>
                        <a:rPr lang="en-US" sz="1150" dirty="0">
                          <a:solidFill>
                            <a:srgbClr val="5C5450"/>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9525" cap="flat" cmpd="sng" algn="ctr">
                      <a:solidFill>
                        <a:srgbClr val="E2DCD4"/>
                      </a:solidFill>
                      <a:prstDash val="solid"/>
                      <a:round/>
                      <a:headEnd type="none" w="med" len="med"/>
                      <a:tailEnd type="none" w="med" len="med"/>
                    </a:lnL>
                    <a:lnR w="9525" cap="flat" cmpd="sng" algn="ctr">
                      <a:solidFill>
                        <a:srgbClr val="E2DCD4"/>
                      </a:solidFill>
                      <a:prstDash val="solid"/>
                      <a:round/>
                      <a:headEnd type="none" w="med" len="med"/>
                      <a:tailEnd type="none" w="med" len="med"/>
                    </a:lnR>
                    <a:lnT w="9525" cap="flat" cmpd="sng" algn="ctr">
                      <a:solidFill>
                        <a:srgbClr val="E2DCD4"/>
                      </a:solidFill>
                      <a:prstDash val="solid"/>
                      <a:round/>
                      <a:headEnd type="none" w="med" len="med"/>
                      <a:tailEnd type="none" w="med" len="med"/>
                    </a:lnT>
                    <a:lnB w="9525" cap="flat" cmpd="sng" algn="ctr">
                      <a:solidFill>
                        <a:srgbClr val="E2DCD4"/>
                      </a:solidFill>
                      <a:prstDash val="solid"/>
                      <a:round/>
                      <a:headEnd type="none" w="med" len="med"/>
                      <a:tailEnd type="none" w="med" len="med"/>
                    </a:lnB>
                    <a:solidFill>
                      <a:srgbClr val="FFFFFF"/>
                    </a:solidFill>
                  </a:tcPr>
                </a:tc>
              </a:tr>
            </a:tbl>
          </a:graphicData>
        </a:graphic>
      </p:graphicFrame>
      <p:sp>
        <p:nvSpPr>
          <p:cNvPr id="5" name="Shape 2"/>
          <p:cNvSpPr/>
          <p:nvPr/>
        </p:nvSpPr>
        <p:spPr>
          <a:xfrm>
            <a:off x="411480" y="5623560"/>
            <a:ext cx="11338560" cy="777240"/>
          </a:xfrm>
          <a:prstGeom prst="roundRect">
            <a:avLst>
              <a:gd name="adj" fmla="val 7059"/>
            </a:avLst>
          </a:prstGeom>
          <a:solidFill>
            <a:srgbClr val="F2EEE8"/>
          </a:solidFill>
          <a:ln/>
        </p:spPr>
      </p:sp>
      <p:sp>
        <p:nvSpPr>
          <p:cNvPr id="6" name="Text 3"/>
          <p:cNvSpPr/>
          <p:nvPr/>
        </p:nvSpPr>
        <p:spPr>
          <a:xfrm>
            <a:off x="685800" y="5623560"/>
            <a:ext cx="10881360" cy="777240"/>
          </a:xfrm>
          <a:prstGeom prst="rect">
            <a:avLst/>
          </a:prstGeom>
          <a:noFill/>
          <a:ln/>
        </p:spPr>
        <p:txBody>
          <a:bodyPr wrap="square" lIns="0" tIns="0" rIns="0" bIns="0" rtlCol="0" anchor="ctr"/>
          <a:lstStyle/>
          <a:p>
            <a:pPr indent="0" marL="0">
              <a:buNone/>
            </a:pPr>
            <a:r>
              <a:rPr lang="en-US" sz="1200" b="1" dirty="0">
                <a:solidFill>
                  <a:srgbClr val="2B2320"/>
                </a:solidFill>
                <a:latin typeface="Calibri" pitchFamily="34" charset="0"/>
                <a:ea typeface="Calibri" pitchFamily="34" charset="-122"/>
                <a:cs typeface="Calibri" pitchFamily="34" charset="-120"/>
              </a:rPr>
              <a:t>45,390 balanced slope units  ·  8 states  ·  Northeast India — </a:t>
            </a:r>
            <a:pPr indent="0" marL="0">
              <a:buNone/>
            </a:pPr>
            <a:r>
              <a:rPr lang="en-US" sz="1200" dirty="0">
                <a:solidFill>
                  <a:srgbClr val="5C5450"/>
                </a:solidFill>
                <a:latin typeface="Calibri" pitchFamily="34" charset="0"/>
                <a:ea typeface="Calibri" pitchFamily="34" charset="-122"/>
                <a:cs typeface="Calibri" pitchFamily="34" charset="-120"/>
              </a:rPr>
              <a:t>the model moved from a random-split artifact to a spatially validated, calibrated system.</a:t>
            </a:r>
            <a:endParaRPr lang="en-US" sz="1200" dirty="0"/>
          </a:p>
        </p:txBody>
      </p:sp>
      <p:sp>
        <p:nvSpPr>
          <p:cNvPr id="7" name="Text 4"/>
          <p:cNvSpPr/>
          <p:nvPr/>
        </p:nvSpPr>
        <p:spPr>
          <a:xfrm>
            <a:off x="411480" y="6537960"/>
            <a:ext cx="5486400" cy="274320"/>
          </a:xfrm>
          <a:prstGeom prst="rect">
            <a:avLst/>
          </a:prstGeom>
          <a:noFill/>
          <a:ln/>
        </p:spPr>
        <p:txBody>
          <a:bodyPr wrap="square" rtlCol="0" anchor="ctr"/>
          <a:lstStyle/>
          <a:p>
            <a:pPr algn="l" indent="0" marL="0">
              <a:buNone/>
            </a:pPr>
            <a:r>
              <a:rPr lang="en-US" sz="1000" dirty="0">
                <a:solidFill>
                  <a:srgbClr val="5C5450"/>
                </a:solidFill>
                <a:latin typeface="Calibri" pitchFamily="34" charset="0"/>
                <a:ea typeface="Calibri" pitchFamily="34" charset="-122"/>
                <a:cs typeface="Calibri" pitchFamily="34" charset="-120"/>
              </a:rPr>
              <a:t>LITHOS — Smart India Hackathon 2026</a:t>
            </a:r>
            <a:endParaRPr lang="en-US" sz="1000" dirty="0"/>
          </a:p>
        </p:txBody>
      </p:sp>
      <p:sp>
        <p:nvSpPr>
          <p:cNvPr id="8" name="Text 5"/>
          <p:cNvSpPr/>
          <p:nvPr/>
        </p:nvSpPr>
        <p:spPr>
          <a:xfrm>
            <a:off x="11338560" y="6537960"/>
            <a:ext cx="457200" cy="274320"/>
          </a:xfrm>
          <a:prstGeom prst="rect">
            <a:avLst/>
          </a:prstGeom>
          <a:noFill/>
          <a:ln/>
        </p:spPr>
        <p:txBody>
          <a:bodyPr wrap="square" rtlCol="0" anchor="ctr"/>
          <a:lstStyle/>
          <a:p>
            <a:pPr algn="r" indent="0" marL="0">
              <a:buNone/>
            </a:pPr>
            <a:r>
              <a:rPr lang="en-US" sz="1000" dirty="0">
                <a:solidFill>
                  <a:srgbClr val="5C545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2026-09-06T08:09:42Z</dcterms:created>
  <dcterms:modified xsi:type="dcterms:W3CDTF">2026-09-06T08:09:42Z</dcterms:modified>
</cp:coreProperties>
</file>